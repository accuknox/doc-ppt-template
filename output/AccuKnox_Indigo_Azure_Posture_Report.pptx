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5"/>
    <p:sldId id="264" r:id="rId4"/>
    <p:sldId id="265" r:id="rId3"/>
    <p:sldId id="266" r:id="rId2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20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26"/>
  </p:normalViewPr>
  <p:slideViewPr>
    <p:cSldViewPr snapToGrid="0">
      <p:cViewPr>
        <p:scale>
          <a:sx n="115" d="100"/>
          <a:sy n="115" d="100"/>
        </p:scale>
        <p:origin x="442" y="-1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1.xml"/><Relationship Id="rId3" Type="http://schemas.openxmlformats.org/officeDocument/2006/relationships/slide" Target="slides/slide10.xml"/><Relationship Id="rId4" Type="http://schemas.openxmlformats.org/officeDocument/2006/relationships/slide" Target="slides/slide9.xml"/><Relationship Id="rId5" Type="http://schemas.openxmlformats.org/officeDocument/2006/relationships/slide" Target="slides/slide8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AccuKnox Intro Title">
    <p:bg>
      <p:bgPr>
        <a:solidFill>
          <a:srgbClr val="1120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8;p2">
            <a:extLst>
              <a:ext uri="{FF2B5EF4-FFF2-40B4-BE49-F238E27FC236}">
                <a16:creationId xmlns:a16="http://schemas.microsoft.com/office/drawing/2014/main" id="{4398037B-D71E-CAF5-0489-CDAC4219BD36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5346618" y="2321312"/>
            <a:ext cx="3797381" cy="2435571"/>
          </a:xfrm>
          <a:prstGeom prst="rect">
            <a:avLst/>
          </a:prstGeom>
          <a:noFill/>
          <a:ln>
            <a:noFill/>
          </a:ln>
          <a:effectLst>
            <a:outerShdw blurRad="714375" dist="152400" dir="5400000" algn="bl" rotWithShape="0">
              <a:srgbClr val="000000">
                <a:alpha val="49800"/>
              </a:srgbClr>
            </a:outerShdw>
          </a:effectLst>
        </p:spPr>
      </p:pic>
      <p:pic>
        <p:nvPicPr>
          <p:cNvPr id="9" name="Google Shape;9;p2">
            <a:extLst>
              <a:ext uri="{FF2B5EF4-FFF2-40B4-BE49-F238E27FC236}">
                <a16:creationId xmlns:a16="http://schemas.microsoft.com/office/drawing/2014/main" id="{3E509152-B28A-6C2F-F8EA-EDD4AB55F74B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5271975" y="1221088"/>
            <a:ext cx="3872020" cy="2435572"/>
          </a:xfrm>
          <a:prstGeom prst="rect">
            <a:avLst/>
          </a:prstGeom>
          <a:noFill/>
          <a:ln>
            <a:noFill/>
          </a:ln>
          <a:effectLst>
            <a:outerShdw blurRad="714375" dist="152400" dir="5400000" algn="bl" rotWithShape="0">
              <a:srgbClr val="000000">
                <a:alpha val="49800"/>
              </a:srgbClr>
            </a:outerShdw>
          </a:effectLst>
        </p:spPr>
      </p:pic>
      <p:pic>
        <p:nvPicPr>
          <p:cNvPr id="10" name="Google Shape;10;p2">
            <a:extLst>
              <a:ext uri="{FF2B5EF4-FFF2-40B4-BE49-F238E27FC236}">
                <a16:creationId xmlns:a16="http://schemas.microsoft.com/office/drawing/2014/main" id="{70A51A38-6217-3761-CE03-1FFFEB5F1490}"/>
              </a:ext>
            </a:extLst>
          </p:cNvPr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5346617" y="365100"/>
            <a:ext cx="3797381" cy="2138819"/>
          </a:xfrm>
          <a:prstGeom prst="rect">
            <a:avLst/>
          </a:prstGeom>
          <a:noFill/>
          <a:ln>
            <a:noFill/>
          </a:ln>
          <a:effectLst>
            <a:outerShdw blurRad="714375" dist="152400" dir="5400000" algn="bl" rotWithShape="0">
              <a:srgbClr val="000000">
                <a:alpha val="498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887994"/>
            <a:ext cx="4128971" cy="921347"/>
          </a:xfrm>
        </p:spPr>
        <p:txBody>
          <a:bodyPr anchor="t">
            <a:norm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912882"/>
            <a:ext cx="4128971" cy="575577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2D3B0B3-6AD8-BD44-BC65-8A60DE035F19}" type="datetimeFigureOut">
              <a:rPr lang="en-US" smtClean="0"/>
              <a:pPr/>
              <a:t>16-Jun-26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90F7C73-5609-EA4D-9F52-402B1B4B35C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Google Shape;12;p2" title="logo-dark-back.png">
            <a:extLst>
              <a:ext uri="{FF2B5EF4-FFF2-40B4-BE49-F238E27FC236}">
                <a16:creationId xmlns:a16="http://schemas.microsoft.com/office/drawing/2014/main" id="{B74D860E-318D-5E70-8FA5-BD26105F5F24}"/>
              </a:ext>
            </a:extLst>
          </p:cNvPr>
          <p:cNvPicPr preferRelativeResize="0"/>
          <p:nvPr userDrawn="1"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64013" y="730425"/>
            <a:ext cx="2756148" cy="6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1;p2" title="footer.png">
            <a:extLst>
              <a:ext uri="{FF2B5EF4-FFF2-40B4-BE49-F238E27FC236}">
                <a16:creationId xmlns:a16="http://schemas.microsoft.com/office/drawing/2014/main" id="{6CBF4A15-25CC-E045-8BAC-0228CD790580}"/>
              </a:ext>
            </a:extLst>
          </p:cNvPr>
          <p:cNvPicPr preferRelativeResize="0"/>
          <p:nvPr userDrawn="1"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1750" y="3592000"/>
            <a:ext cx="5216674" cy="12256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82532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AccuKnox Section Title">
    <p:bg>
      <p:bgPr>
        <a:solidFill>
          <a:srgbClr val="1120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1787" y="1723694"/>
            <a:ext cx="5420427" cy="921347"/>
          </a:xfrm>
        </p:spPr>
        <p:txBody>
          <a:bodyPr anchor="t">
            <a:norm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01475" y="2698726"/>
            <a:ext cx="4341050" cy="575577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2D3B0B3-6AD8-BD44-BC65-8A60DE035F19}" type="datetimeFigureOut">
              <a:rPr lang="en-US" smtClean="0"/>
              <a:pPr/>
              <a:t>16-Jun-26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90F7C73-5609-EA4D-9F52-402B1B4B35C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Google Shape;20;p3">
            <a:extLst>
              <a:ext uri="{FF2B5EF4-FFF2-40B4-BE49-F238E27FC236}">
                <a16:creationId xmlns:a16="http://schemas.microsoft.com/office/drawing/2014/main" id="{8090E103-7453-704D-AF6E-75DBE4327EA4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52674" y="3814849"/>
            <a:ext cx="4238602" cy="666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Google Shape;21;p3">
            <a:extLst>
              <a:ext uri="{FF2B5EF4-FFF2-40B4-BE49-F238E27FC236}">
                <a16:creationId xmlns:a16="http://schemas.microsoft.com/office/drawing/2014/main" id="{BAFC84CA-3030-14CA-1515-9A822566C17D}"/>
              </a:ext>
            </a:extLst>
          </p:cNvPr>
          <p:cNvGrpSpPr/>
          <p:nvPr userDrawn="1"/>
        </p:nvGrpSpPr>
        <p:grpSpPr>
          <a:xfrm>
            <a:off x="2534075" y="3461715"/>
            <a:ext cx="4075800" cy="369300"/>
            <a:chOff x="2534150" y="3276900"/>
            <a:chExt cx="4075800" cy="369300"/>
          </a:xfrm>
        </p:grpSpPr>
        <p:sp>
          <p:nvSpPr>
            <p:cNvPr id="14" name="Google Shape;22;p3">
              <a:extLst>
                <a:ext uri="{FF2B5EF4-FFF2-40B4-BE49-F238E27FC236}">
                  <a16:creationId xmlns:a16="http://schemas.microsoft.com/office/drawing/2014/main" id="{F32E0AE0-11BC-51CA-09AD-DBF4BA15414C}"/>
                </a:ext>
              </a:extLst>
            </p:cNvPr>
            <p:cNvSpPr txBox="1"/>
            <p:nvPr/>
          </p:nvSpPr>
          <p:spPr>
            <a:xfrm>
              <a:off x="4004450" y="3276900"/>
              <a:ext cx="11352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rgbClr val="FFFFFF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rPr>
                <a:t>Certified by</a:t>
              </a:r>
              <a:endParaRPr sz="1200" dirty="0">
                <a:solidFill>
                  <a:srgbClr val="FFFFFF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cxnSp>
          <p:nvCxnSpPr>
            <p:cNvPr id="15" name="Google Shape;23;p3">
              <a:extLst>
                <a:ext uri="{FF2B5EF4-FFF2-40B4-BE49-F238E27FC236}">
                  <a16:creationId xmlns:a16="http://schemas.microsoft.com/office/drawing/2014/main" id="{E935CE84-47CE-ACB7-797B-86026FF5A3E0}"/>
                </a:ext>
              </a:extLst>
            </p:cNvPr>
            <p:cNvCxnSpPr>
              <a:stCxn id="14" idx="1"/>
            </p:cNvCxnSpPr>
            <p:nvPr/>
          </p:nvCxnSpPr>
          <p:spPr>
            <a:xfrm rot="10800000">
              <a:off x="2534150" y="3461550"/>
              <a:ext cx="1470300" cy="0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" name="Google Shape;24;p3">
              <a:extLst>
                <a:ext uri="{FF2B5EF4-FFF2-40B4-BE49-F238E27FC236}">
                  <a16:creationId xmlns:a16="http://schemas.microsoft.com/office/drawing/2014/main" id="{DF30155D-E9DF-A2C6-B438-BB57A2DA6258}"/>
                </a:ext>
              </a:extLst>
            </p:cNvPr>
            <p:cNvCxnSpPr>
              <a:endCxn id="14" idx="3"/>
            </p:cNvCxnSpPr>
            <p:nvPr/>
          </p:nvCxnSpPr>
          <p:spPr>
            <a:xfrm rot="10800000">
              <a:off x="5139650" y="3461550"/>
              <a:ext cx="1470300" cy="0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17" name="Google Shape;17;p3" title="logo-dark-back.png">
            <a:extLst>
              <a:ext uri="{FF2B5EF4-FFF2-40B4-BE49-F238E27FC236}">
                <a16:creationId xmlns:a16="http://schemas.microsoft.com/office/drawing/2014/main" id="{0A7FA739-0EEC-3493-4A6C-E7E506715C7F}"/>
              </a:ext>
            </a:extLst>
          </p:cNvPr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1551" y="653075"/>
            <a:ext cx="3380849" cy="83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25;p3">
            <a:extLst>
              <a:ext uri="{FF2B5EF4-FFF2-40B4-BE49-F238E27FC236}">
                <a16:creationId xmlns:a16="http://schemas.microsoft.com/office/drawing/2014/main" id="{28B7ABB3-86DC-A12D-7ED0-E23CCB58494A}"/>
              </a:ext>
            </a:extLst>
          </p:cNvPr>
          <p:cNvSpPr txBox="1"/>
          <p:nvPr userDrawn="1"/>
        </p:nvSpPr>
        <p:spPr>
          <a:xfrm>
            <a:off x="2370900" y="4459463"/>
            <a:ext cx="4402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 err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www.AccuKnox.com</a:t>
            </a:r>
            <a:endParaRPr sz="800" dirty="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  <p:extLst>
      <p:ext uri="{BB962C8B-B14F-4D97-AF65-F5344CB8AC3E}">
        <p14:creationId xmlns:p14="http://schemas.microsoft.com/office/powerpoint/2010/main" val="1014743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cuKnox Section Title 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43;p7" descr="abstract background">
            <a:extLst>
              <a:ext uri="{FF2B5EF4-FFF2-40B4-BE49-F238E27FC236}">
                <a16:creationId xmlns:a16="http://schemas.microsoft.com/office/drawing/2014/main" id="{2AADD8E2-6C61-101F-9B48-90B37A6102C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02" y="-1"/>
            <a:ext cx="9143597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3B0B3-6AD8-BD44-BC65-8A60DE035F19}" type="datetimeFigureOut">
              <a:rPr lang="en-US" smtClean="0"/>
              <a:t>16-Jun-26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F7C73-5609-EA4D-9F52-402B1B4B35C3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DD19C76-2D1C-1021-C708-BC0454B4AE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61787" y="1723694"/>
            <a:ext cx="5420427" cy="921347"/>
          </a:xfrm>
        </p:spPr>
        <p:txBody>
          <a:bodyPr anchor="t">
            <a:norm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0" name="Google Shape;45;p7" title="logo-dark-back.png">
            <a:extLst>
              <a:ext uri="{FF2B5EF4-FFF2-40B4-BE49-F238E27FC236}">
                <a16:creationId xmlns:a16="http://schemas.microsoft.com/office/drawing/2014/main" id="{3939948B-EE13-54DD-33C7-59C281F40199}"/>
              </a:ext>
            </a:extLst>
          </p:cNvPr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04102" y="173626"/>
            <a:ext cx="1444050" cy="3412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02632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7;p4">
            <a:extLst>
              <a:ext uri="{FF2B5EF4-FFF2-40B4-BE49-F238E27FC236}">
                <a16:creationId xmlns:a16="http://schemas.microsoft.com/office/drawing/2014/main" id="{BA87E3D8-1677-6F73-A72C-D7877EE7B068}"/>
              </a:ext>
            </a:extLst>
          </p:cNvPr>
          <p:cNvSpPr/>
          <p:nvPr userDrawn="1"/>
        </p:nvSpPr>
        <p:spPr>
          <a:xfrm>
            <a:off x="-24300" y="-9750"/>
            <a:ext cx="9168300" cy="708000"/>
          </a:xfrm>
          <a:prstGeom prst="rect">
            <a:avLst/>
          </a:prstGeom>
          <a:solidFill>
            <a:srgbClr val="11206D"/>
          </a:solidFill>
          <a:ln>
            <a:noFill/>
          </a:ln>
        </p:spPr>
        <p:txBody>
          <a:bodyPr spcFirstLastPara="1" wrap="square" lIns="457200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9750"/>
            <a:ext cx="7504102" cy="708000"/>
          </a:xfrm>
        </p:spPr>
        <p:txBody>
          <a:bodyPr>
            <a:normAutofit/>
          </a:bodyPr>
          <a:lstStyle>
            <a:lvl1pPr marL="228600" indent="0">
              <a:tabLst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5044" y="881626"/>
            <a:ext cx="8229600" cy="3840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3B0B3-6AD8-BD44-BC65-8A60DE035F19}" type="datetimeFigureOut">
              <a:rPr lang="en-US" smtClean="0"/>
              <a:t>16-Jun-26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F7C73-5609-EA4D-9F52-402B1B4B35C3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oogle Shape;29;p4" title="logo-dark-back.png">
            <a:extLst>
              <a:ext uri="{FF2B5EF4-FFF2-40B4-BE49-F238E27FC236}">
                <a16:creationId xmlns:a16="http://schemas.microsoft.com/office/drawing/2014/main" id="{DE2BAC85-768A-A1D9-C730-519B12E75BDB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04102" y="173626"/>
            <a:ext cx="1444050" cy="3412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1636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N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7;p4">
            <a:extLst>
              <a:ext uri="{FF2B5EF4-FFF2-40B4-BE49-F238E27FC236}">
                <a16:creationId xmlns:a16="http://schemas.microsoft.com/office/drawing/2014/main" id="{BA87E3D8-1677-6F73-A72C-D7877EE7B068}"/>
              </a:ext>
            </a:extLst>
          </p:cNvPr>
          <p:cNvSpPr/>
          <p:nvPr userDrawn="1"/>
        </p:nvSpPr>
        <p:spPr>
          <a:xfrm>
            <a:off x="-24300" y="-9750"/>
            <a:ext cx="9168300" cy="708000"/>
          </a:xfrm>
          <a:prstGeom prst="rect">
            <a:avLst/>
          </a:prstGeom>
          <a:solidFill>
            <a:srgbClr val="11206D"/>
          </a:solidFill>
          <a:ln>
            <a:noFill/>
          </a:ln>
        </p:spPr>
        <p:txBody>
          <a:bodyPr spcFirstLastPara="1" wrap="square" lIns="457200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9750"/>
            <a:ext cx="7504102" cy="708000"/>
          </a:xfrm>
        </p:spPr>
        <p:txBody>
          <a:bodyPr>
            <a:normAutofit/>
          </a:bodyPr>
          <a:lstStyle>
            <a:lvl1pPr marL="228600" indent="0">
              <a:tabLst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3B0B3-6AD8-BD44-BC65-8A60DE035F19}" type="datetimeFigureOut">
              <a:rPr lang="en-US" smtClean="0"/>
              <a:t>16-Jun-26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F7C73-5609-EA4D-9F52-402B1B4B35C3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oogle Shape;29;p4" title="logo-dark-back.png">
            <a:extLst>
              <a:ext uri="{FF2B5EF4-FFF2-40B4-BE49-F238E27FC236}">
                <a16:creationId xmlns:a16="http://schemas.microsoft.com/office/drawing/2014/main" id="{DE2BAC85-768A-A1D9-C730-519B12E75BDB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04102" y="173626"/>
            <a:ext cx="1444050" cy="3412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55031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sic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9750"/>
            <a:ext cx="7504102" cy="708000"/>
          </a:xfrm>
        </p:spPr>
        <p:txBody>
          <a:bodyPr>
            <a:normAutofit/>
          </a:bodyPr>
          <a:lstStyle>
            <a:lvl1pPr marL="228600" indent="0">
              <a:tabLst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5044" y="881626"/>
            <a:ext cx="8229600" cy="3840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3B0B3-6AD8-BD44-BC65-8A60DE035F19}" type="datetimeFigureOut">
              <a:rPr lang="en-US" smtClean="0"/>
              <a:t>16-Jun-26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F7C73-5609-EA4D-9F52-402B1B4B35C3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Google Shape;49;p8" title="logo-light-back.png">
            <a:extLst>
              <a:ext uri="{FF2B5EF4-FFF2-40B4-BE49-F238E27FC236}">
                <a16:creationId xmlns:a16="http://schemas.microsoft.com/office/drawing/2014/main" id="{8B9CA892-121B-528B-60B7-2C268A1CFF46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04148" y="173626"/>
            <a:ext cx="1443968" cy="3412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88563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N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9750"/>
            <a:ext cx="7504102" cy="708000"/>
          </a:xfrm>
        </p:spPr>
        <p:txBody>
          <a:bodyPr>
            <a:normAutofit/>
          </a:bodyPr>
          <a:lstStyle>
            <a:lvl1pPr marL="228600" indent="0">
              <a:tabLst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3B0B3-6AD8-BD44-BC65-8A60DE035F19}" type="datetimeFigureOut">
              <a:rPr lang="en-US" smtClean="0"/>
              <a:t>16-Jun-26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F7C73-5609-EA4D-9F52-402B1B4B35C3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Google Shape;49;p8" title="logo-light-back.png">
            <a:extLst>
              <a:ext uri="{FF2B5EF4-FFF2-40B4-BE49-F238E27FC236}">
                <a16:creationId xmlns:a16="http://schemas.microsoft.com/office/drawing/2014/main" id="{8B9CA892-121B-528B-60B7-2C268A1CFF46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04148" y="173626"/>
            <a:ext cx="1443968" cy="3412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27974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3B0B3-6AD8-BD44-BC65-8A60DE035F19}" type="datetimeFigureOut">
              <a:rPr lang="en-US" smtClean="0"/>
              <a:t>16-Jun-26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F7C73-5609-EA4D-9F52-402B1B4B3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064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N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43;p7" descr="abstract background">
            <a:extLst>
              <a:ext uri="{FF2B5EF4-FFF2-40B4-BE49-F238E27FC236}">
                <a16:creationId xmlns:a16="http://schemas.microsoft.com/office/drawing/2014/main" id="{B5B84815-EFC7-0BCA-F0EC-1BAB83579259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02" y="-1"/>
            <a:ext cx="9143597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9750"/>
            <a:ext cx="7504102" cy="708000"/>
          </a:xfrm>
        </p:spPr>
        <p:txBody>
          <a:bodyPr>
            <a:normAutofit/>
          </a:bodyPr>
          <a:lstStyle>
            <a:lvl1pPr marL="228600" indent="0">
              <a:tabLst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3B0B3-6AD8-BD44-BC65-8A60DE035F19}" type="datetimeFigureOut">
              <a:rPr lang="en-US" smtClean="0"/>
              <a:t>16-Jun-26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F7C73-5609-EA4D-9F52-402B1B4B35C3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oogle Shape;29;p4" title="logo-dark-back.png">
            <a:extLst>
              <a:ext uri="{FF2B5EF4-FFF2-40B4-BE49-F238E27FC236}">
                <a16:creationId xmlns:a16="http://schemas.microsoft.com/office/drawing/2014/main" id="{DE2BAC85-768A-A1D9-C730-519B12E75BDB}"/>
              </a:ext>
            </a:extLst>
          </p:cNvPr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04102" y="173626"/>
            <a:ext cx="1444050" cy="3412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235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Standar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7;p4">
            <a:extLst>
              <a:ext uri="{FF2B5EF4-FFF2-40B4-BE49-F238E27FC236}">
                <a16:creationId xmlns:a16="http://schemas.microsoft.com/office/drawing/2014/main" id="{7E9DF800-3DB7-4E72-6577-C0466FFAC413}"/>
              </a:ext>
            </a:extLst>
          </p:cNvPr>
          <p:cNvSpPr/>
          <p:nvPr userDrawn="1"/>
        </p:nvSpPr>
        <p:spPr>
          <a:xfrm>
            <a:off x="-24300" y="-9750"/>
            <a:ext cx="9168300" cy="708000"/>
          </a:xfrm>
          <a:prstGeom prst="rect">
            <a:avLst/>
          </a:prstGeom>
          <a:solidFill>
            <a:srgbClr val="11206D"/>
          </a:solidFill>
          <a:ln>
            <a:noFill/>
          </a:ln>
        </p:spPr>
        <p:txBody>
          <a:bodyPr spcFirstLastPara="1" wrap="square" lIns="457200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" name="Google Shape;29;p4" title="logo-dark-back.png">
            <a:extLst>
              <a:ext uri="{FF2B5EF4-FFF2-40B4-BE49-F238E27FC236}">
                <a16:creationId xmlns:a16="http://schemas.microsoft.com/office/drawing/2014/main" id="{B85B39A0-E7A3-CA0C-F47D-34305B74FB53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04102" y="173626"/>
            <a:ext cx="1444050" cy="3412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4251"/>
            <a:ext cx="7504102" cy="683999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881626"/>
            <a:ext cx="3886200" cy="37510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881626"/>
            <a:ext cx="3886200" cy="37510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3B0B3-6AD8-BD44-BC65-8A60DE035F19}" type="datetimeFigureOut">
              <a:rPr lang="en-US" smtClean="0"/>
              <a:t>16-Jun-26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F7C73-5609-EA4D-9F52-402B1B4B3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858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Two Content with 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7;p4">
            <a:extLst>
              <a:ext uri="{FF2B5EF4-FFF2-40B4-BE49-F238E27FC236}">
                <a16:creationId xmlns:a16="http://schemas.microsoft.com/office/drawing/2014/main" id="{7E9DF800-3DB7-4E72-6577-C0466FFAC413}"/>
              </a:ext>
            </a:extLst>
          </p:cNvPr>
          <p:cNvSpPr/>
          <p:nvPr userDrawn="1"/>
        </p:nvSpPr>
        <p:spPr>
          <a:xfrm>
            <a:off x="-24300" y="-9750"/>
            <a:ext cx="9168300" cy="708000"/>
          </a:xfrm>
          <a:prstGeom prst="rect">
            <a:avLst/>
          </a:prstGeom>
          <a:solidFill>
            <a:srgbClr val="11206D"/>
          </a:solidFill>
          <a:ln>
            <a:noFill/>
          </a:ln>
        </p:spPr>
        <p:txBody>
          <a:bodyPr spcFirstLastPara="1" wrap="square" lIns="457200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" name="Google Shape;29;p4" title="logo-dark-back.png">
            <a:extLst>
              <a:ext uri="{FF2B5EF4-FFF2-40B4-BE49-F238E27FC236}">
                <a16:creationId xmlns:a16="http://schemas.microsoft.com/office/drawing/2014/main" id="{B85B39A0-E7A3-CA0C-F47D-34305B74FB53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04102" y="173626"/>
            <a:ext cx="1444050" cy="3412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4251"/>
            <a:ext cx="7504102" cy="683999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445346"/>
            <a:ext cx="3886200" cy="31873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445346"/>
            <a:ext cx="3886200" cy="31873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3B0B3-6AD8-BD44-BC65-8A60DE035F19}" type="datetimeFigureOut">
              <a:rPr lang="en-US" smtClean="0"/>
              <a:t>16-Jun-26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F7C73-5609-EA4D-9F52-402B1B4B35C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FE19B647-0E40-14AC-8DC5-24E3BF5BBBA0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29842" y="827411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FF067CB4-D22C-1917-A4C0-5CC06AAB8B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827411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5286323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i="0">
                <a:solidFill>
                  <a:schemeClr val="tx1">
                    <a:tint val="82000"/>
                  </a:schemeClr>
                </a:solidFill>
                <a:latin typeface="Space Grotesk Light" pitchFamily="2" charset="77"/>
                <a:cs typeface="Space Grotesk Light" pitchFamily="2" charset="77"/>
              </a:defRPr>
            </a:lvl1pPr>
          </a:lstStyle>
          <a:p>
            <a:fld id="{32D3B0B3-6AD8-BD44-BC65-8A60DE035F19}" type="datetimeFigureOut">
              <a:rPr lang="en-US" smtClean="0"/>
              <a:pPr/>
              <a:t>16-Jun-26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i="0">
                <a:solidFill>
                  <a:schemeClr val="tx1">
                    <a:tint val="82000"/>
                  </a:schemeClr>
                </a:solidFill>
                <a:latin typeface="Space Grotesk Light" pitchFamily="2" charset="77"/>
                <a:cs typeface="Space Grotesk Light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tx1">
                    <a:tint val="82000"/>
                  </a:schemeClr>
                </a:solidFill>
                <a:latin typeface="Space Grotesk Light" pitchFamily="2" charset="77"/>
                <a:cs typeface="Space Grotesk Light" pitchFamily="2" charset="77"/>
              </a:defRPr>
            </a:lvl1pPr>
          </a:lstStyle>
          <a:p>
            <a:fld id="{C90F7C73-5609-EA4D-9F52-402B1B4B35C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1939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3" r:id="rId2"/>
    <p:sldLayoutId id="2147483675" r:id="rId3"/>
    <p:sldLayoutId id="2147483662" r:id="rId4"/>
    <p:sldLayoutId id="2147483674" r:id="rId5"/>
    <p:sldLayoutId id="2147483677" r:id="rId6"/>
    <p:sldLayoutId id="2147483678" r:id="rId7"/>
    <p:sldLayoutId id="2147483667" r:id="rId8"/>
    <p:sldLayoutId id="2147483676" r:id="rId9"/>
    <p:sldLayoutId id="2147483664" r:id="rId10"/>
    <p:sldLayoutId id="214748367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b="0" i="0" kern="1200">
          <a:solidFill>
            <a:schemeClr val="tx1"/>
          </a:solidFill>
          <a:latin typeface="Space Grotesk Medium" pitchFamily="2" charset="77"/>
          <a:ea typeface="+mj-ea"/>
          <a:cs typeface="Space Grotesk Medium" pitchFamily="2" charset="77"/>
        </a:defRPr>
      </a:lvl1pPr>
    </p:titleStyle>
    <p:bodyStyle>
      <a:lvl1pPr marL="171450" indent="-171450" algn="l" defTabSz="685800" rtl="0" eaLnBrk="1" latinLnBrk="0" hangingPunct="1">
        <a:lnSpc>
          <a:spcPct val="100000"/>
        </a:lnSpc>
        <a:spcBef>
          <a:spcPts val="750"/>
        </a:spcBef>
        <a:buFont typeface="Arial" panose="020B0604020202020204" pitchFamily="34" charset="0"/>
        <a:buChar char="•"/>
        <a:defRPr sz="2100" b="0" i="0" kern="1200">
          <a:solidFill>
            <a:schemeClr val="tx1"/>
          </a:solidFill>
          <a:latin typeface="Space Grotesk Light" pitchFamily="2" charset="77"/>
          <a:ea typeface="+mn-ea"/>
          <a:cs typeface="Space Grotesk Light" pitchFamily="2" charset="77"/>
        </a:defRPr>
      </a:lvl1pPr>
      <a:lvl2pPr marL="514350" indent="-17145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Space Grotesk Light" pitchFamily="2" charset="77"/>
          <a:ea typeface="+mn-ea"/>
          <a:cs typeface="Space Grotesk Light" pitchFamily="2" charset="77"/>
        </a:defRPr>
      </a:lvl2pPr>
      <a:lvl3pPr marL="857250" indent="-17145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500" b="0" i="0" kern="1200">
          <a:solidFill>
            <a:schemeClr val="tx1"/>
          </a:solidFill>
          <a:latin typeface="Space Grotesk Light" pitchFamily="2" charset="77"/>
          <a:ea typeface="+mn-ea"/>
          <a:cs typeface="Space Grotesk Light" pitchFamily="2" charset="77"/>
        </a:defRPr>
      </a:lvl3pPr>
      <a:lvl4pPr marL="1200150" indent="-17145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350" b="0" i="0" kern="1200">
          <a:solidFill>
            <a:schemeClr val="tx1"/>
          </a:solidFill>
          <a:latin typeface="Space Grotesk Light" pitchFamily="2" charset="77"/>
          <a:ea typeface="+mn-ea"/>
          <a:cs typeface="Space Grotesk Light" pitchFamily="2" charset="77"/>
        </a:defRPr>
      </a:lvl4pPr>
      <a:lvl5pPr marL="1543050" indent="-17145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350" b="0" i="0" kern="1200">
          <a:solidFill>
            <a:schemeClr val="tx1"/>
          </a:solidFill>
          <a:latin typeface="Space Grotesk Light" pitchFamily="2" charset="77"/>
          <a:ea typeface="+mn-ea"/>
          <a:cs typeface="Space Grotesk Light" pitchFamily="2" charset="77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700784"/>
            <a:ext cx="4128971" cy="1097280"/>
          </a:xfrm>
        </p:spPr>
        <p:txBody>
          <a:bodyPr wrap="square"/>
          <a:lstStyle/>
          <a:p>
            <a:pPr algn="ctr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Space Grotesk"/>
              </a:rPr>
              <a:t>Azure Cloud Security</a:t>
            </a:r>
            <a:br/>
            <a:r>
              <a:rPr sz="2500" b="1" i="0">
                <a:solidFill>
                  <a:srgbClr val="FFFFFF"/>
                </a:solidFill>
                <a:latin typeface="Space Grotesk"/>
              </a:rPr>
              <a:t>and AI Posture Report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1143000" y="2834640"/>
            <a:ext cx="137632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ctr"/>
            <a:r>
              <a:rPr sz="1700" b="1" i="0">
                <a:solidFill>
                  <a:srgbClr val="FFFFFF"/>
                </a:solidFill>
                <a:latin typeface="Space Grotesk"/>
              </a:rPr>
              <a:t>30</a:t>
            </a:r>
          </a:p>
        </p:txBody>
      </p:sp>
      <p:sp>
        <p:nvSpPr>
          <p:cNvPr id="4" name="Rectangle 3"/>
          <p:cNvSpPr/>
          <p:nvPr/>
        </p:nvSpPr>
        <p:spPr>
          <a:xfrm>
            <a:off x="1143000" y="3127248"/>
            <a:ext cx="1376323" cy="219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ctr"/>
            <a:r>
              <a:rPr sz="760" b="0" i="0">
                <a:solidFill>
                  <a:srgbClr val="B8C4E8"/>
                </a:solidFill>
                <a:latin typeface="Space Grotesk"/>
              </a:rPr>
              <a:t>Azure subscriptions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519323" y="2834640"/>
            <a:ext cx="137632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ctr"/>
            <a:r>
              <a:rPr sz="1700" b="1" i="0">
                <a:solidFill>
                  <a:srgbClr val="FFFFFF"/>
                </a:solidFill>
                <a:latin typeface="Space Grotesk"/>
              </a:rPr>
              <a:t>11,221</a:t>
            </a:r>
          </a:p>
        </p:txBody>
      </p:sp>
      <p:sp>
        <p:nvSpPr>
          <p:cNvPr id="6" name="Rectangle 5"/>
          <p:cNvSpPr/>
          <p:nvPr/>
        </p:nvSpPr>
        <p:spPr>
          <a:xfrm>
            <a:off x="2519323" y="3127248"/>
            <a:ext cx="1376323" cy="219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ctr"/>
            <a:r>
              <a:rPr sz="760" b="0" i="0">
                <a:solidFill>
                  <a:srgbClr val="B8C4E8"/>
                </a:solidFill>
                <a:latin typeface="Space Grotesk"/>
              </a:rPr>
              <a:t>Cloud assets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895647" y="2834640"/>
            <a:ext cx="137632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ctr"/>
            <a:r>
              <a:rPr sz="1700" b="1" i="0">
                <a:solidFill>
                  <a:srgbClr val="FFFFFF"/>
                </a:solidFill>
                <a:latin typeface="Space Grotesk"/>
              </a:rPr>
              <a:t>31,439</a:t>
            </a:r>
          </a:p>
        </p:txBody>
      </p:sp>
      <p:sp>
        <p:nvSpPr>
          <p:cNvPr id="8" name="Rectangle 7"/>
          <p:cNvSpPr/>
          <p:nvPr/>
        </p:nvSpPr>
        <p:spPr>
          <a:xfrm>
            <a:off x="3895647" y="3127248"/>
            <a:ext cx="1376323" cy="219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ctr"/>
            <a:r>
              <a:rPr sz="760" b="0" i="0">
                <a:solidFill>
                  <a:srgbClr val="B8C4E8"/>
                </a:solidFill>
                <a:latin typeface="Space Grotesk"/>
              </a:rPr>
              <a:t>Active findings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786384" y="1572768"/>
            <a:ext cx="758952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300" b="1" i="0">
                <a:solidFill>
                  <a:srgbClr val="6464FF"/>
                </a:solidFill>
                <a:latin typeface="Space Grotesk"/>
              </a:rPr>
              <a:t>PART 1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901952"/>
            <a:ext cx="768096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3000" b="1" i="0">
                <a:solidFill>
                  <a:srgbClr val="FFFFFF"/>
                </a:solidFill>
                <a:latin typeface="Space Grotesk"/>
              </a:rPr>
              <a:t>Cloud Security Posture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" y="2907792"/>
            <a:ext cx="109728" cy="5669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6" name="Rectangle 5"/>
          <p:cNvSpPr/>
          <p:nvPr/>
        </p:nvSpPr>
        <p:spPr>
          <a:xfrm>
            <a:off x="1005840" y="2889504"/>
            <a:ext cx="7223760" cy="6035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50" b="0" i="0">
                <a:solidFill>
                  <a:srgbClr val="B8C4E8"/>
                </a:solidFill>
                <a:latin typeface="Space Grotesk"/>
              </a:rPr>
              <a:t>30 Azure subscriptions, 11,221 assets and 31,439 active findings, read through exposure and attack paths.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Space Grotesk"/>
              </a:rPr>
              <a:t>Executive Risk Snapshot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68096"/>
            <a:ext cx="786384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50" b="1" i="0">
                <a:solidFill>
                  <a:srgbClr val="0046FF"/>
                </a:solidFill>
                <a:latin typeface="Space Grotesk"/>
              </a:rPr>
              <a:t>POSTURE VOLUME, EXPOSURE AND COMPOUND RISK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84124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19" b="0" i="0">
                <a:solidFill>
                  <a:srgbClr val="5A637D"/>
                </a:solidFill>
                <a:latin typeface="Space Grotesk"/>
              </a:rPr>
              <a:t>A short view of where the confirmed Azure footprint carries risk today.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4791456"/>
            <a:ext cx="841248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60" b="0" i="1">
                <a:solidFill>
                  <a:srgbClr val="5A637D"/>
                </a:solidFill>
                <a:latin typeface="Space Grotesk"/>
              </a:rPr>
              <a:t>Source: Cloud Findings, active and not ignored, Azure subscription scope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353312"/>
            <a:ext cx="1594713" cy="8595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7" name="Rectangle 6"/>
          <p:cNvSpPr/>
          <p:nvPr/>
        </p:nvSpPr>
        <p:spPr>
          <a:xfrm>
            <a:off x="457200" y="1472184"/>
            <a:ext cx="50292" cy="621792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8" name="Rectangle 7"/>
          <p:cNvSpPr/>
          <p:nvPr/>
        </p:nvSpPr>
        <p:spPr>
          <a:xfrm>
            <a:off x="585216" y="1417320"/>
            <a:ext cx="1283817" cy="3474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73152" tIns="36576" bIns="36576"/>
          <a:lstStyle/>
          <a:p>
            <a:pPr algn="l"/>
            <a:r>
              <a:rPr sz="1700" b="1" i="0">
                <a:solidFill>
                  <a:srgbClr val="11206D"/>
                </a:solidFill>
                <a:latin typeface="Space Grotesk"/>
              </a:rPr>
              <a:t>31,439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6" y="1764792"/>
            <a:ext cx="1302105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660" b="1" i="0">
                <a:solidFill>
                  <a:srgbClr val="11206D"/>
                </a:solidFill>
                <a:latin typeface="Space Grotesk"/>
              </a:rPr>
              <a:t>ACTIVE CSPM FINDINGS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" y="1947672"/>
            <a:ext cx="1302105" cy="219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650" b="0" i="0">
                <a:solidFill>
                  <a:srgbClr val="8A93A8"/>
                </a:solidFill>
                <a:latin typeface="Space Grotesk"/>
              </a:rPr>
              <a:t>Across 30 subscriptions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70201" y="1353312"/>
            <a:ext cx="1594713" cy="8595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12" name="Rectangle 11"/>
          <p:cNvSpPr/>
          <p:nvPr/>
        </p:nvSpPr>
        <p:spPr>
          <a:xfrm>
            <a:off x="2161641" y="1472184"/>
            <a:ext cx="50292" cy="621792"/>
          </a:xfrm>
          <a:prstGeom prst="rect">
            <a:avLst/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13" name="Rectangle 12"/>
          <p:cNvSpPr/>
          <p:nvPr/>
        </p:nvSpPr>
        <p:spPr>
          <a:xfrm>
            <a:off x="2289657" y="1417320"/>
            <a:ext cx="1283817" cy="3474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73152" tIns="36576" bIns="36576"/>
          <a:lstStyle/>
          <a:p>
            <a:pPr algn="l"/>
            <a:r>
              <a:rPr sz="1700" b="1" i="0">
                <a:solidFill>
                  <a:srgbClr val="11206D"/>
                </a:solidFill>
                <a:latin typeface="Space Grotesk"/>
              </a:rPr>
              <a:t>10,144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9657" y="1764792"/>
            <a:ext cx="1302105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660" b="1" i="0">
                <a:solidFill>
                  <a:srgbClr val="11206D"/>
                </a:solidFill>
                <a:latin typeface="Space Grotesk"/>
              </a:rPr>
              <a:t>HIGH FINDINGS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9657" y="1947672"/>
            <a:ext cx="1302105" cy="219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650" b="0" i="0">
                <a:solidFill>
                  <a:srgbClr val="8A93A8"/>
                </a:solidFill>
                <a:latin typeface="Space Grotesk"/>
              </a:rPr>
              <a:t>32.3% of total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74643" y="1353312"/>
            <a:ext cx="1594713" cy="8595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17" name="Rectangle 16"/>
          <p:cNvSpPr/>
          <p:nvPr/>
        </p:nvSpPr>
        <p:spPr>
          <a:xfrm>
            <a:off x="3866083" y="1472184"/>
            <a:ext cx="50292" cy="621792"/>
          </a:xfrm>
          <a:prstGeom prst="rect">
            <a:avLst/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18" name="Rectangle 17"/>
          <p:cNvSpPr/>
          <p:nvPr/>
        </p:nvSpPr>
        <p:spPr>
          <a:xfrm>
            <a:off x="3994099" y="1417320"/>
            <a:ext cx="1283817" cy="3474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73152" tIns="36576" bIns="36576"/>
          <a:lstStyle/>
          <a:p>
            <a:pPr algn="l"/>
            <a:r>
              <a:rPr sz="1700" b="1" i="0">
                <a:solidFill>
                  <a:srgbClr val="11206D"/>
                </a:solidFill>
                <a:latin typeface="Space Grotesk"/>
              </a:rPr>
              <a:t>412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94099" y="1764792"/>
            <a:ext cx="1302105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660" b="1" i="0">
                <a:solidFill>
                  <a:srgbClr val="11206D"/>
                </a:solidFill>
                <a:latin typeface="Space Grotesk"/>
              </a:rPr>
              <a:t>INTERNET EXPOSURE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94099" y="1947672"/>
            <a:ext cx="1302105" cy="219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650" b="0" i="0">
                <a:solidFill>
                  <a:srgbClr val="8A93A8"/>
                </a:solidFill>
                <a:latin typeface="Space Grotesk"/>
              </a:rPr>
              <a:t>Confirmed High findings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79084" y="1353312"/>
            <a:ext cx="1594713" cy="8595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22" name="Rectangle 21"/>
          <p:cNvSpPr/>
          <p:nvPr/>
        </p:nvSpPr>
        <p:spPr>
          <a:xfrm>
            <a:off x="5570524" y="1472184"/>
            <a:ext cx="50292" cy="621792"/>
          </a:xfrm>
          <a:prstGeom prst="rect">
            <a:avLst/>
          </a:prstGeom>
          <a:solidFill>
            <a:srgbClr val="4D4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23" name="Rectangle 22"/>
          <p:cNvSpPr/>
          <p:nvPr/>
        </p:nvSpPr>
        <p:spPr>
          <a:xfrm>
            <a:off x="5698540" y="1417320"/>
            <a:ext cx="1283817" cy="3474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73152" tIns="36576" bIns="36576"/>
          <a:lstStyle/>
          <a:p>
            <a:pPr algn="l"/>
            <a:r>
              <a:rPr sz="1700" b="1" i="0">
                <a:solidFill>
                  <a:srgbClr val="11206D"/>
                </a:solidFill>
                <a:latin typeface="Space Grotesk"/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98540" y="1764792"/>
            <a:ext cx="1302105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660" b="1" i="0">
                <a:solidFill>
                  <a:srgbClr val="11206D"/>
                </a:solidFill>
                <a:latin typeface="Space Grotesk"/>
              </a:rPr>
              <a:t>TOXIC COMBINATIONS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98540" y="1947672"/>
            <a:ext cx="1302105" cy="219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650" b="0" i="0">
                <a:solidFill>
                  <a:srgbClr val="8A93A8"/>
                </a:solidFill>
                <a:latin typeface="Space Grotesk"/>
              </a:rPr>
              <a:t>High-confidence paths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83526" y="1353312"/>
            <a:ext cx="1594713" cy="8595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27" name="Rectangle 26"/>
          <p:cNvSpPr/>
          <p:nvPr/>
        </p:nvSpPr>
        <p:spPr>
          <a:xfrm>
            <a:off x="7274966" y="1472184"/>
            <a:ext cx="50292" cy="621792"/>
          </a:xfrm>
          <a:prstGeom prst="rect">
            <a:avLst/>
          </a:prstGeom>
          <a:solidFill>
            <a:srgbClr val="16A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28" name="Rectangle 27"/>
          <p:cNvSpPr/>
          <p:nvPr/>
        </p:nvSpPr>
        <p:spPr>
          <a:xfrm>
            <a:off x="7402982" y="1417320"/>
            <a:ext cx="1283817" cy="3474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73152" tIns="36576" bIns="36576"/>
          <a:lstStyle/>
          <a:p>
            <a:pPr algn="l"/>
            <a:r>
              <a:rPr sz="1700" b="1" i="0">
                <a:solidFill>
                  <a:srgbClr val="11206D"/>
                </a:solidFill>
                <a:latin typeface="Space Grotesk"/>
              </a:rPr>
              <a:t>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02982" y="1764792"/>
            <a:ext cx="1302105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660" b="1" i="0">
                <a:solidFill>
                  <a:srgbClr val="11206D"/>
                </a:solidFill>
                <a:latin typeface="Space Grotesk"/>
              </a:rPr>
              <a:t>CRITICAL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02982" y="1947672"/>
            <a:ext cx="1302105" cy="219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650" b="0" i="0">
                <a:solidFill>
                  <a:srgbClr val="8A93A8"/>
                </a:solidFill>
                <a:latin typeface="Space Grotesk"/>
              </a:rPr>
              <a:t>None returned by CSPM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2377440"/>
            <a:ext cx="4114800" cy="22677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32" name="Rectangle 31"/>
          <p:cNvSpPr/>
          <p:nvPr/>
        </p:nvSpPr>
        <p:spPr>
          <a:xfrm>
            <a:off x="548640" y="2459736"/>
            <a:ext cx="3749039" cy="219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800" b="1" i="0">
                <a:solidFill>
                  <a:srgbClr val="8A93A8"/>
                </a:solidFill>
                <a:latin typeface="Space Grotesk"/>
              </a:rPr>
              <a:t>FINDING SEVERITY DISTRIBUTION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2761488"/>
            <a:ext cx="1197850" cy="182880"/>
          </a:xfrm>
          <a:prstGeom prst="rect">
            <a:avLst/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34" name="Rectangle 33"/>
          <p:cNvSpPr/>
          <p:nvPr/>
        </p:nvSpPr>
        <p:spPr>
          <a:xfrm>
            <a:off x="1764778" y="2761488"/>
            <a:ext cx="1576784" cy="182880"/>
          </a:xfrm>
          <a:prstGeom prst="rect">
            <a:avLst/>
          </a:prstGeom>
          <a:solidFill>
            <a:srgbClr val="646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35" name="Rectangle 34"/>
          <p:cNvSpPr/>
          <p:nvPr/>
        </p:nvSpPr>
        <p:spPr>
          <a:xfrm>
            <a:off x="3341563" y="2761488"/>
            <a:ext cx="937828" cy="182880"/>
          </a:xfrm>
          <a:prstGeom prst="rect">
            <a:avLst/>
          </a:prstGeom>
          <a:solidFill>
            <a:srgbClr val="16A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36" name="Oval 35"/>
          <p:cNvSpPr/>
          <p:nvPr/>
        </p:nvSpPr>
        <p:spPr>
          <a:xfrm>
            <a:off x="566928" y="3067812"/>
            <a:ext cx="91440" cy="91440"/>
          </a:xfrm>
          <a:prstGeom prst="ellipse">
            <a:avLst/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</a:p>
        </p:txBody>
      </p:sp>
      <p:sp>
        <p:nvSpPr>
          <p:cNvPr id="37" name="Rectangle 36"/>
          <p:cNvSpPr/>
          <p:nvPr/>
        </p:nvSpPr>
        <p:spPr>
          <a:xfrm>
            <a:off x="713232" y="3017520"/>
            <a:ext cx="1054608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73152" tIns="36576" bIns="36576"/>
          <a:lstStyle/>
          <a:p>
            <a:pPr algn="l"/>
            <a:r>
              <a:rPr sz="819" b="0" i="0">
                <a:solidFill>
                  <a:srgbClr val="11206D"/>
                </a:solidFill>
                <a:latin typeface="Space Grotesk"/>
              </a:rPr>
              <a:t>High 10,144</a:t>
            </a:r>
          </a:p>
        </p:txBody>
      </p:sp>
      <p:sp>
        <p:nvSpPr>
          <p:cNvPr id="38" name="Oval 37"/>
          <p:cNvSpPr/>
          <p:nvPr/>
        </p:nvSpPr>
        <p:spPr>
          <a:xfrm>
            <a:off x="1804415" y="3067812"/>
            <a:ext cx="91440" cy="91440"/>
          </a:xfrm>
          <a:prstGeom prst="ellipse">
            <a:avLst/>
          </a:prstGeom>
          <a:solidFill>
            <a:srgbClr val="646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</a:p>
        </p:txBody>
      </p:sp>
      <p:sp>
        <p:nvSpPr>
          <p:cNvPr id="39" name="Rectangle 38"/>
          <p:cNvSpPr/>
          <p:nvPr/>
        </p:nvSpPr>
        <p:spPr>
          <a:xfrm>
            <a:off x="1950720" y="3017520"/>
            <a:ext cx="1054608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73152" tIns="36576" bIns="36576"/>
          <a:lstStyle/>
          <a:p>
            <a:pPr algn="l"/>
            <a:r>
              <a:rPr sz="819" b="0" i="0">
                <a:solidFill>
                  <a:srgbClr val="11206D"/>
                </a:solidFill>
                <a:latin typeface="Space Grotesk"/>
              </a:rPr>
              <a:t>Medium 13,353</a:t>
            </a:r>
          </a:p>
        </p:txBody>
      </p:sp>
      <p:sp>
        <p:nvSpPr>
          <p:cNvPr id="40" name="Oval 39"/>
          <p:cNvSpPr/>
          <p:nvPr/>
        </p:nvSpPr>
        <p:spPr>
          <a:xfrm>
            <a:off x="3041904" y="3067812"/>
            <a:ext cx="91440" cy="91440"/>
          </a:xfrm>
          <a:prstGeom prst="ellipse">
            <a:avLst/>
          </a:prstGeom>
          <a:solidFill>
            <a:srgbClr val="16A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</a:p>
        </p:txBody>
      </p:sp>
      <p:sp>
        <p:nvSpPr>
          <p:cNvPr id="41" name="Rectangle 40"/>
          <p:cNvSpPr/>
          <p:nvPr/>
        </p:nvSpPr>
        <p:spPr>
          <a:xfrm>
            <a:off x="3188208" y="3017520"/>
            <a:ext cx="1054608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73152" tIns="36576" bIns="36576"/>
          <a:lstStyle/>
          <a:p>
            <a:pPr algn="l"/>
            <a:r>
              <a:rPr sz="819" b="0" i="0">
                <a:solidFill>
                  <a:srgbClr val="11206D"/>
                </a:solidFill>
                <a:latin typeface="Space Grotesk"/>
              </a:rPr>
              <a:t>Low 7,942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3328416"/>
            <a:ext cx="1828800" cy="4206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73152" tIns="36576" bIns="36576"/>
          <a:lstStyle/>
          <a:p>
            <a:pPr algn="l"/>
            <a:r>
              <a:rPr sz="2500" b="1" i="0">
                <a:solidFill>
                  <a:srgbClr val="0046FF"/>
                </a:solidFill>
                <a:latin typeface="Space Grotesk"/>
              </a:rPr>
              <a:t>74.7%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28" y="3749039"/>
            <a:ext cx="3712463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860" b="0" i="0">
                <a:solidFill>
                  <a:srgbClr val="11206D"/>
                </a:solidFill>
                <a:latin typeface="Space Grotesk"/>
              </a:rPr>
              <a:t>of active findings are Medium or High severity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6928" y="4041648"/>
            <a:ext cx="3712463" cy="512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860" b="0" i="0">
                <a:solidFill>
                  <a:srgbClr val="5A637D"/>
                </a:solidFill>
                <a:latin typeface="Space Grotesk"/>
              </a:rPr>
              <a:t>The estate needs broad risk reduction. Drive remediation by exploitability and attack paths rather than raw finding volume.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663440" y="2377440"/>
            <a:ext cx="4114800" cy="22677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46" name="Rectangle 45"/>
          <p:cNvSpPr/>
          <p:nvPr/>
        </p:nvSpPr>
        <p:spPr>
          <a:xfrm>
            <a:off x="4846320" y="2459736"/>
            <a:ext cx="3749039" cy="219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800" b="1" i="0">
                <a:solidFill>
                  <a:srgbClr val="8A93A8"/>
                </a:solidFill>
                <a:latin typeface="Space Grotesk"/>
              </a:rPr>
              <a:t>PRIORITY RISK SIGNALS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828032" y="2743200"/>
            <a:ext cx="3785615" cy="585216"/>
          </a:xfrm>
          <a:prstGeom prst="roundRect">
            <a:avLst>
              <a:gd name="adj" fmla="val 5000"/>
            </a:avLst>
          </a:prstGeom>
          <a:solidFill>
            <a:srgbClr val="FB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48" name="Oval 47"/>
          <p:cNvSpPr/>
          <p:nvPr/>
        </p:nvSpPr>
        <p:spPr>
          <a:xfrm>
            <a:off x="4983480" y="2875788"/>
            <a:ext cx="100584" cy="100584"/>
          </a:xfrm>
          <a:prstGeom prst="ellipse">
            <a:avLst/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</a:p>
        </p:txBody>
      </p:sp>
      <p:sp>
        <p:nvSpPr>
          <p:cNvPr id="49" name="Rectangle 48"/>
          <p:cNvSpPr/>
          <p:nvPr/>
        </p:nvSpPr>
        <p:spPr>
          <a:xfrm>
            <a:off x="5175504" y="2779776"/>
            <a:ext cx="3291839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73152" tIns="36576" bIns="36576"/>
          <a:lstStyle/>
          <a:p>
            <a:pPr algn="l"/>
            <a:r>
              <a:rPr sz="900" b="1" i="0">
                <a:solidFill>
                  <a:srgbClr val="11206D"/>
                </a:solidFill>
                <a:latin typeface="Space Grotesk"/>
              </a:rPr>
              <a:t>External attack surface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175504" y="2999232"/>
            <a:ext cx="3291839" cy="2834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760" b="0" i="0">
                <a:solidFill>
                  <a:srgbClr val="5A637D"/>
                </a:solidFill>
                <a:latin typeface="Space Grotesk"/>
              </a:rPr>
              <a:t>412 confirmed Internet-exposed workloads, plus Internet-open management protocols.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828032" y="3364991"/>
            <a:ext cx="3785615" cy="585216"/>
          </a:xfrm>
          <a:prstGeom prst="roundRect">
            <a:avLst>
              <a:gd name="adj" fmla="val 5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52" name="Oval 51"/>
          <p:cNvSpPr/>
          <p:nvPr/>
        </p:nvSpPr>
        <p:spPr>
          <a:xfrm>
            <a:off x="4983480" y="3497579"/>
            <a:ext cx="100584" cy="100584"/>
          </a:xfrm>
          <a:prstGeom prst="ellipse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</a:p>
        </p:txBody>
      </p:sp>
      <p:sp>
        <p:nvSpPr>
          <p:cNvPr id="53" name="Rectangle 52"/>
          <p:cNvSpPr/>
          <p:nvPr/>
        </p:nvSpPr>
        <p:spPr>
          <a:xfrm>
            <a:off x="5175504" y="3401568"/>
            <a:ext cx="3291839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73152" tIns="36576" bIns="36576"/>
          <a:lstStyle/>
          <a:p>
            <a:pPr algn="l"/>
            <a:r>
              <a:rPr sz="900" b="1" i="0">
                <a:solidFill>
                  <a:srgbClr val="11206D"/>
                </a:solidFill>
                <a:latin typeface="Space Grotesk"/>
              </a:rPr>
              <a:t>Data protection concentration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175504" y="3621024"/>
            <a:ext cx="3291839" cy="2834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760" b="0" i="0">
                <a:solidFill>
                  <a:srgbClr val="5A637D"/>
                </a:solidFill>
                <a:latin typeface="Space Grotesk"/>
              </a:rPr>
              <a:t>Storage and block storage dominate High finding volume. Several controls affect public access and encryption.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828032" y="3986783"/>
            <a:ext cx="3785615" cy="585216"/>
          </a:xfrm>
          <a:prstGeom prst="roundRect">
            <a:avLst>
              <a:gd name="adj" fmla="val 5000"/>
            </a:avLst>
          </a:prstGeom>
          <a:solidFill>
            <a:srgbClr val="EC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56" name="Oval 55"/>
          <p:cNvSpPr/>
          <p:nvPr/>
        </p:nvSpPr>
        <p:spPr>
          <a:xfrm>
            <a:off x="4983480" y="4119371"/>
            <a:ext cx="100584" cy="100584"/>
          </a:xfrm>
          <a:prstGeom prst="ellipse">
            <a:avLst/>
          </a:prstGeom>
          <a:solidFill>
            <a:srgbClr val="4D4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</a:p>
        </p:txBody>
      </p:sp>
      <p:sp>
        <p:nvSpPr>
          <p:cNvPr id="57" name="Rectangle 56"/>
          <p:cNvSpPr/>
          <p:nvPr/>
        </p:nvSpPr>
        <p:spPr>
          <a:xfrm>
            <a:off x="5175504" y="4023359"/>
            <a:ext cx="3291839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73152" tIns="36576" bIns="36576"/>
          <a:lstStyle/>
          <a:p>
            <a:pPr algn="l"/>
            <a:r>
              <a:rPr sz="900" b="1" i="0">
                <a:solidFill>
                  <a:srgbClr val="11206D"/>
                </a:solidFill>
                <a:latin typeface="Space Grotesk"/>
              </a:rPr>
              <a:t>Identity and trust blast radius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175504" y="4242816"/>
            <a:ext cx="3291839" cy="2834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760" b="0" i="0">
                <a:solidFill>
                  <a:srgbClr val="5A637D"/>
                </a:solidFill>
                <a:latin typeface="Space Grotesk"/>
              </a:rPr>
              <a:t>Confirmed toxic paths involve domain-controller and Root CA systems exposed through permissive NSGs.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Space Grotesk"/>
              </a:rPr>
              <a:t>Azure Asset Footprint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68096"/>
            <a:ext cx="786384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50" b="1" i="0">
                <a:solidFill>
                  <a:srgbClr val="0046FF"/>
                </a:solidFill>
                <a:latin typeface="Space Grotesk"/>
              </a:rPr>
              <a:t>WHAT THE ASSESSMENT COVERED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84124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19" b="0" i="0">
                <a:solidFill>
                  <a:srgbClr val="5A637D"/>
                </a:solidFill>
                <a:latin typeface="Space Grotesk"/>
              </a:rPr>
              <a:t>The estate is dominated by network, compute and block-storage assets, the primary security control surface.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4791456"/>
            <a:ext cx="841248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60" b="0" i="1">
                <a:solidFill>
                  <a:srgbClr val="5A637D"/>
                </a:solidFill>
                <a:latin typeface="Space Grotesk"/>
              </a:rPr>
              <a:t>Source: Cloud Findings, active and not ignored, Azure subscription scope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353312"/>
            <a:ext cx="4754880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7" name="Rectangle 6"/>
          <p:cNvSpPr/>
          <p:nvPr/>
        </p:nvSpPr>
        <p:spPr>
          <a:xfrm>
            <a:off x="548640" y="1435608"/>
            <a:ext cx="4389120" cy="219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800" b="1" i="0">
                <a:solidFill>
                  <a:srgbClr val="8A93A8"/>
                </a:solidFill>
                <a:latin typeface="Space Grotesk"/>
              </a:rPr>
              <a:t>IMPORTANT ASSET DISTRIBUTION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19072"/>
            <a:ext cx="137160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576" tIns="36576" bIns="36576"/>
          <a:lstStyle/>
          <a:p>
            <a:pPr algn="l"/>
            <a:r>
              <a:rPr sz="819" b="0" i="0">
                <a:solidFill>
                  <a:srgbClr val="11206D"/>
                </a:solidFill>
                <a:latin typeface="Space Grotesk"/>
              </a:rPr>
              <a:t>Networking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93392" y="1794510"/>
            <a:ext cx="2322575" cy="105156"/>
          </a:xfrm>
          <a:prstGeom prst="roundRect">
            <a:avLst>
              <a:gd name="adj" fmla="val 50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10" name="Rounded Rectangle 9"/>
          <p:cNvSpPr/>
          <p:nvPr/>
        </p:nvSpPr>
        <p:spPr>
          <a:xfrm>
            <a:off x="1993392" y="1794510"/>
            <a:ext cx="2322575" cy="105156"/>
          </a:xfrm>
          <a:prstGeom prst="roundRect">
            <a:avLst>
              <a:gd name="adj" fmla="val 50000"/>
            </a:avLst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11" name="Rectangle 10"/>
          <p:cNvSpPr/>
          <p:nvPr/>
        </p:nvSpPr>
        <p:spPr>
          <a:xfrm>
            <a:off x="4389120" y="1719072"/>
            <a:ext cx="54864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r"/>
            <a:r>
              <a:rPr sz="819" b="1" i="0">
                <a:solidFill>
                  <a:srgbClr val="11206D"/>
                </a:solidFill>
                <a:latin typeface="Space Grotesk"/>
              </a:rPr>
              <a:t>3,385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007107"/>
            <a:ext cx="137160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576" tIns="36576" bIns="36576"/>
          <a:lstStyle/>
          <a:p>
            <a:pPr algn="l"/>
            <a:r>
              <a:rPr sz="819" b="0" i="0">
                <a:solidFill>
                  <a:srgbClr val="11206D"/>
                </a:solidFill>
                <a:latin typeface="Space Grotesk"/>
              </a:rPr>
              <a:t>Compute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93392" y="2082545"/>
            <a:ext cx="2322575" cy="105156"/>
          </a:xfrm>
          <a:prstGeom prst="roundRect">
            <a:avLst>
              <a:gd name="adj" fmla="val 50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14" name="Rounded Rectangle 13"/>
          <p:cNvSpPr/>
          <p:nvPr/>
        </p:nvSpPr>
        <p:spPr>
          <a:xfrm>
            <a:off x="1993392" y="2082545"/>
            <a:ext cx="1595270" cy="105156"/>
          </a:xfrm>
          <a:prstGeom prst="roundRect">
            <a:avLst>
              <a:gd name="adj" fmla="val 50000"/>
            </a:avLst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15" name="Rectangle 14"/>
          <p:cNvSpPr/>
          <p:nvPr/>
        </p:nvSpPr>
        <p:spPr>
          <a:xfrm>
            <a:off x="4389120" y="2007107"/>
            <a:ext cx="54864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r"/>
            <a:r>
              <a:rPr sz="819" b="1" i="0">
                <a:solidFill>
                  <a:srgbClr val="11206D"/>
                </a:solidFill>
                <a:latin typeface="Space Grotesk"/>
              </a:rPr>
              <a:t>2,325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295144"/>
            <a:ext cx="137160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576" tIns="36576" bIns="36576"/>
          <a:lstStyle/>
          <a:p>
            <a:pPr algn="l"/>
            <a:r>
              <a:rPr sz="819" b="0" i="0">
                <a:solidFill>
                  <a:srgbClr val="11206D"/>
                </a:solidFill>
                <a:latin typeface="Space Grotesk"/>
              </a:rPr>
              <a:t>Block Storage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93392" y="2370582"/>
            <a:ext cx="2322575" cy="105156"/>
          </a:xfrm>
          <a:prstGeom prst="roundRect">
            <a:avLst>
              <a:gd name="adj" fmla="val 50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18" name="Rounded Rectangle 17"/>
          <p:cNvSpPr/>
          <p:nvPr/>
        </p:nvSpPr>
        <p:spPr>
          <a:xfrm>
            <a:off x="1993392" y="2370582"/>
            <a:ext cx="1522539" cy="105156"/>
          </a:xfrm>
          <a:prstGeom prst="roundRect">
            <a:avLst>
              <a:gd name="adj" fmla="val 50000"/>
            </a:avLst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19" name="Rectangle 18"/>
          <p:cNvSpPr/>
          <p:nvPr/>
        </p:nvSpPr>
        <p:spPr>
          <a:xfrm>
            <a:off x="4389120" y="2295144"/>
            <a:ext cx="54864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r"/>
            <a:r>
              <a:rPr sz="819" b="1" i="0">
                <a:solidFill>
                  <a:srgbClr val="11206D"/>
                </a:solidFill>
                <a:latin typeface="Space Grotesk"/>
              </a:rPr>
              <a:t>2,219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583180"/>
            <a:ext cx="137160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576" tIns="36576" bIns="36576"/>
          <a:lstStyle/>
          <a:p>
            <a:pPr algn="l"/>
            <a:r>
              <a:rPr sz="819" b="0" i="0">
                <a:solidFill>
                  <a:srgbClr val="11206D"/>
                </a:solidFill>
                <a:latin typeface="Space Grotesk"/>
              </a:rPr>
              <a:t>Resource Management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993392" y="2658618"/>
            <a:ext cx="2322575" cy="105156"/>
          </a:xfrm>
          <a:prstGeom prst="roundRect">
            <a:avLst>
              <a:gd name="adj" fmla="val 50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22" name="Rounded Rectangle 21"/>
          <p:cNvSpPr/>
          <p:nvPr/>
        </p:nvSpPr>
        <p:spPr>
          <a:xfrm>
            <a:off x="1993392" y="2658618"/>
            <a:ext cx="619582" cy="105156"/>
          </a:xfrm>
          <a:prstGeom prst="roundRect">
            <a:avLst>
              <a:gd name="adj" fmla="val 50000"/>
            </a:avLst>
          </a:prstGeom>
          <a:solidFill>
            <a:srgbClr val="646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23" name="Rectangle 22"/>
          <p:cNvSpPr/>
          <p:nvPr/>
        </p:nvSpPr>
        <p:spPr>
          <a:xfrm>
            <a:off x="4389120" y="2583180"/>
            <a:ext cx="54864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r"/>
            <a:r>
              <a:rPr sz="819" b="1" i="0">
                <a:solidFill>
                  <a:srgbClr val="11206D"/>
                </a:solidFill>
                <a:latin typeface="Space Grotesk"/>
              </a:rPr>
              <a:t>903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871215"/>
            <a:ext cx="137160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576" tIns="36576" bIns="36576"/>
          <a:lstStyle/>
          <a:p>
            <a:pPr algn="l"/>
            <a:r>
              <a:rPr sz="819" b="0" i="0">
                <a:solidFill>
                  <a:srgbClr val="11206D"/>
                </a:solidFill>
                <a:latin typeface="Space Grotesk"/>
              </a:rPr>
              <a:t>Host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993392" y="2946653"/>
            <a:ext cx="2322575" cy="105156"/>
          </a:xfrm>
          <a:prstGeom prst="roundRect">
            <a:avLst>
              <a:gd name="adj" fmla="val 50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26" name="Rounded Rectangle 25"/>
          <p:cNvSpPr/>
          <p:nvPr/>
        </p:nvSpPr>
        <p:spPr>
          <a:xfrm>
            <a:off x="1993392" y="2946653"/>
            <a:ext cx="487157" cy="105156"/>
          </a:xfrm>
          <a:prstGeom prst="roundRect">
            <a:avLst>
              <a:gd name="adj" fmla="val 50000"/>
            </a:avLst>
          </a:prstGeom>
          <a:solidFill>
            <a:srgbClr val="646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27" name="Rectangle 26"/>
          <p:cNvSpPr/>
          <p:nvPr/>
        </p:nvSpPr>
        <p:spPr>
          <a:xfrm>
            <a:off x="4389120" y="2871215"/>
            <a:ext cx="54864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r"/>
            <a:r>
              <a:rPr sz="819" b="1" i="0">
                <a:solidFill>
                  <a:srgbClr val="11206D"/>
                </a:solidFill>
                <a:latin typeface="Space Grotesk"/>
              </a:rPr>
              <a:t>710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159252"/>
            <a:ext cx="137160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576" tIns="36576" bIns="36576"/>
          <a:lstStyle/>
          <a:p>
            <a:pPr algn="l"/>
            <a:r>
              <a:rPr sz="819" b="0" i="0">
                <a:solidFill>
                  <a:srgbClr val="11206D"/>
                </a:solidFill>
                <a:latin typeface="Space Grotesk"/>
              </a:rPr>
              <a:t>Object Storage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993392" y="3234690"/>
            <a:ext cx="2322575" cy="105156"/>
          </a:xfrm>
          <a:prstGeom prst="roundRect">
            <a:avLst>
              <a:gd name="adj" fmla="val 50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30" name="Rounded Rectangle 29"/>
          <p:cNvSpPr/>
          <p:nvPr/>
        </p:nvSpPr>
        <p:spPr>
          <a:xfrm>
            <a:off x="1993392" y="3234690"/>
            <a:ext cx="181140" cy="105156"/>
          </a:xfrm>
          <a:prstGeom prst="roundRect">
            <a:avLst>
              <a:gd name="adj" fmla="val 50000"/>
            </a:avLst>
          </a:prstGeom>
          <a:solidFill>
            <a:srgbClr val="646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31" name="Rectangle 30"/>
          <p:cNvSpPr/>
          <p:nvPr/>
        </p:nvSpPr>
        <p:spPr>
          <a:xfrm>
            <a:off x="4389120" y="3159252"/>
            <a:ext cx="54864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r"/>
            <a:r>
              <a:rPr sz="819" b="1" i="0">
                <a:solidFill>
                  <a:srgbClr val="11206D"/>
                </a:solidFill>
                <a:latin typeface="Space Grotesk"/>
              </a:rPr>
              <a:t>264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447288"/>
            <a:ext cx="137160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576" tIns="36576" bIns="36576"/>
          <a:lstStyle/>
          <a:p>
            <a:pPr algn="l"/>
            <a:r>
              <a:rPr sz="819" b="0" i="0">
                <a:solidFill>
                  <a:srgbClr val="11206D"/>
                </a:solidFill>
                <a:latin typeface="Space Grotesk"/>
              </a:rPr>
              <a:t>Serverless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993392" y="3522726"/>
            <a:ext cx="2322575" cy="105156"/>
          </a:xfrm>
          <a:prstGeom prst="roundRect">
            <a:avLst>
              <a:gd name="adj" fmla="val 50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34" name="Rounded Rectangle 33"/>
          <p:cNvSpPr/>
          <p:nvPr/>
        </p:nvSpPr>
        <p:spPr>
          <a:xfrm>
            <a:off x="1993392" y="3522726"/>
            <a:ext cx="170848" cy="105156"/>
          </a:xfrm>
          <a:prstGeom prst="roundRect">
            <a:avLst>
              <a:gd name="adj" fmla="val 50000"/>
            </a:avLst>
          </a:prstGeom>
          <a:solidFill>
            <a:srgbClr val="4D4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35" name="Rectangle 34"/>
          <p:cNvSpPr/>
          <p:nvPr/>
        </p:nvSpPr>
        <p:spPr>
          <a:xfrm>
            <a:off x="4389120" y="3447288"/>
            <a:ext cx="54864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r"/>
            <a:r>
              <a:rPr sz="819" b="1" i="0">
                <a:solidFill>
                  <a:srgbClr val="11206D"/>
                </a:solidFill>
                <a:latin typeface="Space Grotesk"/>
              </a:rPr>
              <a:t>249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3735324"/>
            <a:ext cx="137160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576" tIns="36576" bIns="36576"/>
          <a:lstStyle/>
          <a:p>
            <a:pPr algn="l"/>
            <a:r>
              <a:rPr sz="819" b="0" i="0">
                <a:solidFill>
                  <a:srgbClr val="11206D"/>
                </a:solidFill>
                <a:latin typeface="Space Grotesk"/>
              </a:rPr>
              <a:t>Key management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993392" y="3810762"/>
            <a:ext cx="2322575" cy="105156"/>
          </a:xfrm>
          <a:prstGeom prst="roundRect">
            <a:avLst>
              <a:gd name="adj" fmla="val 50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38" name="Rounded Rectangle 37"/>
          <p:cNvSpPr/>
          <p:nvPr/>
        </p:nvSpPr>
        <p:spPr>
          <a:xfrm>
            <a:off x="1993392" y="3810762"/>
            <a:ext cx="115957" cy="105156"/>
          </a:xfrm>
          <a:prstGeom prst="roundRect">
            <a:avLst>
              <a:gd name="adj" fmla="val 50000"/>
            </a:avLst>
          </a:prstGeom>
          <a:solidFill>
            <a:srgbClr val="4D4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39" name="Rectangle 38"/>
          <p:cNvSpPr/>
          <p:nvPr/>
        </p:nvSpPr>
        <p:spPr>
          <a:xfrm>
            <a:off x="4389120" y="3735324"/>
            <a:ext cx="54864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r"/>
            <a:r>
              <a:rPr sz="819" b="1" i="0">
                <a:solidFill>
                  <a:srgbClr val="11206D"/>
                </a:solidFill>
                <a:latin typeface="Space Grotesk"/>
              </a:rPr>
              <a:t>169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4023360"/>
            <a:ext cx="137160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576" tIns="36576" bIns="36576"/>
          <a:lstStyle/>
          <a:p>
            <a:pPr algn="l"/>
            <a:r>
              <a:rPr sz="819" b="0" i="0">
                <a:solidFill>
                  <a:srgbClr val="11206D"/>
                </a:solidFill>
                <a:latin typeface="Space Grotesk"/>
              </a:rPr>
              <a:t>Database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993392" y="4098798"/>
            <a:ext cx="2322575" cy="105156"/>
          </a:xfrm>
          <a:prstGeom prst="roundRect">
            <a:avLst>
              <a:gd name="adj" fmla="val 50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42" name="Rounded Rectangle 41"/>
          <p:cNvSpPr/>
          <p:nvPr/>
        </p:nvSpPr>
        <p:spPr>
          <a:xfrm>
            <a:off x="1993392" y="4098798"/>
            <a:ext cx="72730" cy="105156"/>
          </a:xfrm>
          <a:prstGeom prst="roundRect">
            <a:avLst>
              <a:gd name="adj" fmla="val 50000"/>
            </a:avLst>
          </a:prstGeom>
          <a:solidFill>
            <a:srgbClr val="4D4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43" name="Rectangle 42"/>
          <p:cNvSpPr/>
          <p:nvPr/>
        </p:nvSpPr>
        <p:spPr>
          <a:xfrm>
            <a:off x="4389120" y="4023360"/>
            <a:ext cx="54864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r"/>
            <a:r>
              <a:rPr sz="819" b="1" i="0">
                <a:solidFill>
                  <a:srgbClr val="11206D"/>
                </a:solidFill>
                <a:latin typeface="Space Grotesk"/>
              </a:rPr>
              <a:t>106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4311396"/>
            <a:ext cx="137160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576" tIns="36576" bIns="36576"/>
          <a:lstStyle/>
          <a:p>
            <a:pPr algn="l"/>
            <a:r>
              <a:rPr sz="819" b="0" i="0">
                <a:solidFill>
                  <a:srgbClr val="11206D"/>
                </a:solidFill>
                <a:latin typeface="Space Grotesk"/>
              </a:rPr>
              <a:t>AI + Machine Learning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993392" y="4386833"/>
            <a:ext cx="2322575" cy="105156"/>
          </a:xfrm>
          <a:prstGeom prst="roundRect">
            <a:avLst>
              <a:gd name="adj" fmla="val 50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46" name="Rounded Rectangle 45"/>
          <p:cNvSpPr/>
          <p:nvPr/>
        </p:nvSpPr>
        <p:spPr>
          <a:xfrm>
            <a:off x="1993392" y="4386833"/>
            <a:ext cx="64008" cy="105156"/>
          </a:xfrm>
          <a:prstGeom prst="roundRect">
            <a:avLst>
              <a:gd name="adj" fmla="val 50000"/>
            </a:avLst>
          </a:prstGeom>
          <a:solidFill>
            <a:srgbClr val="4D4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47" name="Rectangle 46"/>
          <p:cNvSpPr/>
          <p:nvPr/>
        </p:nvSpPr>
        <p:spPr>
          <a:xfrm>
            <a:off x="4389120" y="4311396"/>
            <a:ext cx="54864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r"/>
            <a:r>
              <a:rPr sz="819" b="1" i="0">
                <a:solidFill>
                  <a:srgbClr val="11206D"/>
                </a:solidFill>
                <a:latin typeface="Space Grotesk"/>
              </a:rPr>
              <a:t>34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285232" y="1353312"/>
            <a:ext cx="3493008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600" b="1" i="0">
                <a:solidFill>
                  <a:srgbClr val="0046FF"/>
                </a:solidFill>
                <a:latin typeface="Space Grotesk"/>
              </a:rPr>
              <a:t>11,221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5A637D"/>
                </a:solidFill>
                <a:latin typeface="Space Grotesk"/>
              </a:rPr>
              <a:t>TOTAL CONFIRMED AZURE ASSETS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285232" y="2212848"/>
            <a:ext cx="3493008" cy="621792"/>
          </a:xfrm>
          <a:prstGeom prst="roundRect">
            <a:avLst>
              <a:gd name="adj" fmla="val 5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50" name="Oval 49"/>
          <p:cNvSpPr/>
          <p:nvPr/>
        </p:nvSpPr>
        <p:spPr>
          <a:xfrm>
            <a:off x="5440680" y="2345436"/>
            <a:ext cx="100584" cy="100584"/>
          </a:xfrm>
          <a:prstGeom prst="ellipse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</a:p>
        </p:txBody>
      </p:sp>
      <p:sp>
        <p:nvSpPr>
          <p:cNvPr id="51" name="Rectangle 50"/>
          <p:cNvSpPr/>
          <p:nvPr/>
        </p:nvSpPr>
        <p:spPr>
          <a:xfrm>
            <a:off x="5632704" y="2249424"/>
            <a:ext cx="2999232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73152" tIns="36576" bIns="36576"/>
          <a:lstStyle/>
          <a:p>
            <a:pPr algn="l"/>
            <a:r>
              <a:rPr sz="900" b="1" i="0">
                <a:solidFill>
                  <a:srgbClr val="11206D"/>
                </a:solidFill>
                <a:latin typeface="Space Grotesk"/>
              </a:rPr>
              <a:t>Network plane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632704" y="2468880"/>
            <a:ext cx="299923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760" b="0" i="0">
                <a:solidFill>
                  <a:srgbClr val="5A637D"/>
                </a:solidFill>
                <a:latin typeface="Space Grotesk"/>
              </a:rPr>
              <a:t>3,385 networking assets make connectivity, segmentation and logging a major attack-surface concern.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285232" y="2889504"/>
            <a:ext cx="3493008" cy="621792"/>
          </a:xfrm>
          <a:prstGeom prst="roundRect">
            <a:avLst>
              <a:gd name="adj" fmla="val 5000"/>
            </a:avLst>
          </a:prstGeom>
          <a:solidFill>
            <a:srgbClr val="EC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54" name="Oval 53"/>
          <p:cNvSpPr/>
          <p:nvPr/>
        </p:nvSpPr>
        <p:spPr>
          <a:xfrm>
            <a:off x="5440680" y="3022092"/>
            <a:ext cx="100584" cy="100584"/>
          </a:xfrm>
          <a:prstGeom prst="ellipse">
            <a:avLst/>
          </a:prstGeom>
          <a:solidFill>
            <a:srgbClr val="646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</a:p>
        </p:txBody>
      </p:sp>
      <p:sp>
        <p:nvSpPr>
          <p:cNvPr id="55" name="Rectangle 54"/>
          <p:cNvSpPr/>
          <p:nvPr/>
        </p:nvSpPr>
        <p:spPr>
          <a:xfrm>
            <a:off x="5632704" y="2926080"/>
            <a:ext cx="2999232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73152" tIns="36576" bIns="36576"/>
          <a:lstStyle/>
          <a:p>
            <a:pPr algn="l"/>
            <a:r>
              <a:rPr sz="900" b="1" i="0">
                <a:solidFill>
                  <a:srgbClr val="11206D"/>
                </a:solidFill>
                <a:latin typeface="Space Grotesk"/>
              </a:rPr>
              <a:t>Workload plane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632704" y="3145536"/>
            <a:ext cx="299923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760" b="0" i="0">
                <a:solidFill>
                  <a:srgbClr val="5A637D"/>
                </a:solidFill>
                <a:latin typeface="Space Grotesk"/>
              </a:rPr>
              <a:t>Compute and host assets represent 3,035 workloads where exposure and hardening drive exploitability.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285232" y="3566160"/>
            <a:ext cx="3493008" cy="621792"/>
          </a:xfrm>
          <a:prstGeom prst="roundRect">
            <a:avLst>
              <a:gd name="adj" fmla="val 5000"/>
            </a:avLst>
          </a:prstGeom>
          <a:solidFill>
            <a:srgbClr val="EC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58" name="Oval 57"/>
          <p:cNvSpPr/>
          <p:nvPr/>
        </p:nvSpPr>
        <p:spPr>
          <a:xfrm>
            <a:off x="5440680" y="3698748"/>
            <a:ext cx="100584" cy="100584"/>
          </a:xfrm>
          <a:prstGeom prst="ellipse">
            <a:avLst/>
          </a:prstGeom>
          <a:solidFill>
            <a:srgbClr val="4D4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</a:p>
        </p:txBody>
      </p:sp>
      <p:sp>
        <p:nvSpPr>
          <p:cNvPr id="59" name="Rectangle 58"/>
          <p:cNvSpPr/>
          <p:nvPr/>
        </p:nvSpPr>
        <p:spPr>
          <a:xfrm>
            <a:off x="5632704" y="3602736"/>
            <a:ext cx="2999232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73152" tIns="36576" bIns="36576"/>
          <a:lstStyle/>
          <a:p>
            <a:pPr algn="l"/>
            <a:r>
              <a:rPr sz="900" b="1" i="0">
                <a:solidFill>
                  <a:srgbClr val="11206D"/>
                </a:solidFill>
                <a:latin typeface="Space Grotesk"/>
              </a:rPr>
              <a:t>Data plane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632704" y="3822191"/>
            <a:ext cx="299923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760" b="0" i="0">
                <a:solidFill>
                  <a:srgbClr val="5A637D"/>
                </a:solidFill>
                <a:latin typeface="Space Grotesk"/>
              </a:rPr>
              <a:t>2,483 block and object storage assets create concentrated public-access and encryption risk.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285232" y="4242816"/>
            <a:ext cx="3493008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700" b="0" i="1">
                <a:solidFill>
                  <a:srgbClr val="8A93A8"/>
                </a:solidFill>
                <a:latin typeface="Space Grotesk"/>
              </a:rPr>
              <a:t>Coverage note: IAM and Cloud Account categories returned 0 assets in the queried distribution, despite account-level CSPM findings.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Space Grotesk"/>
              </a:rPr>
              <a:t>Severity and Risk Concentration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68096"/>
            <a:ext cx="786384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50" b="1" i="0">
                <a:solidFill>
                  <a:srgbClr val="0046FF"/>
                </a:solidFill>
                <a:latin typeface="Space Grotesk"/>
              </a:rPr>
              <a:t>WHERE THE HIGH FINDINGS SIT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84124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19" b="0" i="0">
                <a:solidFill>
                  <a:srgbClr val="5A637D"/>
                </a:solidFill>
                <a:latin typeface="Space Grotesk"/>
              </a:rPr>
              <a:t>High findings concentrate in storage and compute controls, which gives a narrow remediation surface with broad impact.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4791456"/>
            <a:ext cx="841248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60" b="0" i="1">
                <a:solidFill>
                  <a:srgbClr val="5A637D"/>
                </a:solidFill>
                <a:latin typeface="Space Grotesk"/>
              </a:rPr>
              <a:t>Source: Cloud Findings, active and not ignored, Azure subscription scope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353312"/>
            <a:ext cx="3246120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7" name="Rectangle 6"/>
          <p:cNvSpPr/>
          <p:nvPr/>
        </p:nvSpPr>
        <p:spPr>
          <a:xfrm>
            <a:off x="548640" y="1435608"/>
            <a:ext cx="2880360" cy="219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800" b="1" i="0">
                <a:solidFill>
                  <a:srgbClr val="8A93A8"/>
                </a:solidFill>
                <a:latin typeface="Space Grotesk"/>
              </a:rPr>
              <a:t>SEVERITY VOLUME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737360"/>
            <a:ext cx="77724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576" tIns="36576" bIns="36576"/>
          <a:lstStyle/>
          <a:p>
            <a:pPr algn="l"/>
            <a:r>
              <a:rPr sz="819" b="0" i="0">
                <a:solidFill>
                  <a:srgbClr val="11206D"/>
                </a:solidFill>
                <a:latin typeface="Space Grotesk"/>
              </a:rPr>
              <a:t>High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80744" y="1812798"/>
            <a:ext cx="1362456" cy="105156"/>
          </a:xfrm>
          <a:prstGeom prst="roundRect">
            <a:avLst>
              <a:gd name="adj" fmla="val 50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10" name="Rounded Rectangle 9"/>
          <p:cNvSpPr/>
          <p:nvPr/>
        </p:nvSpPr>
        <p:spPr>
          <a:xfrm>
            <a:off x="1380744" y="1812798"/>
            <a:ext cx="1035029" cy="105156"/>
          </a:xfrm>
          <a:prstGeom prst="roundRect">
            <a:avLst>
              <a:gd name="adj" fmla="val 50000"/>
            </a:avLst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11" name="Rectangle 10"/>
          <p:cNvSpPr/>
          <p:nvPr/>
        </p:nvSpPr>
        <p:spPr>
          <a:xfrm>
            <a:off x="2816352" y="1737360"/>
            <a:ext cx="64008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r"/>
            <a:r>
              <a:rPr sz="819" b="1" i="0">
                <a:solidFill>
                  <a:srgbClr val="11206D"/>
                </a:solidFill>
                <a:latin typeface="Space Grotesk"/>
              </a:rPr>
              <a:t>10,144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" y="2048255"/>
            <a:ext cx="77724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576" tIns="36576" bIns="36576"/>
          <a:lstStyle/>
          <a:p>
            <a:pPr algn="l"/>
            <a:r>
              <a:rPr sz="819" b="0" i="0">
                <a:solidFill>
                  <a:srgbClr val="11206D"/>
                </a:solidFill>
                <a:latin typeface="Space Grotesk"/>
              </a:rPr>
              <a:t>Medium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80744" y="2123694"/>
            <a:ext cx="1362456" cy="105156"/>
          </a:xfrm>
          <a:prstGeom prst="roundRect">
            <a:avLst>
              <a:gd name="adj" fmla="val 50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14" name="Rounded Rectangle 13"/>
          <p:cNvSpPr/>
          <p:nvPr/>
        </p:nvSpPr>
        <p:spPr>
          <a:xfrm>
            <a:off x="1380744" y="2123694"/>
            <a:ext cx="1362456" cy="105156"/>
          </a:xfrm>
          <a:prstGeom prst="roundRect">
            <a:avLst>
              <a:gd name="adj" fmla="val 50000"/>
            </a:avLst>
          </a:prstGeom>
          <a:solidFill>
            <a:srgbClr val="646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15" name="Rectangle 14"/>
          <p:cNvSpPr/>
          <p:nvPr/>
        </p:nvSpPr>
        <p:spPr>
          <a:xfrm>
            <a:off x="2816352" y="2048255"/>
            <a:ext cx="64008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r"/>
            <a:r>
              <a:rPr sz="819" b="1" i="0">
                <a:solidFill>
                  <a:srgbClr val="11206D"/>
                </a:solidFill>
                <a:latin typeface="Space Grotesk"/>
              </a:rPr>
              <a:t>13,353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2359152"/>
            <a:ext cx="77724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576" tIns="36576" bIns="36576"/>
          <a:lstStyle/>
          <a:p>
            <a:pPr algn="l"/>
            <a:r>
              <a:rPr sz="819" b="0" i="0">
                <a:solidFill>
                  <a:srgbClr val="11206D"/>
                </a:solidFill>
                <a:latin typeface="Space Grotesk"/>
              </a:rPr>
              <a:t>Low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80744" y="2434590"/>
            <a:ext cx="1362456" cy="105156"/>
          </a:xfrm>
          <a:prstGeom prst="roundRect">
            <a:avLst>
              <a:gd name="adj" fmla="val 50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18" name="Rounded Rectangle 17"/>
          <p:cNvSpPr/>
          <p:nvPr/>
        </p:nvSpPr>
        <p:spPr>
          <a:xfrm>
            <a:off x="1380744" y="2434590"/>
            <a:ext cx="810351" cy="105156"/>
          </a:xfrm>
          <a:prstGeom prst="roundRect">
            <a:avLst>
              <a:gd name="adj" fmla="val 50000"/>
            </a:avLst>
          </a:prstGeom>
          <a:solidFill>
            <a:srgbClr val="16A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19" name="Rectangle 18"/>
          <p:cNvSpPr/>
          <p:nvPr/>
        </p:nvSpPr>
        <p:spPr>
          <a:xfrm>
            <a:off x="2816352" y="2359152"/>
            <a:ext cx="64008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r"/>
            <a:r>
              <a:rPr sz="819" b="1" i="0">
                <a:solidFill>
                  <a:srgbClr val="11206D"/>
                </a:solidFill>
                <a:latin typeface="Space Grotesk"/>
              </a:rPr>
              <a:t>7,942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0352" y="2743200"/>
            <a:ext cx="2926080" cy="274320"/>
          </a:xfrm>
          <a:prstGeom prst="roundRect">
            <a:avLst>
              <a:gd name="adj" fmla="val 6000"/>
            </a:avLst>
          </a:prstGeom>
          <a:solidFill>
            <a:srgbClr val="E7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21" name="Rectangle 20"/>
          <p:cNvSpPr/>
          <p:nvPr/>
        </p:nvSpPr>
        <p:spPr>
          <a:xfrm>
            <a:off x="658368" y="2743200"/>
            <a:ext cx="2743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73152" tIns="36576" bIns="36576"/>
          <a:lstStyle/>
          <a:p>
            <a:pPr algn="l"/>
            <a:r>
              <a:rPr sz="840" b="1" i="0">
                <a:solidFill>
                  <a:srgbClr val="0B7A42"/>
                </a:solidFill>
                <a:latin typeface="Space Grotesk"/>
              </a:rPr>
              <a:t>0 confirmed Critical findings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" y="3127248"/>
            <a:ext cx="2926080" cy="1371600"/>
          </a:xfrm>
          <a:prstGeom prst="roundRect">
            <a:avLst>
              <a:gd name="adj" fmla="val 5000"/>
            </a:avLst>
          </a:prstGeom>
          <a:solidFill>
            <a:srgbClr val="EC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23" name="Oval 22"/>
          <p:cNvSpPr/>
          <p:nvPr/>
        </p:nvSpPr>
        <p:spPr>
          <a:xfrm>
            <a:off x="685800" y="3259836"/>
            <a:ext cx="100584" cy="100584"/>
          </a:xfrm>
          <a:prstGeom prst="ellipse">
            <a:avLst/>
          </a:prstGeom>
          <a:solidFill>
            <a:srgbClr val="4D4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</a:p>
        </p:txBody>
      </p:sp>
      <p:sp>
        <p:nvSpPr>
          <p:cNvPr id="24" name="Rectangle 23"/>
          <p:cNvSpPr/>
          <p:nvPr/>
        </p:nvSpPr>
        <p:spPr>
          <a:xfrm>
            <a:off x="877824" y="3163824"/>
            <a:ext cx="2432304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73152" tIns="36576" bIns="36576"/>
          <a:lstStyle/>
          <a:p>
            <a:pPr algn="l"/>
            <a:r>
              <a:rPr sz="900" b="1" i="0">
                <a:solidFill>
                  <a:srgbClr val="11206D"/>
                </a:solidFill>
                <a:latin typeface="Space Grotesk"/>
              </a:rPr>
              <a:t>Compound-risk override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77824" y="3383280"/>
            <a:ext cx="2432304" cy="10698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800" b="0" i="0">
                <a:solidFill>
                  <a:srgbClr val="5A637D"/>
                </a:solidFill>
                <a:latin typeface="Space Grotesk"/>
              </a:rPr>
              <a:t>Severity alone understates risk. Confirmed toxic combinations raise several High controls to Critical remediation priority.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40480" y="1353312"/>
            <a:ext cx="4937760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27" name="Rectangle 26"/>
          <p:cNvSpPr/>
          <p:nvPr/>
        </p:nvSpPr>
        <p:spPr>
          <a:xfrm>
            <a:off x="4023360" y="1435608"/>
            <a:ext cx="4572000" cy="219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800" b="1" i="0">
                <a:solidFill>
                  <a:srgbClr val="8A93A8"/>
                </a:solidFill>
                <a:latin typeface="Space Grotesk"/>
              </a:rPr>
              <a:t>HIGH FINDINGS BY ASSET CATEGORY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023360" y="1719072"/>
            <a:ext cx="141732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576" tIns="36576" bIns="36576"/>
          <a:lstStyle/>
          <a:p>
            <a:pPr algn="l"/>
            <a:r>
              <a:rPr sz="819" b="0" i="0">
                <a:solidFill>
                  <a:srgbClr val="11206D"/>
                </a:solidFill>
                <a:latin typeface="Space Grotesk"/>
              </a:rPr>
              <a:t>Block Storage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513832" y="1794510"/>
            <a:ext cx="2441448" cy="105156"/>
          </a:xfrm>
          <a:prstGeom prst="roundRect">
            <a:avLst>
              <a:gd name="adj" fmla="val 50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30" name="Rounded Rectangle 29"/>
          <p:cNvSpPr/>
          <p:nvPr/>
        </p:nvSpPr>
        <p:spPr>
          <a:xfrm>
            <a:off x="5513832" y="1794510"/>
            <a:ext cx="2441448" cy="105156"/>
          </a:xfrm>
          <a:prstGeom prst="roundRect">
            <a:avLst>
              <a:gd name="adj" fmla="val 50000"/>
            </a:avLst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31" name="Rectangle 30"/>
          <p:cNvSpPr/>
          <p:nvPr/>
        </p:nvSpPr>
        <p:spPr>
          <a:xfrm>
            <a:off x="8028432" y="1719072"/>
            <a:ext cx="566928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r"/>
            <a:r>
              <a:rPr sz="819" b="1" i="0">
                <a:solidFill>
                  <a:srgbClr val="11206D"/>
                </a:solidFill>
                <a:latin typeface="Space Grotesk"/>
              </a:rPr>
              <a:t>4,247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023360" y="1956815"/>
            <a:ext cx="141732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576" tIns="36576" bIns="36576"/>
          <a:lstStyle/>
          <a:p>
            <a:pPr algn="l"/>
            <a:r>
              <a:rPr sz="819" b="0" i="0">
                <a:solidFill>
                  <a:srgbClr val="11206D"/>
                </a:solidFill>
                <a:latin typeface="Space Grotesk"/>
              </a:rPr>
              <a:t>Compute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513832" y="2032253"/>
            <a:ext cx="2441448" cy="105156"/>
          </a:xfrm>
          <a:prstGeom prst="roundRect">
            <a:avLst>
              <a:gd name="adj" fmla="val 50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34" name="Rounded Rectangle 33"/>
          <p:cNvSpPr/>
          <p:nvPr/>
        </p:nvSpPr>
        <p:spPr>
          <a:xfrm>
            <a:off x="5513832" y="2032253"/>
            <a:ext cx="2110901" cy="105156"/>
          </a:xfrm>
          <a:prstGeom prst="roundRect">
            <a:avLst>
              <a:gd name="adj" fmla="val 50000"/>
            </a:avLst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35" name="Rectangle 34"/>
          <p:cNvSpPr/>
          <p:nvPr/>
        </p:nvSpPr>
        <p:spPr>
          <a:xfrm>
            <a:off x="8028432" y="1956815"/>
            <a:ext cx="566928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r"/>
            <a:r>
              <a:rPr sz="819" b="1" i="0">
                <a:solidFill>
                  <a:srgbClr val="11206D"/>
                </a:solidFill>
                <a:latin typeface="Space Grotesk"/>
              </a:rPr>
              <a:t>3,672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023360" y="2194560"/>
            <a:ext cx="141732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576" tIns="36576" bIns="36576"/>
          <a:lstStyle/>
          <a:p>
            <a:pPr algn="l"/>
            <a:r>
              <a:rPr sz="819" b="0" i="0">
                <a:solidFill>
                  <a:srgbClr val="11206D"/>
                </a:solidFill>
                <a:latin typeface="Space Grotesk"/>
              </a:rPr>
              <a:t>Object Storage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513832" y="2269998"/>
            <a:ext cx="2441448" cy="105156"/>
          </a:xfrm>
          <a:prstGeom prst="roundRect">
            <a:avLst>
              <a:gd name="adj" fmla="val 50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38" name="Rounded Rectangle 37"/>
          <p:cNvSpPr/>
          <p:nvPr/>
        </p:nvSpPr>
        <p:spPr>
          <a:xfrm>
            <a:off x="5513832" y="2269998"/>
            <a:ext cx="723179" cy="105156"/>
          </a:xfrm>
          <a:prstGeom prst="roundRect">
            <a:avLst>
              <a:gd name="adj" fmla="val 50000"/>
            </a:avLst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39" name="Rectangle 38"/>
          <p:cNvSpPr/>
          <p:nvPr/>
        </p:nvSpPr>
        <p:spPr>
          <a:xfrm>
            <a:off x="8028432" y="2194560"/>
            <a:ext cx="566928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r"/>
            <a:r>
              <a:rPr sz="819" b="1" i="0">
                <a:solidFill>
                  <a:srgbClr val="11206D"/>
                </a:solidFill>
                <a:latin typeface="Space Grotesk"/>
              </a:rPr>
              <a:t>1,258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023360" y="2432304"/>
            <a:ext cx="141732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576" tIns="36576" bIns="36576"/>
          <a:lstStyle/>
          <a:p>
            <a:pPr algn="l"/>
            <a:r>
              <a:rPr sz="819" b="0" i="0">
                <a:solidFill>
                  <a:srgbClr val="11206D"/>
                </a:solidFill>
                <a:latin typeface="Space Grotesk"/>
              </a:rPr>
              <a:t>Host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513832" y="2507742"/>
            <a:ext cx="2441448" cy="105156"/>
          </a:xfrm>
          <a:prstGeom prst="roundRect">
            <a:avLst>
              <a:gd name="adj" fmla="val 50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42" name="Rounded Rectangle 41"/>
          <p:cNvSpPr/>
          <p:nvPr/>
        </p:nvSpPr>
        <p:spPr>
          <a:xfrm>
            <a:off x="5513832" y="2507742"/>
            <a:ext cx="437471" cy="105156"/>
          </a:xfrm>
          <a:prstGeom prst="roundRect">
            <a:avLst>
              <a:gd name="adj" fmla="val 50000"/>
            </a:avLst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43" name="Rectangle 42"/>
          <p:cNvSpPr/>
          <p:nvPr/>
        </p:nvSpPr>
        <p:spPr>
          <a:xfrm>
            <a:off x="8028432" y="2432304"/>
            <a:ext cx="566928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r"/>
            <a:r>
              <a:rPr sz="819" b="1" i="0">
                <a:solidFill>
                  <a:srgbClr val="11206D"/>
                </a:solidFill>
                <a:latin typeface="Space Grotesk"/>
              </a:rPr>
              <a:t>761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023360" y="2670048"/>
            <a:ext cx="141732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576" tIns="36576" bIns="36576"/>
          <a:lstStyle/>
          <a:p>
            <a:pPr algn="l"/>
            <a:r>
              <a:rPr sz="819" b="0" i="0">
                <a:solidFill>
                  <a:srgbClr val="11206D"/>
                </a:solidFill>
                <a:latin typeface="Space Grotesk"/>
              </a:rPr>
              <a:t>Networking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513832" y="2745486"/>
            <a:ext cx="2441448" cy="105156"/>
          </a:xfrm>
          <a:prstGeom prst="roundRect">
            <a:avLst>
              <a:gd name="adj" fmla="val 50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46" name="Rounded Rectangle 45"/>
          <p:cNvSpPr/>
          <p:nvPr/>
        </p:nvSpPr>
        <p:spPr>
          <a:xfrm>
            <a:off x="5513832" y="2745486"/>
            <a:ext cx="64008" cy="105156"/>
          </a:xfrm>
          <a:prstGeom prst="roundRect">
            <a:avLst>
              <a:gd name="adj" fmla="val 50000"/>
            </a:avLst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47" name="Rectangle 46"/>
          <p:cNvSpPr/>
          <p:nvPr/>
        </p:nvSpPr>
        <p:spPr>
          <a:xfrm>
            <a:off x="8028432" y="2670048"/>
            <a:ext cx="566928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r"/>
            <a:r>
              <a:rPr sz="819" b="1" i="0">
                <a:solidFill>
                  <a:srgbClr val="11206D"/>
                </a:solidFill>
                <a:latin typeface="Space Grotesk"/>
              </a:rPr>
              <a:t>83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023360" y="2907791"/>
            <a:ext cx="141732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576" tIns="36576" bIns="36576"/>
          <a:lstStyle/>
          <a:p>
            <a:pPr algn="l"/>
            <a:r>
              <a:rPr sz="819" b="0" i="0">
                <a:solidFill>
                  <a:srgbClr val="11206D"/>
                </a:solidFill>
                <a:latin typeface="Space Grotesk"/>
              </a:rPr>
              <a:t>AI + Machine Learning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513832" y="2983229"/>
            <a:ext cx="2441448" cy="105156"/>
          </a:xfrm>
          <a:prstGeom prst="roundRect">
            <a:avLst>
              <a:gd name="adj" fmla="val 50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50" name="Rounded Rectangle 49"/>
          <p:cNvSpPr/>
          <p:nvPr/>
        </p:nvSpPr>
        <p:spPr>
          <a:xfrm>
            <a:off x="5513832" y="2983229"/>
            <a:ext cx="64008" cy="105156"/>
          </a:xfrm>
          <a:prstGeom prst="roundRect">
            <a:avLst>
              <a:gd name="adj" fmla="val 50000"/>
            </a:avLst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51" name="Rectangle 50"/>
          <p:cNvSpPr/>
          <p:nvPr/>
        </p:nvSpPr>
        <p:spPr>
          <a:xfrm>
            <a:off x="8028432" y="2907791"/>
            <a:ext cx="566928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r"/>
            <a:r>
              <a:rPr sz="819" b="1" i="0">
                <a:solidFill>
                  <a:srgbClr val="11206D"/>
                </a:solidFill>
                <a:latin typeface="Space Grotesk"/>
              </a:rPr>
              <a:t>51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023360" y="3145536"/>
            <a:ext cx="141732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576" tIns="36576" bIns="36576"/>
          <a:lstStyle/>
          <a:p>
            <a:pPr algn="l"/>
            <a:r>
              <a:rPr sz="819" b="0" i="0">
                <a:solidFill>
                  <a:srgbClr val="11206D"/>
                </a:solidFill>
                <a:latin typeface="Space Grotesk"/>
              </a:rPr>
              <a:t>Key management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513832" y="3220974"/>
            <a:ext cx="2441448" cy="105156"/>
          </a:xfrm>
          <a:prstGeom prst="roundRect">
            <a:avLst>
              <a:gd name="adj" fmla="val 50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54" name="Rounded Rectangle 53"/>
          <p:cNvSpPr/>
          <p:nvPr/>
        </p:nvSpPr>
        <p:spPr>
          <a:xfrm>
            <a:off x="5513832" y="3220974"/>
            <a:ext cx="64008" cy="105156"/>
          </a:xfrm>
          <a:prstGeom prst="roundRect">
            <a:avLst>
              <a:gd name="adj" fmla="val 50000"/>
            </a:avLst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55" name="Rectangle 54"/>
          <p:cNvSpPr/>
          <p:nvPr/>
        </p:nvSpPr>
        <p:spPr>
          <a:xfrm>
            <a:off x="8028432" y="3145536"/>
            <a:ext cx="566928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r"/>
            <a:r>
              <a:rPr sz="819" b="1" i="0">
                <a:solidFill>
                  <a:srgbClr val="11206D"/>
                </a:solidFill>
                <a:latin typeface="Space Grotesk"/>
              </a:rPr>
              <a:t>31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023360" y="3383280"/>
            <a:ext cx="141732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576" tIns="36576" bIns="36576"/>
          <a:lstStyle/>
          <a:p>
            <a:pPr algn="l"/>
            <a:r>
              <a:rPr sz="819" b="0" i="0">
                <a:solidFill>
                  <a:srgbClr val="11206D"/>
                </a:solidFill>
                <a:latin typeface="Space Grotesk"/>
              </a:rPr>
              <a:t>Database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513832" y="3458718"/>
            <a:ext cx="2441448" cy="105156"/>
          </a:xfrm>
          <a:prstGeom prst="roundRect">
            <a:avLst>
              <a:gd name="adj" fmla="val 50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58" name="Rounded Rectangle 57"/>
          <p:cNvSpPr/>
          <p:nvPr/>
        </p:nvSpPr>
        <p:spPr>
          <a:xfrm>
            <a:off x="5513832" y="3458718"/>
            <a:ext cx="64008" cy="105156"/>
          </a:xfrm>
          <a:prstGeom prst="roundRect">
            <a:avLst>
              <a:gd name="adj" fmla="val 50000"/>
            </a:avLst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59" name="Rectangle 58"/>
          <p:cNvSpPr/>
          <p:nvPr/>
        </p:nvSpPr>
        <p:spPr>
          <a:xfrm>
            <a:off x="8028432" y="3383280"/>
            <a:ext cx="566928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r"/>
            <a:r>
              <a:rPr sz="819" b="1" i="0">
                <a:solidFill>
                  <a:srgbClr val="11206D"/>
                </a:solidFill>
                <a:latin typeface="Space Grotesk"/>
              </a:rPr>
              <a:t>22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023360" y="3657600"/>
            <a:ext cx="1188720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73152" tIns="36576" bIns="36576"/>
          <a:lstStyle/>
          <a:p>
            <a:pPr algn="l"/>
            <a:r>
              <a:rPr sz="2200" b="1" i="0">
                <a:solidFill>
                  <a:srgbClr val="C80019"/>
                </a:solidFill>
                <a:latin typeface="Space Grotesk"/>
              </a:rPr>
              <a:t>90.5%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230368" y="3657600"/>
            <a:ext cx="3364992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73152" tIns="36576" bIns="36576"/>
          <a:lstStyle/>
          <a:p>
            <a:pPr algn="l"/>
            <a:r>
              <a:rPr sz="840" b="0" i="0">
                <a:solidFill>
                  <a:srgbClr val="11206D"/>
                </a:solidFill>
                <a:latin typeface="Space Grotesk"/>
              </a:rPr>
              <a:t>of all High findings sit in Block Storage, Compute and Object Storage.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023360" y="4078224"/>
            <a:ext cx="4572000" cy="530352"/>
          </a:xfrm>
          <a:prstGeom prst="roundRect">
            <a:avLst>
              <a:gd name="adj" fmla="val 5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63" name="Oval 62"/>
          <p:cNvSpPr/>
          <p:nvPr/>
        </p:nvSpPr>
        <p:spPr>
          <a:xfrm>
            <a:off x="4178808" y="4210812"/>
            <a:ext cx="100584" cy="100584"/>
          </a:xfrm>
          <a:prstGeom prst="ellipse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</a:p>
        </p:txBody>
      </p:sp>
      <p:sp>
        <p:nvSpPr>
          <p:cNvPr id="64" name="Rectangle 63"/>
          <p:cNvSpPr/>
          <p:nvPr/>
        </p:nvSpPr>
        <p:spPr>
          <a:xfrm>
            <a:off x="4370832" y="4114800"/>
            <a:ext cx="4078224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73152" tIns="36576" bIns="36576"/>
          <a:lstStyle/>
          <a:p>
            <a:pPr algn="l"/>
            <a:r>
              <a:rPr sz="900" b="1" i="0">
                <a:solidFill>
                  <a:srgbClr val="11206D"/>
                </a:solidFill>
                <a:latin typeface="Space Grotesk"/>
              </a:rPr>
              <a:t>Technical interpretation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370832" y="4334256"/>
            <a:ext cx="4078224" cy="2285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780" b="0" i="0">
                <a:solidFill>
                  <a:srgbClr val="5A637D"/>
                </a:solidFill>
                <a:latin typeface="Space Grotesk"/>
              </a:rPr>
              <a:t>Fix the systemic controls first: private access by default, encryption at host, BYOK and CMK, and exposure guardrails. Do policy cleanup after.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Space Grotesk"/>
              </a:rPr>
              <a:t>Highest-Volume High Findings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68096"/>
            <a:ext cx="786384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50" b="1" i="0">
                <a:solidFill>
                  <a:srgbClr val="0046FF"/>
                </a:solidFill>
                <a:latin typeface="Space Grotesk"/>
              </a:rPr>
              <a:t>THE CONTROLS BEHIND THE VOLUME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84124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19" b="0" i="0">
                <a:solidFill>
                  <a:srgbClr val="5A637D"/>
                </a:solidFill>
                <a:latin typeface="Space Grotesk"/>
              </a:rPr>
              <a:t>The top controls point to data-protection and exposure weaknesses, followed by compute hardening gaps.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4791456"/>
            <a:ext cx="841248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60" b="0" i="1">
                <a:solidFill>
                  <a:srgbClr val="5A637D"/>
                </a:solidFill>
                <a:latin typeface="Space Grotesk"/>
              </a:rPr>
              <a:t>Source: Cloud Findings, active and not ignored, Azure subscription scope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353312"/>
            <a:ext cx="4846320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7" name="Rectangle 6"/>
          <p:cNvSpPr/>
          <p:nvPr/>
        </p:nvSpPr>
        <p:spPr>
          <a:xfrm>
            <a:off x="548640" y="1435608"/>
            <a:ext cx="4480559" cy="219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800" b="1" i="0">
                <a:solidFill>
                  <a:srgbClr val="8A93A8"/>
                </a:solidFill>
                <a:latin typeface="Space Grotesk"/>
              </a:rPr>
              <a:t>TOP HIGH FINDINGS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19072"/>
            <a:ext cx="3730752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576" tIns="36576" bIns="36576"/>
          <a:lstStyle/>
          <a:p>
            <a:pPr algn="l"/>
            <a:r>
              <a:rPr sz="819" b="0" i="0">
                <a:solidFill>
                  <a:srgbClr val="11206D"/>
                </a:solidFill>
                <a:latin typeface="Space Grotesk"/>
              </a:rPr>
              <a:t>VM Disk Snapshot Public Access Disabled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9392" y="1719072"/>
            <a:ext cx="658368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r"/>
            <a:r>
              <a:rPr sz="819" b="1" i="0">
                <a:solidFill>
                  <a:srgbClr val="11206D"/>
                </a:solidFill>
                <a:latin typeface="Space Grotesk"/>
              </a:rPr>
              <a:t>3,413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11095"/>
            <a:ext cx="4389120" cy="105156"/>
          </a:xfrm>
          <a:prstGeom prst="roundRect">
            <a:avLst>
              <a:gd name="adj" fmla="val 50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11" name="Rounded Rectangle 10"/>
          <p:cNvSpPr/>
          <p:nvPr/>
        </p:nvSpPr>
        <p:spPr>
          <a:xfrm>
            <a:off x="548640" y="1911095"/>
            <a:ext cx="4389120" cy="105156"/>
          </a:xfrm>
          <a:prstGeom prst="roundRect">
            <a:avLst>
              <a:gd name="adj" fmla="val 50000"/>
            </a:avLst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12" name="Rectangle 11"/>
          <p:cNvSpPr/>
          <p:nvPr/>
        </p:nvSpPr>
        <p:spPr>
          <a:xfrm>
            <a:off x="548640" y="2080260"/>
            <a:ext cx="3730752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576" tIns="36576" bIns="36576"/>
          <a:lstStyle/>
          <a:p>
            <a:pPr algn="l"/>
            <a:r>
              <a:rPr sz="819" b="0" i="0">
                <a:solidFill>
                  <a:srgbClr val="11206D"/>
                </a:solidFill>
                <a:latin typeface="Space Grotesk"/>
              </a:rPr>
              <a:t>VM Disk Public Access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9392" y="2080260"/>
            <a:ext cx="658368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r"/>
            <a:r>
              <a:rPr sz="819" b="1" i="0">
                <a:solidFill>
                  <a:srgbClr val="11206D"/>
                </a:solidFill>
                <a:latin typeface="Space Grotesk"/>
              </a:rPr>
              <a:t>1,778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272284"/>
            <a:ext cx="4389120" cy="105156"/>
          </a:xfrm>
          <a:prstGeom prst="roundRect">
            <a:avLst>
              <a:gd name="adj" fmla="val 50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15" name="Rounded Rectangle 14"/>
          <p:cNvSpPr/>
          <p:nvPr/>
        </p:nvSpPr>
        <p:spPr>
          <a:xfrm>
            <a:off x="548640" y="2272284"/>
            <a:ext cx="2286509" cy="105156"/>
          </a:xfrm>
          <a:prstGeom prst="roundRect">
            <a:avLst>
              <a:gd name="adj" fmla="val 50000"/>
            </a:avLst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16" name="Rectangle 15"/>
          <p:cNvSpPr/>
          <p:nvPr/>
        </p:nvSpPr>
        <p:spPr>
          <a:xfrm>
            <a:off x="548640" y="2441448"/>
            <a:ext cx="3730752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576" tIns="36576" bIns="36576"/>
          <a:lstStyle/>
          <a:p>
            <a:pPr algn="l"/>
            <a:r>
              <a:rPr sz="819" b="0" i="0">
                <a:solidFill>
                  <a:srgbClr val="11206D"/>
                </a:solidFill>
                <a:latin typeface="Space Grotesk"/>
              </a:rPr>
              <a:t>Attached Disk Volumes BYOK Encryption Enabled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9392" y="2441448"/>
            <a:ext cx="658368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r"/>
            <a:r>
              <a:rPr sz="819" b="1" i="0">
                <a:solidFill>
                  <a:srgbClr val="11206D"/>
                </a:solidFill>
                <a:latin typeface="Space Grotesk"/>
              </a:rPr>
              <a:t>1,773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633472"/>
            <a:ext cx="4389120" cy="105156"/>
          </a:xfrm>
          <a:prstGeom prst="roundRect">
            <a:avLst>
              <a:gd name="adj" fmla="val 50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19" name="Rounded Rectangle 18"/>
          <p:cNvSpPr/>
          <p:nvPr/>
        </p:nvSpPr>
        <p:spPr>
          <a:xfrm>
            <a:off x="548640" y="2633472"/>
            <a:ext cx="2280079" cy="105156"/>
          </a:xfrm>
          <a:prstGeom prst="roundRect">
            <a:avLst>
              <a:gd name="adj" fmla="val 50000"/>
            </a:avLst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20" name="Rectangle 19"/>
          <p:cNvSpPr/>
          <p:nvPr/>
        </p:nvSpPr>
        <p:spPr>
          <a:xfrm>
            <a:off x="548640" y="2802636"/>
            <a:ext cx="3730752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576" tIns="36576" bIns="36576"/>
          <a:lstStyle/>
          <a:p>
            <a:pPr algn="l"/>
            <a:r>
              <a:rPr sz="819" b="0" i="0">
                <a:solidFill>
                  <a:srgbClr val="11206D"/>
                </a:solidFill>
                <a:latin typeface="Space Grotesk"/>
              </a:rPr>
              <a:t>Blob Container CMK Encrypted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79392" y="2802636"/>
            <a:ext cx="658368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r"/>
            <a:r>
              <a:rPr sz="819" b="1" i="0">
                <a:solidFill>
                  <a:srgbClr val="11206D"/>
                </a:solidFill>
                <a:latin typeface="Space Grotesk"/>
              </a:rPr>
              <a:t>1,064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2994660"/>
            <a:ext cx="4389120" cy="105156"/>
          </a:xfrm>
          <a:prstGeom prst="roundRect">
            <a:avLst>
              <a:gd name="adj" fmla="val 50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23" name="Rounded Rectangle 22"/>
          <p:cNvSpPr/>
          <p:nvPr/>
        </p:nvSpPr>
        <p:spPr>
          <a:xfrm>
            <a:off x="548640" y="2994660"/>
            <a:ext cx="1368304" cy="105156"/>
          </a:xfrm>
          <a:prstGeom prst="roundRect">
            <a:avLst>
              <a:gd name="adj" fmla="val 50000"/>
            </a:avLst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24" name="Rectangle 23"/>
          <p:cNvSpPr/>
          <p:nvPr/>
        </p:nvSpPr>
        <p:spPr>
          <a:xfrm>
            <a:off x="548640" y="3163824"/>
            <a:ext cx="3730752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576" tIns="36576" bIns="36576"/>
          <a:lstStyle/>
          <a:p>
            <a:pPr algn="l"/>
            <a:r>
              <a:rPr sz="819" b="0" i="0">
                <a:solidFill>
                  <a:srgbClr val="11206D"/>
                </a:solidFill>
                <a:latin typeface="Space Grotesk"/>
              </a:rPr>
              <a:t>Internet Exposure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79392" y="3163824"/>
            <a:ext cx="658368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r"/>
            <a:r>
              <a:rPr sz="819" b="1" i="0">
                <a:solidFill>
                  <a:srgbClr val="11206D"/>
                </a:solidFill>
                <a:latin typeface="Space Grotesk"/>
              </a:rPr>
              <a:t>384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355848"/>
            <a:ext cx="4389120" cy="105156"/>
          </a:xfrm>
          <a:prstGeom prst="roundRect">
            <a:avLst>
              <a:gd name="adj" fmla="val 50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27" name="Rounded Rectangle 26"/>
          <p:cNvSpPr/>
          <p:nvPr/>
        </p:nvSpPr>
        <p:spPr>
          <a:xfrm>
            <a:off x="548640" y="3355848"/>
            <a:ext cx="493824" cy="105156"/>
          </a:xfrm>
          <a:prstGeom prst="roundRect">
            <a:avLst>
              <a:gd name="adj" fmla="val 50000"/>
            </a:avLst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28" name="Rectangle 27"/>
          <p:cNvSpPr/>
          <p:nvPr/>
        </p:nvSpPr>
        <p:spPr>
          <a:xfrm>
            <a:off x="548640" y="3525012"/>
            <a:ext cx="3730752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576" tIns="36576" bIns="36576"/>
          <a:lstStyle/>
          <a:p>
            <a:pPr algn="l"/>
            <a:r>
              <a:rPr sz="819" b="0" i="0">
                <a:solidFill>
                  <a:srgbClr val="11206D"/>
                </a:solidFill>
                <a:latin typeface="Space Grotesk"/>
              </a:rPr>
              <a:t>VM Encryption At Host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9392" y="3525012"/>
            <a:ext cx="658368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r"/>
            <a:r>
              <a:rPr sz="819" b="1" i="0">
                <a:solidFill>
                  <a:srgbClr val="11206D"/>
                </a:solidFill>
                <a:latin typeface="Space Grotesk"/>
              </a:rPr>
              <a:t>316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3717036"/>
            <a:ext cx="4389120" cy="105156"/>
          </a:xfrm>
          <a:prstGeom prst="roundRect">
            <a:avLst>
              <a:gd name="adj" fmla="val 50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31" name="Rounded Rectangle 30"/>
          <p:cNvSpPr/>
          <p:nvPr/>
        </p:nvSpPr>
        <p:spPr>
          <a:xfrm>
            <a:off x="548640" y="3717036"/>
            <a:ext cx="406376" cy="105156"/>
          </a:xfrm>
          <a:prstGeom prst="roundRect">
            <a:avLst>
              <a:gd name="adj" fmla="val 50000"/>
            </a:avLst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32" name="Rectangle 31"/>
          <p:cNvSpPr/>
          <p:nvPr/>
        </p:nvSpPr>
        <p:spPr>
          <a:xfrm>
            <a:off x="548640" y="3886200"/>
            <a:ext cx="3730752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576" tIns="36576" bIns="36576"/>
          <a:lstStyle/>
          <a:p>
            <a:pPr algn="l"/>
            <a:r>
              <a:rPr sz="819" b="0" i="0">
                <a:solidFill>
                  <a:srgbClr val="11206D"/>
                </a:solidFill>
                <a:latin typeface="Space Grotesk"/>
              </a:rPr>
              <a:t>Premium SSD Disabled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79392" y="3886200"/>
            <a:ext cx="658368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r"/>
            <a:r>
              <a:rPr sz="819" b="1" i="0">
                <a:solidFill>
                  <a:srgbClr val="11206D"/>
                </a:solidFill>
                <a:latin typeface="Space Grotesk"/>
              </a:rPr>
              <a:t>234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078224"/>
            <a:ext cx="4389120" cy="105156"/>
          </a:xfrm>
          <a:prstGeom prst="roundRect">
            <a:avLst>
              <a:gd name="adj" fmla="val 50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35" name="Rounded Rectangle 34"/>
          <p:cNvSpPr/>
          <p:nvPr/>
        </p:nvSpPr>
        <p:spPr>
          <a:xfrm>
            <a:off x="548640" y="4078224"/>
            <a:ext cx="300924" cy="105156"/>
          </a:xfrm>
          <a:prstGeom prst="roundRect">
            <a:avLst>
              <a:gd name="adj" fmla="val 50000"/>
            </a:avLst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36" name="Rectangle 35"/>
          <p:cNvSpPr/>
          <p:nvPr/>
        </p:nvSpPr>
        <p:spPr>
          <a:xfrm>
            <a:off x="548640" y="4247388"/>
            <a:ext cx="3730752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576" tIns="36576" bIns="36576"/>
          <a:lstStyle/>
          <a:p>
            <a:pPr algn="l"/>
            <a:r>
              <a:rPr sz="819" b="0" i="0">
                <a:solidFill>
                  <a:srgbClr val="11206D"/>
                </a:solidFill>
                <a:latin typeface="Space Grotesk"/>
              </a:rPr>
              <a:t>OpenAI Account CMK Encrypted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79392" y="4247388"/>
            <a:ext cx="658368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r"/>
            <a:r>
              <a:rPr sz="819" b="1" i="0">
                <a:solidFill>
                  <a:srgbClr val="11206D"/>
                </a:solidFill>
                <a:latin typeface="Space Grotesk"/>
              </a:rPr>
              <a:t>39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4439412"/>
            <a:ext cx="4389120" cy="105156"/>
          </a:xfrm>
          <a:prstGeom prst="roundRect">
            <a:avLst>
              <a:gd name="adj" fmla="val 50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39" name="Rounded Rectangle 38"/>
          <p:cNvSpPr/>
          <p:nvPr/>
        </p:nvSpPr>
        <p:spPr>
          <a:xfrm>
            <a:off x="548640" y="4439412"/>
            <a:ext cx="64008" cy="105156"/>
          </a:xfrm>
          <a:prstGeom prst="roundRect">
            <a:avLst>
              <a:gd name="adj" fmla="val 50000"/>
            </a:avLst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40" name="Rounded Rectangle 39"/>
          <p:cNvSpPr/>
          <p:nvPr/>
        </p:nvSpPr>
        <p:spPr>
          <a:xfrm>
            <a:off x="5376672" y="1353312"/>
            <a:ext cx="3401568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41" name="Rectangle 40"/>
          <p:cNvSpPr/>
          <p:nvPr/>
        </p:nvSpPr>
        <p:spPr>
          <a:xfrm>
            <a:off x="5559552" y="1435608"/>
            <a:ext cx="3035808" cy="219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800" b="1" i="0">
                <a:solidFill>
                  <a:srgbClr val="8A93A8"/>
                </a:solidFill>
                <a:latin typeface="Space Grotesk"/>
              </a:rPr>
              <a:t>TECHNICAL INTERPRETATION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541264" y="1719072"/>
            <a:ext cx="3072384" cy="658368"/>
          </a:xfrm>
          <a:prstGeom prst="roundRect">
            <a:avLst>
              <a:gd name="adj" fmla="val 5000"/>
            </a:avLst>
          </a:prstGeom>
          <a:solidFill>
            <a:srgbClr val="FB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43" name="Oval 42"/>
          <p:cNvSpPr/>
          <p:nvPr/>
        </p:nvSpPr>
        <p:spPr>
          <a:xfrm>
            <a:off x="5696712" y="1851660"/>
            <a:ext cx="100584" cy="100584"/>
          </a:xfrm>
          <a:prstGeom prst="ellipse">
            <a:avLst/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</a:p>
        </p:txBody>
      </p:sp>
      <p:sp>
        <p:nvSpPr>
          <p:cNvPr id="44" name="Rectangle 43"/>
          <p:cNvSpPr/>
          <p:nvPr/>
        </p:nvSpPr>
        <p:spPr>
          <a:xfrm>
            <a:off x="5888736" y="1755648"/>
            <a:ext cx="2578608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73152" tIns="36576" bIns="36576"/>
          <a:lstStyle/>
          <a:p>
            <a:pPr algn="l"/>
            <a:r>
              <a:rPr sz="900" b="1" i="0">
                <a:solidFill>
                  <a:srgbClr val="11206D"/>
                </a:solidFill>
                <a:latin typeface="Space Grotesk"/>
              </a:rPr>
              <a:t>Storage exposure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888736" y="1975104"/>
            <a:ext cx="2578608" cy="35661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760" b="0" i="0">
                <a:solidFill>
                  <a:srgbClr val="5A637D"/>
                </a:solidFill>
                <a:latin typeface="Space Grotesk"/>
              </a:rPr>
              <a:t>Disk and snapshot controls are the largest single source of High findings. Fix them as a platform baseline.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541264" y="2432304"/>
            <a:ext cx="3072384" cy="658368"/>
          </a:xfrm>
          <a:prstGeom prst="roundRect">
            <a:avLst>
              <a:gd name="adj" fmla="val 5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47" name="Oval 46"/>
          <p:cNvSpPr/>
          <p:nvPr/>
        </p:nvSpPr>
        <p:spPr>
          <a:xfrm>
            <a:off x="5696712" y="2564892"/>
            <a:ext cx="100584" cy="100584"/>
          </a:xfrm>
          <a:prstGeom prst="ellipse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</a:p>
        </p:txBody>
      </p:sp>
      <p:sp>
        <p:nvSpPr>
          <p:cNvPr id="48" name="Rectangle 47"/>
          <p:cNvSpPr/>
          <p:nvPr/>
        </p:nvSpPr>
        <p:spPr>
          <a:xfrm>
            <a:off x="5888736" y="2468880"/>
            <a:ext cx="2578608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73152" tIns="36576" bIns="36576"/>
          <a:lstStyle/>
          <a:p>
            <a:pPr algn="l"/>
            <a:r>
              <a:rPr sz="900" b="1" i="0">
                <a:solidFill>
                  <a:srgbClr val="11206D"/>
                </a:solidFill>
                <a:latin typeface="Space Grotesk"/>
              </a:rPr>
              <a:t>Encryption posture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888736" y="2688336"/>
            <a:ext cx="2578608" cy="35661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760" b="0" i="0">
                <a:solidFill>
                  <a:srgbClr val="5A637D"/>
                </a:solidFill>
                <a:latin typeface="Space Grotesk"/>
              </a:rPr>
              <a:t>BYOK and CMK controls show real gaps across block and object storage, which affects data governance.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541264" y="3145536"/>
            <a:ext cx="3072384" cy="658368"/>
          </a:xfrm>
          <a:prstGeom prst="roundRect">
            <a:avLst>
              <a:gd name="adj" fmla="val 5000"/>
            </a:avLst>
          </a:prstGeom>
          <a:solidFill>
            <a:srgbClr val="FB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51" name="Oval 50"/>
          <p:cNvSpPr/>
          <p:nvPr/>
        </p:nvSpPr>
        <p:spPr>
          <a:xfrm>
            <a:off x="5696712" y="3278124"/>
            <a:ext cx="100584" cy="100584"/>
          </a:xfrm>
          <a:prstGeom prst="ellipse">
            <a:avLst/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</a:p>
        </p:txBody>
      </p:sp>
      <p:sp>
        <p:nvSpPr>
          <p:cNvPr id="52" name="Rectangle 51"/>
          <p:cNvSpPr/>
          <p:nvPr/>
        </p:nvSpPr>
        <p:spPr>
          <a:xfrm>
            <a:off x="5888736" y="3182112"/>
            <a:ext cx="2578608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73152" tIns="36576" bIns="36576"/>
          <a:lstStyle/>
          <a:p>
            <a:pPr algn="l"/>
            <a:r>
              <a:rPr sz="900" b="1" i="0">
                <a:solidFill>
                  <a:srgbClr val="11206D"/>
                </a:solidFill>
                <a:latin typeface="Space Grotesk"/>
              </a:rPr>
              <a:t>Internet reachability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888736" y="3401568"/>
            <a:ext cx="2578608" cy="35661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760" b="0" i="0">
                <a:solidFill>
                  <a:srgbClr val="5A637D"/>
                </a:solidFill>
                <a:latin typeface="Space Grotesk"/>
              </a:rPr>
              <a:t>Internet Exposure is lower volume but far higher exploitability. It must override volume-based ranking.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541264" y="3858768"/>
            <a:ext cx="3072384" cy="658368"/>
          </a:xfrm>
          <a:prstGeom prst="roundRect">
            <a:avLst>
              <a:gd name="adj" fmla="val 5000"/>
            </a:avLst>
          </a:prstGeom>
          <a:solidFill>
            <a:srgbClr val="EC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55" name="Oval 54"/>
          <p:cNvSpPr/>
          <p:nvPr/>
        </p:nvSpPr>
        <p:spPr>
          <a:xfrm>
            <a:off x="5696712" y="3991355"/>
            <a:ext cx="100584" cy="100584"/>
          </a:xfrm>
          <a:prstGeom prst="ellipse">
            <a:avLst/>
          </a:prstGeom>
          <a:solidFill>
            <a:srgbClr val="4D4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</a:p>
        </p:txBody>
      </p:sp>
      <p:sp>
        <p:nvSpPr>
          <p:cNvPr id="56" name="Rectangle 55"/>
          <p:cNvSpPr/>
          <p:nvPr/>
        </p:nvSpPr>
        <p:spPr>
          <a:xfrm>
            <a:off x="5888736" y="3895344"/>
            <a:ext cx="2578608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73152" tIns="36576" bIns="36576"/>
          <a:lstStyle/>
          <a:p>
            <a:pPr algn="l"/>
            <a:r>
              <a:rPr sz="900" b="1" i="0">
                <a:solidFill>
                  <a:srgbClr val="11206D"/>
                </a:solidFill>
                <a:latin typeface="Space Grotesk"/>
              </a:rPr>
              <a:t>AI data controls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888736" y="4114800"/>
            <a:ext cx="2578608" cy="35661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760" b="0" i="0">
                <a:solidFill>
                  <a:srgbClr val="5A637D"/>
                </a:solidFill>
                <a:latin typeface="Space Grotesk"/>
              </a:rPr>
              <a:t>OpenAI and ML workspaces also show CMK and logging gaps, which creates governance risk for AI workloads.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Space Grotesk"/>
              </a:rPr>
              <a:t>External Exposure Surface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68096"/>
            <a:ext cx="786384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50" b="1" i="0">
                <a:solidFill>
                  <a:srgbClr val="0046FF"/>
                </a:solidFill>
                <a:latin typeface="Space Grotesk"/>
              </a:rPr>
              <a:t>INTERNET REACHABILITY AND OPEN PORTS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84124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19" b="0" i="0">
                <a:solidFill>
                  <a:srgbClr val="5A637D"/>
                </a:solidFill>
                <a:latin typeface="Space Grotesk"/>
              </a:rPr>
              <a:t>Permissive NSG rules and publicly reachable administrative services amplify Internet reachability.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4791456"/>
            <a:ext cx="841248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60" b="0" i="1">
                <a:solidFill>
                  <a:srgbClr val="5A637D"/>
                </a:solidFill>
                <a:latin typeface="Space Grotesk"/>
              </a:rPr>
              <a:t>Source: Cloud Findings, active and not ignored, Azure subscription scope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353312"/>
            <a:ext cx="1594713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7" name="Rectangle 6"/>
          <p:cNvSpPr/>
          <p:nvPr/>
        </p:nvSpPr>
        <p:spPr>
          <a:xfrm>
            <a:off x="457200" y="1472184"/>
            <a:ext cx="50292" cy="548640"/>
          </a:xfrm>
          <a:prstGeom prst="rect">
            <a:avLst/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8" name="Rectangle 7"/>
          <p:cNvSpPr/>
          <p:nvPr/>
        </p:nvSpPr>
        <p:spPr>
          <a:xfrm>
            <a:off x="585216" y="1417320"/>
            <a:ext cx="1283817" cy="3474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73152" tIns="36576" bIns="36576"/>
          <a:lstStyle/>
          <a:p>
            <a:pPr algn="l"/>
            <a:r>
              <a:rPr sz="1600" b="1" i="0">
                <a:solidFill>
                  <a:srgbClr val="11206D"/>
                </a:solidFill>
                <a:latin typeface="Space Grotesk"/>
              </a:rPr>
              <a:t>412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6" y="1764792"/>
            <a:ext cx="1302105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660" b="1" i="0">
                <a:solidFill>
                  <a:srgbClr val="11206D"/>
                </a:solidFill>
                <a:latin typeface="Space Grotesk"/>
              </a:rPr>
              <a:t>INTERNET EXPOSURE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" y="1947672"/>
            <a:ext cx="1302105" cy="1463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650" b="0" i="0">
                <a:solidFill>
                  <a:srgbClr val="8A93A8"/>
                </a:solidFill>
                <a:latin typeface="Space Grotesk"/>
              </a:rPr>
              <a:t>Confirmed findings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70201" y="1353312"/>
            <a:ext cx="1594713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12" name="Rectangle 11"/>
          <p:cNvSpPr/>
          <p:nvPr/>
        </p:nvSpPr>
        <p:spPr>
          <a:xfrm>
            <a:off x="2161641" y="1472184"/>
            <a:ext cx="50292" cy="548640"/>
          </a:xfrm>
          <a:prstGeom prst="rect">
            <a:avLst/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13" name="Rectangle 12"/>
          <p:cNvSpPr/>
          <p:nvPr/>
        </p:nvSpPr>
        <p:spPr>
          <a:xfrm>
            <a:off x="2289657" y="1417320"/>
            <a:ext cx="1283817" cy="3474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73152" tIns="36576" bIns="36576"/>
          <a:lstStyle/>
          <a:p>
            <a:pPr algn="l"/>
            <a:r>
              <a:rPr sz="1600" b="1" i="0">
                <a:solidFill>
                  <a:srgbClr val="11206D"/>
                </a:solidFill>
                <a:latin typeface="Space Grotesk"/>
              </a:rPr>
              <a:t>11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9657" y="1764792"/>
            <a:ext cx="1302105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660" b="1" i="0">
                <a:solidFill>
                  <a:srgbClr val="11206D"/>
                </a:solidFill>
                <a:latin typeface="Space Grotesk"/>
              </a:rPr>
              <a:t>OPEN ALL PORTS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9657" y="1947672"/>
            <a:ext cx="1302105" cy="1463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650" b="0" i="0">
                <a:solidFill>
                  <a:srgbClr val="8A93A8"/>
                </a:solidFill>
                <a:latin typeface="Space Grotesk"/>
              </a:rPr>
              <a:t>NSG rules to *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74643" y="1353312"/>
            <a:ext cx="1594713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17" name="Rectangle 16"/>
          <p:cNvSpPr/>
          <p:nvPr/>
        </p:nvSpPr>
        <p:spPr>
          <a:xfrm>
            <a:off x="3866083" y="1472184"/>
            <a:ext cx="50292" cy="548640"/>
          </a:xfrm>
          <a:prstGeom prst="rect">
            <a:avLst/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18" name="Rectangle 17"/>
          <p:cNvSpPr/>
          <p:nvPr/>
        </p:nvSpPr>
        <p:spPr>
          <a:xfrm>
            <a:off x="3994099" y="1417320"/>
            <a:ext cx="1283817" cy="3474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73152" tIns="36576" bIns="36576"/>
          <a:lstStyle/>
          <a:p>
            <a:pPr algn="l"/>
            <a:r>
              <a:rPr sz="1600" b="1" i="0">
                <a:solidFill>
                  <a:srgbClr val="11206D"/>
                </a:solidFill>
                <a:latin typeface="Space Grotesk"/>
              </a:rPr>
              <a:t>24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94099" y="1764792"/>
            <a:ext cx="1302105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660" b="1" i="0">
                <a:solidFill>
                  <a:srgbClr val="11206D"/>
                </a:solidFill>
                <a:latin typeface="Space Grotesk"/>
              </a:rPr>
              <a:t>OPEN SSH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94099" y="1947672"/>
            <a:ext cx="1302105" cy="1463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650" b="0" i="0">
                <a:solidFill>
                  <a:srgbClr val="8A93A8"/>
                </a:solidFill>
                <a:latin typeface="Space Grotesk"/>
              </a:rPr>
              <a:t>TCP 22 to *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79084" y="1353312"/>
            <a:ext cx="1594713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22" name="Rectangle 21"/>
          <p:cNvSpPr/>
          <p:nvPr/>
        </p:nvSpPr>
        <p:spPr>
          <a:xfrm>
            <a:off x="5570524" y="1472184"/>
            <a:ext cx="50292" cy="548640"/>
          </a:xfrm>
          <a:prstGeom prst="rect">
            <a:avLst/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23" name="Rectangle 22"/>
          <p:cNvSpPr/>
          <p:nvPr/>
        </p:nvSpPr>
        <p:spPr>
          <a:xfrm>
            <a:off x="5698540" y="1417320"/>
            <a:ext cx="1283817" cy="3474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73152" tIns="36576" bIns="36576"/>
          <a:lstStyle/>
          <a:p>
            <a:pPr algn="l"/>
            <a:r>
              <a:rPr sz="1600" b="1" i="0">
                <a:solidFill>
                  <a:srgbClr val="11206D"/>
                </a:solidFill>
                <a:latin typeface="Space Grotesk"/>
              </a:rPr>
              <a:t>10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98540" y="1764792"/>
            <a:ext cx="1302105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660" b="1" i="0">
                <a:solidFill>
                  <a:srgbClr val="11206D"/>
                </a:solidFill>
                <a:latin typeface="Space Grotesk"/>
              </a:rPr>
              <a:t>OPEN RDP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98540" y="1947672"/>
            <a:ext cx="1302105" cy="1463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650" b="0" i="0">
                <a:solidFill>
                  <a:srgbClr val="8A93A8"/>
                </a:solidFill>
                <a:latin typeface="Space Grotesk"/>
              </a:rPr>
              <a:t>TCP 3389 to *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83526" y="1353312"/>
            <a:ext cx="1594713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27" name="Rectangle 26"/>
          <p:cNvSpPr/>
          <p:nvPr/>
        </p:nvSpPr>
        <p:spPr>
          <a:xfrm>
            <a:off x="7274966" y="1472184"/>
            <a:ext cx="50292" cy="548640"/>
          </a:xfrm>
          <a:prstGeom prst="rect">
            <a:avLst/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28" name="Rectangle 27"/>
          <p:cNvSpPr/>
          <p:nvPr/>
        </p:nvSpPr>
        <p:spPr>
          <a:xfrm>
            <a:off x="7402982" y="1417320"/>
            <a:ext cx="1283817" cy="3474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73152" tIns="36576" bIns="36576"/>
          <a:lstStyle/>
          <a:p>
            <a:pPr algn="l"/>
            <a:r>
              <a:rPr sz="1600" b="1" i="0">
                <a:solidFill>
                  <a:srgbClr val="11206D"/>
                </a:solidFill>
                <a:latin typeface="Space Grotesk"/>
              </a:rPr>
              <a:t>11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02982" y="1764792"/>
            <a:ext cx="1302105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660" b="1" i="0">
                <a:solidFill>
                  <a:srgbClr val="11206D"/>
                </a:solidFill>
                <a:latin typeface="Space Grotesk"/>
              </a:rPr>
              <a:t>OPEN SMB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02982" y="1947672"/>
            <a:ext cx="1302105" cy="1463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650" b="0" i="0">
                <a:solidFill>
                  <a:srgbClr val="8A93A8"/>
                </a:solidFill>
                <a:latin typeface="Space Grotesk"/>
              </a:rPr>
              <a:t>TCP 445 to *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2304288"/>
            <a:ext cx="4206240" cy="23408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32" name="Rectangle 31"/>
          <p:cNvSpPr/>
          <p:nvPr/>
        </p:nvSpPr>
        <p:spPr>
          <a:xfrm>
            <a:off x="548640" y="2386584"/>
            <a:ext cx="3840479" cy="219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800" b="1" i="0">
                <a:solidFill>
                  <a:srgbClr val="8A93A8"/>
                </a:solidFill>
                <a:latin typeface="Space Grotesk"/>
              </a:rPr>
              <a:t>PUBLIC AND INTERNET EXPOSURE SIGNALS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0352" y="2670048"/>
            <a:ext cx="173736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576" tIns="36576" bIns="36576"/>
          <a:lstStyle/>
          <a:p>
            <a:pPr algn="l"/>
            <a:r>
              <a:rPr sz="780" b="0" i="0">
                <a:solidFill>
                  <a:srgbClr val="11206D"/>
                </a:solidFill>
                <a:latin typeface="Space Grotesk"/>
              </a:rPr>
              <a:t>VM Disk Snapshot public access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340864" y="2745486"/>
            <a:ext cx="1444752" cy="105156"/>
          </a:xfrm>
          <a:prstGeom prst="roundRect">
            <a:avLst>
              <a:gd name="adj" fmla="val 50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35" name="Rounded Rectangle 34"/>
          <p:cNvSpPr/>
          <p:nvPr/>
        </p:nvSpPr>
        <p:spPr>
          <a:xfrm>
            <a:off x="2340864" y="2745486"/>
            <a:ext cx="1444752" cy="105156"/>
          </a:xfrm>
          <a:prstGeom prst="roundRect">
            <a:avLst>
              <a:gd name="adj" fmla="val 50000"/>
            </a:avLst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36" name="Rectangle 35"/>
          <p:cNvSpPr/>
          <p:nvPr/>
        </p:nvSpPr>
        <p:spPr>
          <a:xfrm>
            <a:off x="3858768" y="2670048"/>
            <a:ext cx="54864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r"/>
            <a:r>
              <a:rPr sz="819" b="1" i="0">
                <a:solidFill>
                  <a:srgbClr val="11206D"/>
                </a:solidFill>
                <a:latin typeface="Space Grotesk"/>
              </a:rPr>
              <a:t>3,590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0352" y="2944368"/>
            <a:ext cx="173736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576" tIns="36576" bIns="36576"/>
          <a:lstStyle/>
          <a:p>
            <a:pPr algn="l"/>
            <a:r>
              <a:rPr sz="780" b="0" i="0">
                <a:solidFill>
                  <a:srgbClr val="11206D"/>
                </a:solidFill>
                <a:latin typeface="Space Grotesk"/>
              </a:rPr>
              <a:t>VM Disk Public Access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340864" y="3019806"/>
            <a:ext cx="1444752" cy="105156"/>
          </a:xfrm>
          <a:prstGeom prst="roundRect">
            <a:avLst>
              <a:gd name="adj" fmla="val 50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39" name="Rounded Rectangle 38"/>
          <p:cNvSpPr/>
          <p:nvPr/>
        </p:nvSpPr>
        <p:spPr>
          <a:xfrm>
            <a:off x="2340864" y="3019806"/>
            <a:ext cx="836265" cy="105156"/>
          </a:xfrm>
          <a:prstGeom prst="roundRect">
            <a:avLst>
              <a:gd name="adj" fmla="val 50000"/>
            </a:avLst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40" name="Rectangle 39"/>
          <p:cNvSpPr/>
          <p:nvPr/>
        </p:nvSpPr>
        <p:spPr>
          <a:xfrm>
            <a:off x="3858768" y="2944368"/>
            <a:ext cx="54864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r"/>
            <a:r>
              <a:rPr sz="819" b="1" i="0">
                <a:solidFill>
                  <a:srgbClr val="11206D"/>
                </a:solidFill>
                <a:latin typeface="Space Grotesk"/>
              </a:rPr>
              <a:t>2,078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0352" y="3218688"/>
            <a:ext cx="173736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576" tIns="36576" bIns="36576"/>
          <a:lstStyle/>
          <a:p>
            <a:pPr algn="l"/>
            <a:r>
              <a:rPr sz="780" b="0" i="0">
                <a:solidFill>
                  <a:srgbClr val="11206D"/>
                </a:solidFill>
                <a:latin typeface="Space Grotesk"/>
              </a:rPr>
              <a:t>Internet Exposure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340864" y="3294126"/>
            <a:ext cx="1444752" cy="105156"/>
          </a:xfrm>
          <a:prstGeom prst="roundRect">
            <a:avLst>
              <a:gd name="adj" fmla="val 50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43" name="Rounded Rectangle 42"/>
          <p:cNvSpPr/>
          <p:nvPr/>
        </p:nvSpPr>
        <p:spPr>
          <a:xfrm>
            <a:off x="2340864" y="3294126"/>
            <a:ext cx="165804" cy="105156"/>
          </a:xfrm>
          <a:prstGeom prst="roundRect">
            <a:avLst>
              <a:gd name="adj" fmla="val 50000"/>
            </a:avLst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44" name="Rectangle 43"/>
          <p:cNvSpPr/>
          <p:nvPr/>
        </p:nvSpPr>
        <p:spPr>
          <a:xfrm>
            <a:off x="3858768" y="3218688"/>
            <a:ext cx="54864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r"/>
            <a:r>
              <a:rPr sz="819" b="1" i="0">
                <a:solidFill>
                  <a:srgbClr val="11206D"/>
                </a:solidFill>
                <a:latin typeface="Space Grotesk"/>
              </a:rPr>
              <a:t>412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30352" y="3493008"/>
            <a:ext cx="173736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576" tIns="36576" bIns="36576"/>
          <a:lstStyle/>
          <a:p>
            <a:pPr algn="l"/>
            <a:r>
              <a:rPr sz="780" b="0" i="0">
                <a:solidFill>
                  <a:srgbClr val="11206D"/>
                </a:solidFill>
                <a:latin typeface="Space Grotesk"/>
              </a:rPr>
              <a:t>Key Vault Public Access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340864" y="3568446"/>
            <a:ext cx="1444752" cy="105156"/>
          </a:xfrm>
          <a:prstGeom prst="roundRect">
            <a:avLst>
              <a:gd name="adj" fmla="val 50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47" name="Rounded Rectangle 46"/>
          <p:cNvSpPr/>
          <p:nvPr/>
        </p:nvSpPr>
        <p:spPr>
          <a:xfrm>
            <a:off x="2340864" y="3568446"/>
            <a:ext cx="64008" cy="105156"/>
          </a:xfrm>
          <a:prstGeom prst="roundRect">
            <a:avLst>
              <a:gd name="adj" fmla="val 50000"/>
            </a:avLst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48" name="Rectangle 47"/>
          <p:cNvSpPr/>
          <p:nvPr/>
        </p:nvSpPr>
        <p:spPr>
          <a:xfrm>
            <a:off x="3858768" y="3493008"/>
            <a:ext cx="54864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r"/>
            <a:r>
              <a:rPr sz="819" b="1" i="0">
                <a:solidFill>
                  <a:srgbClr val="11206D"/>
                </a:solidFill>
                <a:latin typeface="Space Grotesk"/>
              </a:rPr>
              <a:t>13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30352" y="3767328"/>
            <a:ext cx="173736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576" tIns="36576" bIns="36576"/>
          <a:lstStyle/>
          <a:p>
            <a:pPr algn="l"/>
            <a:r>
              <a:rPr sz="780" b="0" i="0">
                <a:solidFill>
                  <a:srgbClr val="11206D"/>
                </a:solidFill>
                <a:latin typeface="Space Grotesk"/>
              </a:rPr>
              <a:t>Public Blob Containers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340864" y="3842766"/>
            <a:ext cx="1444752" cy="105156"/>
          </a:xfrm>
          <a:prstGeom prst="roundRect">
            <a:avLst>
              <a:gd name="adj" fmla="val 50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51" name="Rounded Rectangle 50"/>
          <p:cNvSpPr/>
          <p:nvPr/>
        </p:nvSpPr>
        <p:spPr>
          <a:xfrm>
            <a:off x="2340864" y="3842766"/>
            <a:ext cx="64008" cy="105156"/>
          </a:xfrm>
          <a:prstGeom prst="roundRect">
            <a:avLst>
              <a:gd name="adj" fmla="val 50000"/>
            </a:avLst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52" name="Rectangle 51"/>
          <p:cNvSpPr/>
          <p:nvPr/>
        </p:nvSpPr>
        <p:spPr>
          <a:xfrm>
            <a:off x="3858768" y="3767328"/>
            <a:ext cx="54864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r"/>
            <a:r>
              <a:rPr sz="819" b="1" i="0">
                <a:solidFill>
                  <a:srgbClr val="11206D"/>
                </a:solidFill>
                <a:latin typeface="Space Grotesk"/>
              </a:rPr>
              <a:t>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30352" y="4041648"/>
            <a:ext cx="173736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576" tIns="36576" bIns="36576"/>
          <a:lstStyle/>
          <a:p>
            <a:pPr algn="l"/>
            <a:r>
              <a:rPr sz="780" b="0" i="0">
                <a:solidFill>
                  <a:srgbClr val="11206D"/>
                </a:solidFill>
                <a:latin typeface="Space Grotesk"/>
              </a:rPr>
              <a:t>SQL Server Public Access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340864" y="4117085"/>
            <a:ext cx="1444752" cy="105156"/>
          </a:xfrm>
          <a:prstGeom prst="roundRect">
            <a:avLst>
              <a:gd name="adj" fmla="val 50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55" name="Rounded Rectangle 54"/>
          <p:cNvSpPr/>
          <p:nvPr/>
        </p:nvSpPr>
        <p:spPr>
          <a:xfrm>
            <a:off x="2340864" y="4117085"/>
            <a:ext cx="64008" cy="105156"/>
          </a:xfrm>
          <a:prstGeom prst="roundRect">
            <a:avLst>
              <a:gd name="adj" fmla="val 50000"/>
            </a:avLst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56" name="Rectangle 55"/>
          <p:cNvSpPr/>
          <p:nvPr/>
        </p:nvSpPr>
        <p:spPr>
          <a:xfrm>
            <a:off x="3858768" y="4041648"/>
            <a:ext cx="54864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r"/>
            <a:r>
              <a:rPr sz="819" b="1" i="0">
                <a:solidFill>
                  <a:srgbClr val="11206D"/>
                </a:solidFill>
                <a:latin typeface="Space Grotesk"/>
              </a:rPr>
              <a:t>1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663440" y="2304288"/>
            <a:ext cx="4114800" cy="23408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58" name="Rectangle 57"/>
          <p:cNvSpPr/>
          <p:nvPr/>
        </p:nvSpPr>
        <p:spPr>
          <a:xfrm>
            <a:off x="4846320" y="2386584"/>
            <a:ext cx="3749039" cy="219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800" b="1" i="0">
                <a:solidFill>
                  <a:srgbClr val="8A93A8"/>
                </a:solidFill>
                <a:latin typeface="Space Grotesk"/>
              </a:rPr>
              <a:t>CONTROL-PLANE GAPS THAT RAISE EXPLOITABILITY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828032" y="2670048"/>
            <a:ext cx="3785615" cy="585216"/>
          </a:xfrm>
          <a:prstGeom prst="roundRect">
            <a:avLst>
              <a:gd name="adj" fmla="val 5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60" name="Oval 59"/>
          <p:cNvSpPr/>
          <p:nvPr/>
        </p:nvSpPr>
        <p:spPr>
          <a:xfrm>
            <a:off x="4983480" y="2802636"/>
            <a:ext cx="100584" cy="100584"/>
          </a:xfrm>
          <a:prstGeom prst="ellipse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</a:p>
        </p:txBody>
      </p:sp>
      <p:sp>
        <p:nvSpPr>
          <p:cNvPr id="61" name="Rectangle 60"/>
          <p:cNvSpPr/>
          <p:nvPr/>
        </p:nvSpPr>
        <p:spPr>
          <a:xfrm>
            <a:off x="5175504" y="2706624"/>
            <a:ext cx="3291839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73152" tIns="36576" bIns="36576"/>
          <a:lstStyle/>
          <a:p>
            <a:pPr algn="l"/>
            <a:r>
              <a:rPr sz="900" b="1" i="0">
                <a:solidFill>
                  <a:srgbClr val="11206D"/>
                </a:solidFill>
                <a:latin typeface="Space Grotesk"/>
              </a:rPr>
              <a:t>Network observability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175504" y="2926080"/>
            <a:ext cx="3291839" cy="2834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760" b="0" i="0">
                <a:solidFill>
                  <a:srgbClr val="5A637D"/>
                </a:solidFill>
                <a:latin typeface="Space Grotesk"/>
              </a:rPr>
              <a:t>956 NSG Flow Log gaps and 954 NSG Log Analytics gaps cut visibility into attacker movement and egress.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828032" y="3310128"/>
            <a:ext cx="3785615" cy="585216"/>
          </a:xfrm>
          <a:prstGeom prst="roundRect">
            <a:avLst>
              <a:gd name="adj" fmla="val 5000"/>
            </a:avLst>
          </a:prstGeom>
          <a:solidFill>
            <a:srgbClr val="EC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64" name="Oval 63"/>
          <p:cNvSpPr/>
          <p:nvPr/>
        </p:nvSpPr>
        <p:spPr>
          <a:xfrm>
            <a:off x="4983480" y="3442716"/>
            <a:ext cx="100584" cy="100584"/>
          </a:xfrm>
          <a:prstGeom prst="ellipse">
            <a:avLst/>
          </a:prstGeom>
          <a:solidFill>
            <a:srgbClr val="646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</a:p>
        </p:txBody>
      </p:sp>
      <p:sp>
        <p:nvSpPr>
          <p:cNvPr id="65" name="Rectangle 64"/>
          <p:cNvSpPr/>
          <p:nvPr/>
        </p:nvSpPr>
        <p:spPr>
          <a:xfrm>
            <a:off x="5175504" y="3346704"/>
            <a:ext cx="3291839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73152" tIns="36576" bIns="36576"/>
          <a:lstStyle/>
          <a:p>
            <a:pPr algn="l"/>
            <a:r>
              <a:rPr sz="900" b="1" i="0">
                <a:solidFill>
                  <a:srgbClr val="11206D"/>
                </a:solidFill>
                <a:latin typeface="Space Grotesk"/>
              </a:rPr>
              <a:t>VNET and load-balancer logging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175504" y="3566160"/>
            <a:ext cx="3291839" cy="2834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760" b="0" i="0">
                <a:solidFill>
                  <a:srgbClr val="5A637D"/>
                </a:solidFill>
                <a:latin typeface="Space Grotesk"/>
              </a:rPr>
              <a:t>VNET logging gaps and 124 load-balancer Log Analytics gaps reduce forensic depth for exposed services.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828032" y="3950208"/>
            <a:ext cx="3785615" cy="585216"/>
          </a:xfrm>
          <a:prstGeom prst="roundRect">
            <a:avLst>
              <a:gd name="adj" fmla="val 5000"/>
            </a:avLst>
          </a:prstGeom>
          <a:solidFill>
            <a:srgbClr val="FB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68" name="Oval 67"/>
          <p:cNvSpPr/>
          <p:nvPr/>
        </p:nvSpPr>
        <p:spPr>
          <a:xfrm>
            <a:off x="4983480" y="4082796"/>
            <a:ext cx="100584" cy="100584"/>
          </a:xfrm>
          <a:prstGeom prst="ellipse">
            <a:avLst/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</a:p>
        </p:txBody>
      </p:sp>
      <p:sp>
        <p:nvSpPr>
          <p:cNvPr id="69" name="Rectangle 68"/>
          <p:cNvSpPr/>
          <p:nvPr/>
        </p:nvSpPr>
        <p:spPr>
          <a:xfrm>
            <a:off x="5175504" y="3986784"/>
            <a:ext cx="3291839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73152" tIns="36576" bIns="36576"/>
          <a:lstStyle/>
          <a:p>
            <a:pPr algn="l"/>
            <a:r>
              <a:rPr sz="900" b="1" i="0">
                <a:solidFill>
                  <a:srgbClr val="11206D"/>
                </a:solidFill>
                <a:latin typeface="Space Grotesk"/>
              </a:rPr>
              <a:t>Key management exposure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175504" y="4206240"/>
            <a:ext cx="3291839" cy="2834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760" b="0" i="0">
                <a:solidFill>
                  <a:srgbClr val="5A637D"/>
                </a:solidFill>
                <a:latin typeface="Space Grotesk"/>
              </a:rPr>
              <a:t>13 public Key Vault findings, plus missing private endpoints and restrictive defaults, widen secret-store reach.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Space Grotesk"/>
              </a:rPr>
              <a:t>High-Risk Publicly Exposed Assets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68096"/>
            <a:ext cx="786384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50" b="1" i="0">
                <a:solidFill>
                  <a:srgbClr val="0046FF"/>
                </a:solidFill>
                <a:latin typeface="Space Grotesk"/>
              </a:rPr>
              <a:t>CONFIRMED ASSET TO NETWORK RELATIONSHIPS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84124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19" b="0" i="0">
                <a:solidFill>
                  <a:srgbClr val="5A637D"/>
                </a:solidFill>
                <a:latin typeface="Space Grotesk"/>
              </a:rPr>
              <a:t>These systems are where exposure carries immediate attack-path meaning.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4791456"/>
            <a:ext cx="841248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60" b="0" i="1">
                <a:solidFill>
                  <a:srgbClr val="5A637D"/>
                </a:solidFill>
                <a:latin typeface="Space Grotesk"/>
              </a:rPr>
              <a:t>Source: Cloud Findings, active and not ignored, Azure subscription scope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71600"/>
          <a:ext cx="8412480" cy="29809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/>
                <a:gridCol w="868680"/>
                <a:gridCol w="4480560"/>
                <a:gridCol w="960120"/>
              </a:tblGrid>
              <a:tr h="237744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Space Grotesk"/>
                        </a:rPr>
                        <a:t>ASSET</a:t>
                      </a:r>
                    </a:p>
                  </a:txBody>
                  <a:tcPr marL="73152" marR="54864" marT="27432" marB="27432" anchor="ctr">
                    <a:solidFill>
                      <a:srgbClr val="11206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Space Grotesk"/>
                        </a:rPr>
                        <a:t>TYPE</a:t>
                      </a:r>
                    </a:p>
                  </a:txBody>
                  <a:tcPr marL="73152" marR="54864" marT="27432" marB="27432" anchor="ctr">
                    <a:solidFill>
                      <a:srgbClr val="11206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Space Grotesk"/>
                        </a:rPr>
                        <a:t>CONFIRMED EXPOSURE AND RELATIONSHIP</a:t>
                      </a:r>
                    </a:p>
                  </a:txBody>
                  <a:tcPr marL="73152" marR="54864" marT="27432" marB="27432" anchor="ctr">
                    <a:solidFill>
                      <a:srgbClr val="11206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Space Grotesk"/>
                        </a:rPr>
                        <a:t>RISK</a:t>
                      </a:r>
                    </a:p>
                  </a:txBody>
                  <a:tcPr marL="73152" marR="54864" marT="27432" marB="27432" anchor="ctr">
                    <a:solidFill>
                      <a:srgbClr val="11206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40" b="1">
                          <a:solidFill>
                            <a:srgbClr val="11206D"/>
                          </a:solidFill>
                          <a:latin typeface="Space Grotesk"/>
                        </a:rPr>
                        <a:t>ZPW-IGA-DC01</a:t>
                      </a:r>
                    </a:p>
                  </a:txBody>
                  <a:tcPr marL="73152" marR="54864" marT="27432" marB="27432" anchor="ctr">
                    <a:lnL w="9525" cap="flat" cmpd="sng" algn="ctr">
                      <a:solidFill>
                        <a:srgbClr val="C4CCDE"/>
                      </a:solidFill>
                    </a:lnL>
                    <a:lnR w="9525" cap="flat" cmpd="sng" algn="ctr">
                      <a:solidFill>
                        <a:srgbClr val="C4CCDE"/>
                      </a:solidFill>
                    </a:lnR>
                    <a:lnT w="9525" cap="flat" cmpd="sng" algn="ctr">
                      <a:solidFill>
                        <a:srgbClr val="C4CCDE"/>
                      </a:solidFill>
                    </a:lnT>
                    <a:lnB w="9525" cap="flat" cmpd="sng" algn="ctr">
                      <a:solidFill>
                        <a:srgbClr val="C4CCDE"/>
                      </a:solidFill>
                    </a:lnB>
                    <a:solidFill>
                      <a:srgbClr val="ECE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40" b="0">
                          <a:solidFill>
                            <a:srgbClr val="11206D"/>
                          </a:solidFill>
                          <a:latin typeface="Space Grotesk"/>
                        </a:rPr>
                        <a:t>Azure VM</a:t>
                      </a:r>
                    </a:p>
                  </a:txBody>
                  <a:tcPr marL="73152" marR="54864" marT="27432" marB="27432" anchor="ctr">
                    <a:lnL w="9525" cap="flat" cmpd="sng" algn="ctr">
                      <a:solidFill>
                        <a:srgbClr val="C4CCDE"/>
                      </a:solidFill>
                    </a:lnL>
                    <a:lnR w="9525" cap="flat" cmpd="sng" algn="ctr">
                      <a:solidFill>
                        <a:srgbClr val="C4CCDE"/>
                      </a:solidFill>
                    </a:lnR>
                    <a:lnT w="9525" cap="flat" cmpd="sng" algn="ctr">
                      <a:solidFill>
                        <a:srgbClr val="C4CCDE"/>
                      </a:solidFill>
                    </a:lnT>
                    <a:lnB w="9525" cap="flat" cmpd="sng" algn="ctr">
                      <a:solidFill>
                        <a:srgbClr val="C4CC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40" b="0">
                          <a:solidFill>
                            <a:srgbClr val="11206D"/>
                          </a:solidFill>
                          <a:latin typeface="Space Grotesk"/>
                        </a:rPr>
                        <a:t>Internet-exposed via NSG ZPWIGADC01nsg882. The related NSG has all ports open to *</a:t>
                      </a:r>
                    </a:p>
                  </a:txBody>
                  <a:tcPr marL="73152" marR="54864" marT="27432" marB="27432" anchor="ctr">
                    <a:lnL w="9525" cap="flat" cmpd="sng" algn="ctr">
                      <a:solidFill>
                        <a:srgbClr val="C4CCDE"/>
                      </a:solidFill>
                    </a:lnL>
                    <a:lnR w="9525" cap="flat" cmpd="sng" algn="ctr">
                      <a:solidFill>
                        <a:srgbClr val="C4CCDE"/>
                      </a:solidFill>
                    </a:lnR>
                    <a:lnT w="9525" cap="flat" cmpd="sng" algn="ctr">
                      <a:solidFill>
                        <a:srgbClr val="C4CCDE"/>
                      </a:solidFill>
                    </a:lnT>
                    <a:lnB w="9525" cap="flat" cmpd="sng" algn="ctr">
                      <a:solidFill>
                        <a:srgbClr val="C4CC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C80019"/>
                          </a:solidFill>
                          <a:latin typeface="Space Grotesk"/>
                        </a:rPr>
                        <a:t>CRITICAL</a:t>
                      </a:r>
                    </a:p>
                  </a:txBody>
                  <a:tcPr marL="73152" marR="54864" marT="27432" marB="27432" anchor="ctr">
                    <a:lnL w="9525" cap="flat" cmpd="sng" algn="ctr">
                      <a:solidFill>
                        <a:srgbClr val="C4CCDE"/>
                      </a:solidFill>
                    </a:lnL>
                    <a:lnR w="9525" cap="flat" cmpd="sng" algn="ctr">
                      <a:solidFill>
                        <a:srgbClr val="C4CCDE"/>
                      </a:solidFill>
                    </a:lnR>
                    <a:lnT w="9525" cap="flat" cmpd="sng" algn="ctr">
                      <a:solidFill>
                        <a:srgbClr val="C4CCDE"/>
                      </a:solidFill>
                    </a:lnT>
                    <a:lnB w="9525" cap="flat" cmpd="sng" algn="ctr">
                      <a:solidFill>
                        <a:srgbClr val="C4CCDE"/>
                      </a:solidFill>
                    </a:lnB>
                    <a:solidFill>
                      <a:srgbClr val="FBECE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40" b="1">
                          <a:solidFill>
                            <a:srgbClr val="11206D"/>
                          </a:solidFill>
                          <a:latin typeface="Space Grotesk"/>
                        </a:rPr>
                        <a:t>ZPW-IGA-DC02</a:t>
                      </a:r>
                    </a:p>
                  </a:txBody>
                  <a:tcPr marL="73152" marR="54864" marT="27432" marB="27432" anchor="ctr">
                    <a:lnL w="9525" cap="flat" cmpd="sng" algn="ctr">
                      <a:solidFill>
                        <a:srgbClr val="C4CCDE"/>
                      </a:solidFill>
                    </a:lnL>
                    <a:lnR w="9525" cap="flat" cmpd="sng" algn="ctr">
                      <a:solidFill>
                        <a:srgbClr val="C4CCDE"/>
                      </a:solidFill>
                    </a:lnR>
                    <a:lnT w="9525" cap="flat" cmpd="sng" algn="ctr">
                      <a:solidFill>
                        <a:srgbClr val="C4CCDE"/>
                      </a:solidFill>
                    </a:lnT>
                    <a:lnB w="9525" cap="flat" cmpd="sng" algn="ctr">
                      <a:solidFill>
                        <a:srgbClr val="C4CCDE"/>
                      </a:solidFill>
                    </a:lnB>
                    <a:solidFill>
                      <a:srgbClr val="ECE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40" b="0">
                          <a:solidFill>
                            <a:srgbClr val="11206D"/>
                          </a:solidFill>
                          <a:latin typeface="Space Grotesk"/>
                        </a:rPr>
                        <a:t>Azure VM</a:t>
                      </a:r>
                    </a:p>
                  </a:txBody>
                  <a:tcPr marL="73152" marR="54864" marT="27432" marB="27432" anchor="ctr">
                    <a:lnL w="9525" cap="flat" cmpd="sng" algn="ctr">
                      <a:solidFill>
                        <a:srgbClr val="C4CCDE"/>
                      </a:solidFill>
                    </a:lnL>
                    <a:lnR w="9525" cap="flat" cmpd="sng" algn="ctr">
                      <a:solidFill>
                        <a:srgbClr val="C4CCDE"/>
                      </a:solidFill>
                    </a:lnR>
                    <a:lnT w="9525" cap="flat" cmpd="sng" algn="ctr">
                      <a:solidFill>
                        <a:srgbClr val="C4CCDE"/>
                      </a:solidFill>
                    </a:lnT>
                    <a:lnB w="9525" cap="flat" cmpd="sng" algn="ctr">
                      <a:solidFill>
                        <a:srgbClr val="C4CC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40" b="0">
                          <a:solidFill>
                            <a:srgbClr val="11206D"/>
                          </a:solidFill>
                          <a:latin typeface="Space Grotesk"/>
                        </a:rPr>
                        <a:t>Internet-exposed via NSG ZPW-IGA-DC02-nsg. All ports open to *</a:t>
                      </a:r>
                    </a:p>
                  </a:txBody>
                  <a:tcPr marL="73152" marR="54864" marT="27432" marB="27432" anchor="ctr">
                    <a:lnL w="9525" cap="flat" cmpd="sng" algn="ctr">
                      <a:solidFill>
                        <a:srgbClr val="C4CCDE"/>
                      </a:solidFill>
                    </a:lnL>
                    <a:lnR w="9525" cap="flat" cmpd="sng" algn="ctr">
                      <a:solidFill>
                        <a:srgbClr val="C4CCDE"/>
                      </a:solidFill>
                    </a:lnR>
                    <a:lnT w="9525" cap="flat" cmpd="sng" algn="ctr">
                      <a:solidFill>
                        <a:srgbClr val="C4CCDE"/>
                      </a:solidFill>
                    </a:lnT>
                    <a:lnB w="9525" cap="flat" cmpd="sng" algn="ctr">
                      <a:solidFill>
                        <a:srgbClr val="C4CC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C80019"/>
                          </a:solidFill>
                          <a:latin typeface="Space Grotesk"/>
                        </a:rPr>
                        <a:t>CRITICAL</a:t>
                      </a:r>
                    </a:p>
                  </a:txBody>
                  <a:tcPr marL="73152" marR="54864" marT="27432" marB="27432" anchor="ctr">
                    <a:lnL w="9525" cap="flat" cmpd="sng" algn="ctr">
                      <a:solidFill>
                        <a:srgbClr val="C4CCDE"/>
                      </a:solidFill>
                    </a:lnL>
                    <a:lnR w="9525" cap="flat" cmpd="sng" algn="ctr">
                      <a:solidFill>
                        <a:srgbClr val="C4CCDE"/>
                      </a:solidFill>
                    </a:lnR>
                    <a:lnT w="9525" cap="flat" cmpd="sng" algn="ctr">
                      <a:solidFill>
                        <a:srgbClr val="C4CCDE"/>
                      </a:solidFill>
                    </a:lnT>
                    <a:lnB w="9525" cap="flat" cmpd="sng" algn="ctr">
                      <a:solidFill>
                        <a:srgbClr val="C4CCDE"/>
                      </a:solidFill>
                    </a:lnB>
                    <a:solidFill>
                      <a:srgbClr val="FBECE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40" b="1">
                          <a:solidFill>
                            <a:srgbClr val="11206D"/>
                          </a:solidFill>
                          <a:latin typeface="Space Grotesk"/>
                        </a:rPr>
                        <a:t>ZPW-DEV-DC01</a:t>
                      </a:r>
                    </a:p>
                  </a:txBody>
                  <a:tcPr marL="73152" marR="54864" marT="27432" marB="27432" anchor="ctr">
                    <a:lnL w="9525" cap="flat" cmpd="sng" algn="ctr">
                      <a:solidFill>
                        <a:srgbClr val="C4CCDE"/>
                      </a:solidFill>
                    </a:lnL>
                    <a:lnR w="9525" cap="flat" cmpd="sng" algn="ctr">
                      <a:solidFill>
                        <a:srgbClr val="C4CCDE"/>
                      </a:solidFill>
                    </a:lnR>
                    <a:lnT w="9525" cap="flat" cmpd="sng" algn="ctr">
                      <a:solidFill>
                        <a:srgbClr val="C4CCDE"/>
                      </a:solidFill>
                    </a:lnT>
                    <a:lnB w="9525" cap="flat" cmpd="sng" algn="ctr">
                      <a:solidFill>
                        <a:srgbClr val="C4CCDE"/>
                      </a:solidFill>
                    </a:lnB>
                    <a:solidFill>
                      <a:srgbClr val="ECE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40" b="0">
                          <a:solidFill>
                            <a:srgbClr val="11206D"/>
                          </a:solidFill>
                          <a:latin typeface="Space Grotesk"/>
                        </a:rPr>
                        <a:t>Azure VM</a:t>
                      </a:r>
                    </a:p>
                  </a:txBody>
                  <a:tcPr marL="73152" marR="54864" marT="27432" marB="27432" anchor="ctr">
                    <a:lnL w="9525" cap="flat" cmpd="sng" algn="ctr">
                      <a:solidFill>
                        <a:srgbClr val="C4CCDE"/>
                      </a:solidFill>
                    </a:lnL>
                    <a:lnR w="9525" cap="flat" cmpd="sng" algn="ctr">
                      <a:solidFill>
                        <a:srgbClr val="C4CCDE"/>
                      </a:solidFill>
                    </a:lnR>
                    <a:lnT w="9525" cap="flat" cmpd="sng" algn="ctr">
                      <a:solidFill>
                        <a:srgbClr val="C4CCDE"/>
                      </a:solidFill>
                    </a:lnT>
                    <a:lnB w="9525" cap="flat" cmpd="sng" algn="ctr">
                      <a:solidFill>
                        <a:srgbClr val="C4CC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40" b="0">
                          <a:solidFill>
                            <a:srgbClr val="11206D"/>
                          </a:solidFill>
                          <a:latin typeface="Space Grotesk"/>
                        </a:rPr>
                        <a:t>Internet-exposed via ZPW-DEV-DC01-NSG. All ports open to *</a:t>
                      </a:r>
                    </a:p>
                  </a:txBody>
                  <a:tcPr marL="73152" marR="54864" marT="27432" marB="27432" anchor="ctr">
                    <a:lnL w="9525" cap="flat" cmpd="sng" algn="ctr">
                      <a:solidFill>
                        <a:srgbClr val="C4CCDE"/>
                      </a:solidFill>
                    </a:lnL>
                    <a:lnR w="9525" cap="flat" cmpd="sng" algn="ctr">
                      <a:solidFill>
                        <a:srgbClr val="C4CCDE"/>
                      </a:solidFill>
                    </a:lnR>
                    <a:lnT w="9525" cap="flat" cmpd="sng" algn="ctr">
                      <a:solidFill>
                        <a:srgbClr val="C4CCDE"/>
                      </a:solidFill>
                    </a:lnT>
                    <a:lnB w="9525" cap="flat" cmpd="sng" algn="ctr">
                      <a:solidFill>
                        <a:srgbClr val="C4CC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C80019"/>
                          </a:solidFill>
                          <a:latin typeface="Space Grotesk"/>
                        </a:rPr>
                        <a:t>CRITICAL</a:t>
                      </a:r>
                    </a:p>
                  </a:txBody>
                  <a:tcPr marL="73152" marR="54864" marT="27432" marB="27432" anchor="ctr">
                    <a:lnL w="9525" cap="flat" cmpd="sng" algn="ctr">
                      <a:solidFill>
                        <a:srgbClr val="C4CCDE"/>
                      </a:solidFill>
                    </a:lnL>
                    <a:lnR w="9525" cap="flat" cmpd="sng" algn="ctr">
                      <a:solidFill>
                        <a:srgbClr val="C4CCDE"/>
                      </a:solidFill>
                    </a:lnR>
                    <a:lnT w="9525" cap="flat" cmpd="sng" algn="ctr">
                      <a:solidFill>
                        <a:srgbClr val="C4CCDE"/>
                      </a:solidFill>
                    </a:lnT>
                    <a:lnB w="9525" cap="flat" cmpd="sng" algn="ctr">
                      <a:solidFill>
                        <a:srgbClr val="C4CCDE"/>
                      </a:solidFill>
                    </a:lnB>
                    <a:solidFill>
                      <a:srgbClr val="FBECE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40" b="1">
                          <a:solidFill>
                            <a:srgbClr val="11206D"/>
                          </a:solidFill>
                          <a:latin typeface="Space Grotesk"/>
                        </a:rPr>
                        <a:t>IGROOTCA</a:t>
                      </a:r>
                    </a:p>
                  </a:txBody>
                  <a:tcPr marL="73152" marR="54864" marT="27432" marB="27432" anchor="ctr">
                    <a:lnL w="9525" cap="flat" cmpd="sng" algn="ctr">
                      <a:solidFill>
                        <a:srgbClr val="C4CCDE"/>
                      </a:solidFill>
                    </a:lnL>
                    <a:lnR w="9525" cap="flat" cmpd="sng" algn="ctr">
                      <a:solidFill>
                        <a:srgbClr val="C4CCDE"/>
                      </a:solidFill>
                    </a:lnR>
                    <a:lnT w="9525" cap="flat" cmpd="sng" algn="ctr">
                      <a:solidFill>
                        <a:srgbClr val="C4CCDE"/>
                      </a:solidFill>
                    </a:lnT>
                    <a:lnB w="9525" cap="flat" cmpd="sng" algn="ctr">
                      <a:solidFill>
                        <a:srgbClr val="C4CCDE"/>
                      </a:solidFill>
                    </a:lnB>
                    <a:solidFill>
                      <a:srgbClr val="ECE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40" b="0">
                          <a:solidFill>
                            <a:srgbClr val="11206D"/>
                          </a:solidFill>
                          <a:latin typeface="Space Grotesk"/>
                        </a:rPr>
                        <a:t>Azure VM</a:t>
                      </a:r>
                    </a:p>
                  </a:txBody>
                  <a:tcPr marL="73152" marR="54864" marT="27432" marB="27432" anchor="ctr">
                    <a:lnL w="9525" cap="flat" cmpd="sng" algn="ctr">
                      <a:solidFill>
                        <a:srgbClr val="C4CCDE"/>
                      </a:solidFill>
                    </a:lnL>
                    <a:lnR w="9525" cap="flat" cmpd="sng" algn="ctr">
                      <a:solidFill>
                        <a:srgbClr val="C4CCDE"/>
                      </a:solidFill>
                    </a:lnR>
                    <a:lnT w="9525" cap="flat" cmpd="sng" algn="ctr">
                      <a:solidFill>
                        <a:srgbClr val="C4CCDE"/>
                      </a:solidFill>
                    </a:lnT>
                    <a:lnB w="9525" cap="flat" cmpd="sng" algn="ctr">
                      <a:solidFill>
                        <a:srgbClr val="C4CC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40" b="0">
                          <a:solidFill>
                            <a:srgbClr val="11206D"/>
                          </a:solidFill>
                          <a:latin typeface="Space Grotesk"/>
                        </a:rPr>
                        <a:t>Internet-exposed via IGROOTCA-NSG. SMB TCP 445 open to *</a:t>
                      </a:r>
                    </a:p>
                  </a:txBody>
                  <a:tcPr marL="73152" marR="54864" marT="27432" marB="27432" anchor="ctr">
                    <a:lnL w="9525" cap="flat" cmpd="sng" algn="ctr">
                      <a:solidFill>
                        <a:srgbClr val="C4CCDE"/>
                      </a:solidFill>
                    </a:lnL>
                    <a:lnR w="9525" cap="flat" cmpd="sng" algn="ctr">
                      <a:solidFill>
                        <a:srgbClr val="C4CCDE"/>
                      </a:solidFill>
                    </a:lnR>
                    <a:lnT w="9525" cap="flat" cmpd="sng" algn="ctr">
                      <a:solidFill>
                        <a:srgbClr val="C4CCDE"/>
                      </a:solidFill>
                    </a:lnT>
                    <a:lnB w="9525" cap="flat" cmpd="sng" algn="ctr">
                      <a:solidFill>
                        <a:srgbClr val="C4CC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C80019"/>
                          </a:solidFill>
                          <a:latin typeface="Space Grotesk"/>
                        </a:rPr>
                        <a:t>CRITICAL</a:t>
                      </a:r>
                    </a:p>
                  </a:txBody>
                  <a:tcPr marL="73152" marR="54864" marT="27432" marB="27432" anchor="ctr">
                    <a:lnL w="9525" cap="flat" cmpd="sng" algn="ctr">
                      <a:solidFill>
                        <a:srgbClr val="C4CCDE"/>
                      </a:solidFill>
                    </a:lnL>
                    <a:lnR w="9525" cap="flat" cmpd="sng" algn="ctr">
                      <a:solidFill>
                        <a:srgbClr val="C4CCDE"/>
                      </a:solidFill>
                    </a:lnR>
                    <a:lnT w="9525" cap="flat" cmpd="sng" algn="ctr">
                      <a:solidFill>
                        <a:srgbClr val="C4CCDE"/>
                      </a:solidFill>
                    </a:lnT>
                    <a:lnB w="9525" cap="flat" cmpd="sng" algn="ctr">
                      <a:solidFill>
                        <a:srgbClr val="C4CCDE"/>
                      </a:solidFill>
                    </a:lnB>
                    <a:solidFill>
                      <a:srgbClr val="FBECE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40" b="1">
                          <a:solidFill>
                            <a:srgbClr val="11206D"/>
                          </a:solidFill>
                          <a:latin typeface="Space Grotesk"/>
                        </a:rPr>
                        <a:t>AzureCloud-OpenShiftBastionHost</a:t>
                      </a:r>
                    </a:p>
                  </a:txBody>
                  <a:tcPr marL="73152" marR="54864" marT="27432" marB="27432" anchor="ctr">
                    <a:lnL w="9525" cap="flat" cmpd="sng" algn="ctr">
                      <a:solidFill>
                        <a:srgbClr val="C4CCDE"/>
                      </a:solidFill>
                    </a:lnL>
                    <a:lnR w="9525" cap="flat" cmpd="sng" algn="ctr">
                      <a:solidFill>
                        <a:srgbClr val="C4CCDE"/>
                      </a:solidFill>
                    </a:lnR>
                    <a:lnT w="9525" cap="flat" cmpd="sng" algn="ctr">
                      <a:solidFill>
                        <a:srgbClr val="C4CCDE"/>
                      </a:solidFill>
                    </a:lnT>
                    <a:lnB w="9525" cap="flat" cmpd="sng" algn="ctr">
                      <a:solidFill>
                        <a:srgbClr val="C4CCDE"/>
                      </a:solidFill>
                    </a:lnB>
                    <a:solidFill>
                      <a:srgbClr val="ECE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40" b="0">
                          <a:solidFill>
                            <a:srgbClr val="11206D"/>
                          </a:solidFill>
                          <a:latin typeface="Space Grotesk"/>
                        </a:rPr>
                        <a:t>Azure VM</a:t>
                      </a:r>
                    </a:p>
                  </a:txBody>
                  <a:tcPr marL="73152" marR="54864" marT="27432" marB="27432" anchor="ctr">
                    <a:lnL w="9525" cap="flat" cmpd="sng" algn="ctr">
                      <a:solidFill>
                        <a:srgbClr val="C4CCDE"/>
                      </a:solidFill>
                    </a:lnL>
                    <a:lnR w="9525" cap="flat" cmpd="sng" algn="ctr">
                      <a:solidFill>
                        <a:srgbClr val="C4CCDE"/>
                      </a:solidFill>
                    </a:lnR>
                    <a:lnT w="9525" cap="flat" cmpd="sng" algn="ctr">
                      <a:solidFill>
                        <a:srgbClr val="C4CCDE"/>
                      </a:solidFill>
                    </a:lnT>
                    <a:lnB w="9525" cap="flat" cmpd="sng" algn="ctr">
                      <a:solidFill>
                        <a:srgbClr val="C4CC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40" b="0">
                          <a:solidFill>
                            <a:srgbClr val="11206D"/>
                          </a:solidFill>
                          <a:latin typeface="Space Grotesk"/>
                        </a:rPr>
                        <a:t>Internet-exposed. RDP TCP 3389 open to *</a:t>
                      </a:r>
                    </a:p>
                  </a:txBody>
                  <a:tcPr marL="73152" marR="54864" marT="27432" marB="27432" anchor="ctr">
                    <a:lnL w="9525" cap="flat" cmpd="sng" algn="ctr">
                      <a:solidFill>
                        <a:srgbClr val="C4CCDE"/>
                      </a:solidFill>
                    </a:lnL>
                    <a:lnR w="9525" cap="flat" cmpd="sng" algn="ctr">
                      <a:solidFill>
                        <a:srgbClr val="C4CCDE"/>
                      </a:solidFill>
                    </a:lnR>
                    <a:lnT w="9525" cap="flat" cmpd="sng" algn="ctr">
                      <a:solidFill>
                        <a:srgbClr val="C4CCDE"/>
                      </a:solidFill>
                    </a:lnT>
                    <a:lnB w="9525" cap="flat" cmpd="sng" algn="ctr">
                      <a:solidFill>
                        <a:srgbClr val="C4CC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C80019"/>
                          </a:solidFill>
                          <a:latin typeface="Space Grotesk"/>
                        </a:rPr>
                        <a:t>HIGH/CRIT</a:t>
                      </a:r>
                    </a:p>
                  </a:txBody>
                  <a:tcPr marL="73152" marR="54864" marT="27432" marB="27432" anchor="ctr">
                    <a:lnL w="9525" cap="flat" cmpd="sng" algn="ctr">
                      <a:solidFill>
                        <a:srgbClr val="C4CCDE"/>
                      </a:solidFill>
                    </a:lnL>
                    <a:lnR w="9525" cap="flat" cmpd="sng" algn="ctr">
                      <a:solidFill>
                        <a:srgbClr val="C4CCDE"/>
                      </a:solidFill>
                    </a:lnR>
                    <a:lnT w="9525" cap="flat" cmpd="sng" algn="ctr">
                      <a:solidFill>
                        <a:srgbClr val="C4CCDE"/>
                      </a:solidFill>
                    </a:lnT>
                    <a:lnB w="9525" cap="flat" cmpd="sng" algn="ctr">
                      <a:solidFill>
                        <a:srgbClr val="C4CCDE"/>
                      </a:solidFill>
                    </a:lnB>
                    <a:solidFill>
                      <a:srgbClr val="FBECE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40" b="1">
                          <a:solidFill>
                            <a:srgbClr val="11206D"/>
                          </a:solidFill>
                          <a:latin typeface="Space Grotesk"/>
                        </a:rPr>
                        <a:t>ocpintprdclu2-kgz68-master-2</a:t>
                      </a:r>
                    </a:p>
                  </a:txBody>
                  <a:tcPr marL="73152" marR="54864" marT="27432" marB="27432" anchor="ctr">
                    <a:lnL w="9525" cap="flat" cmpd="sng" algn="ctr">
                      <a:solidFill>
                        <a:srgbClr val="C4CCDE"/>
                      </a:solidFill>
                    </a:lnL>
                    <a:lnR w="9525" cap="flat" cmpd="sng" algn="ctr">
                      <a:solidFill>
                        <a:srgbClr val="C4CCDE"/>
                      </a:solidFill>
                    </a:lnR>
                    <a:lnT w="9525" cap="flat" cmpd="sng" algn="ctr">
                      <a:solidFill>
                        <a:srgbClr val="C4CCDE"/>
                      </a:solidFill>
                    </a:lnT>
                    <a:lnB w="9525" cap="flat" cmpd="sng" algn="ctr">
                      <a:solidFill>
                        <a:srgbClr val="C4CCDE"/>
                      </a:solidFill>
                    </a:lnB>
                    <a:solidFill>
                      <a:srgbClr val="ECE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40" b="0">
                          <a:solidFill>
                            <a:srgbClr val="11206D"/>
                          </a:solidFill>
                          <a:latin typeface="Space Grotesk"/>
                        </a:rPr>
                        <a:t>Azure VM</a:t>
                      </a:r>
                    </a:p>
                  </a:txBody>
                  <a:tcPr marL="73152" marR="54864" marT="27432" marB="27432" anchor="ctr">
                    <a:lnL w="9525" cap="flat" cmpd="sng" algn="ctr">
                      <a:solidFill>
                        <a:srgbClr val="C4CCDE"/>
                      </a:solidFill>
                    </a:lnL>
                    <a:lnR w="9525" cap="flat" cmpd="sng" algn="ctr">
                      <a:solidFill>
                        <a:srgbClr val="C4CCDE"/>
                      </a:solidFill>
                    </a:lnR>
                    <a:lnT w="9525" cap="flat" cmpd="sng" algn="ctr">
                      <a:solidFill>
                        <a:srgbClr val="C4CCDE"/>
                      </a:solidFill>
                    </a:lnT>
                    <a:lnB w="9525" cap="flat" cmpd="sng" algn="ctr">
                      <a:solidFill>
                        <a:srgbClr val="C4CC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40" b="0">
                          <a:solidFill>
                            <a:srgbClr val="11206D"/>
                          </a:solidFill>
                          <a:latin typeface="Space Grotesk"/>
                        </a:rPr>
                        <a:t>Internet-exposed through public load balancer ocpintprdclu2-kgz68</a:t>
                      </a:r>
                    </a:p>
                  </a:txBody>
                  <a:tcPr marL="73152" marR="54864" marT="27432" marB="27432" anchor="ctr">
                    <a:lnL w="9525" cap="flat" cmpd="sng" algn="ctr">
                      <a:solidFill>
                        <a:srgbClr val="C4CCDE"/>
                      </a:solidFill>
                    </a:lnL>
                    <a:lnR w="9525" cap="flat" cmpd="sng" algn="ctr">
                      <a:solidFill>
                        <a:srgbClr val="C4CCDE"/>
                      </a:solidFill>
                    </a:lnR>
                    <a:lnT w="9525" cap="flat" cmpd="sng" algn="ctr">
                      <a:solidFill>
                        <a:srgbClr val="C4CCDE"/>
                      </a:solidFill>
                    </a:lnT>
                    <a:lnB w="9525" cap="flat" cmpd="sng" algn="ctr">
                      <a:solidFill>
                        <a:srgbClr val="C4CC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4D4DD9"/>
                          </a:solidFill>
                          <a:latin typeface="Space Grotesk"/>
                        </a:rPr>
                        <a:t>HIGH</a:t>
                      </a:r>
                    </a:p>
                  </a:txBody>
                  <a:tcPr marL="73152" marR="54864" marT="27432" marB="27432" anchor="ctr">
                    <a:lnL w="9525" cap="flat" cmpd="sng" algn="ctr">
                      <a:solidFill>
                        <a:srgbClr val="C4CCDE"/>
                      </a:solidFill>
                    </a:lnL>
                    <a:lnR w="9525" cap="flat" cmpd="sng" algn="ctr">
                      <a:solidFill>
                        <a:srgbClr val="C4CCDE"/>
                      </a:solidFill>
                    </a:lnR>
                    <a:lnT w="9525" cap="flat" cmpd="sng" algn="ctr">
                      <a:solidFill>
                        <a:srgbClr val="C4CCDE"/>
                      </a:solidFill>
                    </a:lnT>
                    <a:lnB w="9525" cap="flat" cmpd="sng" algn="ctr">
                      <a:solidFill>
                        <a:srgbClr val="C4CCDE"/>
                      </a:solidFill>
                    </a:lnB>
                    <a:solidFill>
                      <a:srgbClr val="ECEC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40" b="1">
                          <a:solidFill>
                            <a:srgbClr val="11206D"/>
                          </a:solidFill>
                          <a:latin typeface="Space Grotesk"/>
                        </a:rPr>
                        <a:t>ZPW-MFT-PGWS01</a:t>
                      </a:r>
                    </a:p>
                  </a:txBody>
                  <a:tcPr marL="73152" marR="54864" marT="27432" marB="27432" anchor="ctr">
                    <a:lnL w="9525" cap="flat" cmpd="sng" algn="ctr">
                      <a:solidFill>
                        <a:srgbClr val="C4CCDE"/>
                      </a:solidFill>
                    </a:lnL>
                    <a:lnR w="9525" cap="flat" cmpd="sng" algn="ctr">
                      <a:solidFill>
                        <a:srgbClr val="C4CCDE"/>
                      </a:solidFill>
                    </a:lnR>
                    <a:lnT w="9525" cap="flat" cmpd="sng" algn="ctr">
                      <a:solidFill>
                        <a:srgbClr val="C4CCDE"/>
                      </a:solidFill>
                    </a:lnT>
                    <a:lnB w="9525" cap="flat" cmpd="sng" algn="ctr">
                      <a:solidFill>
                        <a:srgbClr val="C4CCDE"/>
                      </a:solidFill>
                    </a:lnB>
                    <a:solidFill>
                      <a:srgbClr val="ECE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40" b="0">
                          <a:solidFill>
                            <a:srgbClr val="11206D"/>
                          </a:solidFill>
                          <a:latin typeface="Space Grotesk"/>
                        </a:rPr>
                        <a:t>Azure VM</a:t>
                      </a:r>
                    </a:p>
                  </a:txBody>
                  <a:tcPr marL="73152" marR="54864" marT="27432" marB="27432" anchor="ctr">
                    <a:lnL w="9525" cap="flat" cmpd="sng" algn="ctr">
                      <a:solidFill>
                        <a:srgbClr val="C4CCDE"/>
                      </a:solidFill>
                    </a:lnL>
                    <a:lnR w="9525" cap="flat" cmpd="sng" algn="ctr">
                      <a:solidFill>
                        <a:srgbClr val="C4CCDE"/>
                      </a:solidFill>
                    </a:lnR>
                    <a:lnT w="9525" cap="flat" cmpd="sng" algn="ctr">
                      <a:solidFill>
                        <a:srgbClr val="C4CCDE"/>
                      </a:solidFill>
                    </a:lnT>
                    <a:lnB w="9525" cap="flat" cmpd="sng" algn="ctr">
                      <a:solidFill>
                        <a:srgbClr val="C4CC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40" b="0">
                          <a:solidFill>
                            <a:srgbClr val="11206D"/>
                          </a:solidFill>
                          <a:latin typeface="Space Grotesk"/>
                        </a:rPr>
                        <a:t>Internet-exposed. RDP and SSH open to *</a:t>
                      </a:r>
                    </a:p>
                  </a:txBody>
                  <a:tcPr marL="73152" marR="54864" marT="27432" marB="27432" anchor="ctr">
                    <a:lnL w="9525" cap="flat" cmpd="sng" algn="ctr">
                      <a:solidFill>
                        <a:srgbClr val="C4CCDE"/>
                      </a:solidFill>
                    </a:lnL>
                    <a:lnR w="9525" cap="flat" cmpd="sng" algn="ctr">
                      <a:solidFill>
                        <a:srgbClr val="C4CCDE"/>
                      </a:solidFill>
                    </a:lnR>
                    <a:lnT w="9525" cap="flat" cmpd="sng" algn="ctr">
                      <a:solidFill>
                        <a:srgbClr val="C4CCDE"/>
                      </a:solidFill>
                    </a:lnT>
                    <a:lnB w="9525" cap="flat" cmpd="sng" algn="ctr">
                      <a:solidFill>
                        <a:srgbClr val="C4CC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4D4DD9"/>
                          </a:solidFill>
                          <a:latin typeface="Space Grotesk"/>
                        </a:rPr>
                        <a:t>HIGH</a:t>
                      </a:r>
                    </a:p>
                  </a:txBody>
                  <a:tcPr marL="73152" marR="54864" marT="27432" marB="27432" anchor="ctr">
                    <a:lnL w="9525" cap="flat" cmpd="sng" algn="ctr">
                      <a:solidFill>
                        <a:srgbClr val="C4CCDE"/>
                      </a:solidFill>
                    </a:lnL>
                    <a:lnR w="9525" cap="flat" cmpd="sng" algn="ctr">
                      <a:solidFill>
                        <a:srgbClr val="C4CCDE"/>
                      </a:solidFill>
                    </a:lnR>
                    <a:lnT w="9525" cap="flat" cmpd="sng" algn="ctr">
                      <a:solidFill>
                        <a:srgbClr val="C4CCDE"/>
                      </a:solidFill>
                    </a:lnT>
                    <a:lnB w="9525" cap="flat" cmpd="sng" algn="ctr">
                      <a:solidFill>
                        <a:srgbClr val="C4CCDE"/>
                      </a:solidFill>
                    </a:lnB>
                    <a:solidFill>
                      <a:srgbClr val="ECEC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40" b="1">
                          <a:solidFill>
                            <a:srgbClr val="11206D"/>
                          </a:solidFill>
                          <a:latin typeface="Space Grotesk"/>
                        </a:rPr>
                        <a:t>ZPW-MFT-PGWS02</a:t>
                      </a:r>
                    </a:p>
                  </a:txBody>
                  <a:tcPr marL="73152" marR="54864" marT="27432" marB="27432" anchor="ctr">
                    <a:lnL w="9525" cap="flat" cmpd="sng" algn="ctr">
                      <a:solidFill>
                        <a:srgbClr val="C4CCDE"/>
                      </a:solidFill>
                    </a:lnL>
                    <a:lnR w="9525" cap="flat" cmpd="sng" algn="ctr">
                      <a:solidFill>
                        <a:srgbClr val="C4CCDE"/>
                      </a:solidFill>
                    </a:lnR>
                    <a:lnT w="9525" cap="flat" cmpd="sng" algn="ctr">
                      <a:solidFill>
                        <a:srgbClr val="C4CCDE"/>
                      </a:solidFill>
                    </a:lnT>
                    <a:lnB w="9525" cap="flat" cmpd="sng" algn="ctr">
                      <a:solidFill>
                        <a:srgbClr val="C4CCDE"/>
                      </a:solidFill>
                    </a:lnB>
                    <a:solidFill>
                      <a:srgbClr val="ECE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40" b="0">
                          <a:solidFill>
                            <a:srgbClr val="11206D"/>
                          </a:solidFill>
                          <a:latin typeface="Space Grotesk"/>
                        </a:rPr>
                        <a:t>Azure VM</a:t>
                      </a:r>
                    </a:p>
                  </a:txBody>
                  <a:tcPr marL="73152" marR="54864" marT="27432" marB="27432" anchor="ctr">
                    <a:lnL w="9525" cap="flat" cmpd="sng" algn="ctr">
                      <a:solidFill>
                        <a:srgbClr val="C4CCDE"/>
                      </a:solidFill>
                    </a:lnL>
                    <a:lnR w="9525" cap="flat" cmpd="sng" algn="ctr">
                      <a:solidFill>
                        <a:srgbClr val="C4CCDE"/>
                      </a:solidFill>
                    </a:lnR>
                    <a:lnT w="9525" cap="flat" cmpd="sng" algn="ctr">
                      <a:solidFill>
                        <a:srgbClr val="C4CCDE"/>
                      </a:solidFill>
                    </a:lnT>
                    <a:lnB w="9525" cap="flat" cmpd="sng" algn="ctr">
                      <a:solidFill>
                        <a:srgbClr val="C4CC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40" b="0">
                          <a:solidFill>
                            <a:srgbClr val="11206D"/>
                          </a:solidFill>
                          <a:latin typeface="Space Grotesk"/>
                        </a:rPr>
                        <a:t>Internet-exposed. RDP and SSH open to *</a:t>
                      </a:r>
                    </a:p>
                  </a:txBody>
                  <a:tcPr marL="73152" marR="54864" marT="27432" marB="27432" anchor="ctr">
                    <a:lnL w="9525" cap="flat" cmpd="sng" algn="ctr">
                      <a:solidFill>
                        <a:srgbClr val="C4CCDE"/>
                      </a:solidFill>
                    </a:lnL>
                    <a:lnR w="9525" cap="flat" cmpd="sng" algn="ctr">
                      <a:solidFill>
                        <a:srgbClr val="C4CCDE"/>
                      </a:solidFill>
                    </a:lnR>
                    <a:lnT w="9525" cap="flat" cmpd="sng" algn="ctr">
                      <a:solidFill>
                        <a:srgbClr val="C4CCDE"/>
                      </a:solidFill>
                    </a:lnT>
                    <a:lnB w="9525" cap="flat" cmpd="sng" algn="ctr">
                      <a:solidFill>
                        <a:srgbClr val="C4CC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4D4DD9"/>
                          </a:solidFill>
                          <a:latin typeface="Space Grotesk"/>
                        </a:rPr>
                        <a:t>HIGH</a:t>
                      </a:r>
                    </a:p>
                  </a:txBody>
                  <a:tcPr marL="73152" marR="54864" marT="27432" marB="27432" anchor="ctr">
                    <a:lnL w="9525" cap="flat" cmpd="sng" algn="ctr">
                      <a:solidFill>
                        <a:srgbClr val="C4CCDE"/>
                      </a:solidFill>
                    </a:lnL>
                    <a:lnR w="9525" cap="flat" cmpd="sng" algn="ctr">
                      <a:solidFill>
                        <a:srgbClr val="C4CCDE"/>
                      </a:solidFill>
                    </a:lnR>
                    <a:lnT w="9525" cap="flat" cmpd="sng" algn="ctr">
                      <a:solidFill>
                        <a:srgbClr val="C4CCDE"/>
                      </a:solidFill>
                    </a:lnT>
                    <a:lnB w="9525" cap="flat" cmpd="sng" algn="ctr">
                      <a:solidFill>
                        <a:srgbClr val="C4CCDE"/>
                      </a:solidFill>
                    </a:lnB>
                    <a:solidFill>
                      <a:srgbClr val="ECEC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40" b="1">
                          <a:solidFill>
                            <a:srgbClr val="11206D"/>
                          </a:solidFill>
                          <a:latin typeface="Space Grotesk"/>
                        </a:rPr>
                        <a:t>medical-records</a:t>
                      </a:r>
                    </a:p>
                  </a:txBody>
                  <a:tcPr marL="73152" marR="54864" marT="27432" marB="27432" anchor="ctr">
                    <a:lnL w="9525" cap="flat" cmpd="sng" algn="ctr">
                      <a:solidFill>
                        <a:srgbClr val="C4CCDE"/>
                      </a:solidFill>
                    </a:lnL>
                    <a:lnR w="9525" cap="flat" cmpd="sng" algn="ctr">
                      <a:solidFill>
                        <a:srgbClr val="C4CCDE"/>
                      </a:solidFill>
                    </a:lnR>
                    <a:lnT w="9525" cap="flat" cmpd="sng" algn="ctr">
                      <a:solidFill>
                        <a:srgbClr val="C4CCDE"/>
                      </a:solidFill>
                    </a:lnT>
                    <a:lnB w="9525" cap="flat" cmpd="sng" algn="ctr">
                      <a:solidFill>
                        <a:srgbClr val="C4CCDE"/>
                      </a:solidFill>
                    </a:lnB>
                    <a:solidFill>
                      <a:srgbClr val="ECE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40" b="0">
                          <a:solidFill>
                            <a:srgbClr val="11206D"/>
                          </a:solidFill>
                          <a:latin typeface="Space Grotesk"/>
                        </a:rPr>
                        <a:t>Storage</a:t>
                      </a:r>
                    </a:p>
                  </a:txBody>
                  <a:tcPr marL="73152" marR="54864" marT="27432" marB="27432" anchor="ctr">
                    <a:lnL w="9525" cap="flat" cmpd="sng" algn="ctr">
                      <a:solidFill>
                        <a:srgbClr val="C4CCDE"/>
                      </a:solidFill>
                    </a:lnL>
                    <a:lnR w="9525" cap="flat" cmpd="sng" algn="ctr">
                      <a:solidFill>
                        <a:srgbClr val="C4CCDE"/>
                      </a:solidFill>
                    </a:lnR>
                    <a:lnT w="9525" cap="flat" cmpd="sng" algn="ctr">
                      <a:solidFill>
                        <a:srgbClr val="C4CCDE"/>
                      </a:solidFill>
                    </a:lnT>
                    <a:lnB w="9525" cap="flat" cmpd="sng" algn="ctr">
                      <a:solidFill>
                        <a:srgbClr val="C4CC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40" b="0">
                          <a:solidFill>
                            <a:srgbClr val="11206D"/>
                          </a:solidFill>
                          <a:latin typeface="Space Grotesk"/>
                        </a:rPr>
                        <a:t>Public blob access and no CMK encryption</a:t>
                      </a:r>
                    </a:p>
                  </a:txBody>
                  <a:tcPr marL="73152" marR="54864" marT="27432" marB="27432" anchor="ctr">
                    <a:lnL w="9525" cap="flat" cmpd="sng" algn="ctr">
                      <a:solidFill>
                        <a:srgbClr val="C4CCDE"/>
                      </a:solidFill>
                    </a:lnL>
                    <a:lnR w="9525" cap="flat" cmpd="sng" algn="ctr">
                      <a:solidFill>
                        <a:srgbClr val="C4CCDE"/>
                      </a:solidFill>
                    </a:lnR>
                    <a:lnT w="9525" cap="flat" cmpd="sng" algn="ctr">
                      <a:solidFill>
                        <a:srgbClr val="C4CCDE"/>
                      </a:solidFill>
                    </a:lnT>
                    <a:lnB w="9525" cap="flat" cmpd="sng" algn="ctr">
                      <a:solidFill>
                        <a:srgbClr val="C4CC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C80019"/>
                          </a:solidFill>
                          <a:latin typeface="Space Grotesk"/>
                        </a:rPr>
                        <a:t>CRITICAL</a:t>
                      </a:r>
                    </a:p>
                  </a:txBody>
                  <a:tcPr marL="73152" marR="54864" marT="27432" marB="27432" anchor="ctr">
                    <a:lnL w="9525" cap="flat" cmpd="sng" algn="ctr">
                      <a:solidFill>
                        <a:srgbClr val="C4CCDE"/>
                      </a:solidFill>
                    </a:lnL>
                    <a:lnR w="9525" cap="flat" cmpd="sng" algn="ctr">
                      <a:solidFill>
                        <a:srgbClr val="C4CCDE"/>
                      </a:solidFill>
                    </a:lnR>
                    <a:lnT w="9525" cap="flat" cmpd="sng" algn="ctr">
                      <a:solidFill>
                        <a:srgbClr val="C4CCDE"/>
                      </a:solidFill>
                    </a:lnT>
                    <a:lnB w="9525" cap="flat" cmpd="sng" algn="ctr">
                      <a:solidFill>
                        <a:srgbClr val="C4CCDE"/>
                      </a:solidFill>
                    </a:lnB>
                    <a:solidFill>
                      <a:srgbClr val="FBECE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40" b="1">
                          <a:solidFill>
                            <a:srgbClr val="11206D"/>
                          </a:solidFill>
                          <a:latin typeface="Space Grotesk"/>
                        </a:rPr>
                        <a:t>KEYVAULT-CIAM-PRD</a:t>
                      </a:r>
                    </a:p>
                  </a:txBody>
                  <a:tcPr marL="73152" marR="54864" marT="27432" marB="27432" anchor="ctr">
                    <a:lnL w="9525" cap="flat" cmpd="sng" algn="ctr">
                      <a:solidFill>
                        <a:srgbClr val="C4CCDE"/>
                      </a:solidFill>
                    </a:lnL>
                    <a:lnR w="9525" cap="flat" cmpd="sng" algn="ctr">
                      <a:solidFill>
                        <a:srgbClr val="C4CCDE"/>
                      </a:solidFill>
                    </a:lnR>
                    <a:lnT w="9525" cap="flat" cmpd="sng" algn="ctr">
                      <a:solidFill>
                        <a:srgbClr val="C4CCDE"/>
                      </a:solidFill>
                    </a:lnT>
                    <a:lnB w="9525" cap="flat" cmpd="sng" algn="ctr">
                      <a:solidFill>
                        <a:srgbClr val="C4CCDE"/>
                      </a:solidFill>
                    </a:lnB>
                    <a:solidFill>
                      <a:srgbClr val="ECE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40" b="0">
                          <a:solidFill>
                            <a:srgbClr val="11206D"/>
                          </a:solidFill>
                          <a:latin typeface="Space Grotesk"/>
                        </a:rPr>
                        <a:t>Key Vault</a:t>
                      </a:r>
                    </a:p>
                  </a:txBody>
                  <a:tcPr marL="73152" marR="54864" marT="27432" marB="27432" anchor="ctr">
                    <a:lnL w="9525" cap="flat" cmpd="sng" algn="ctr">
                      <a:solidFill>
                        <a:srgbClr val="C4CCDE"/>
                      </a:solidFill>
                    </a:lnL>
                    <a:lnR w="9525" cap="flat" cmpd="sng" algn="ctr">
                      <a:solidFill>
                        <a:srgbClr val="C4CCDE"/>
                      </a:solidFill>
                    </a:lnR>
                    <a:lnT w="9525" cap="flat" cmpd="sng" algn="ctr">
                      <a:solidFill>
                        <a:srgbClr val="C4CCDE"/>
                      </a:solidFill>
                    </a:lnT>
                    <a:lnB w="9525" cap="flat" cmpd="sng" algn="ctr">
                      <a:solidFill>
                        <a:srgbClr val="C4CC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40" b="0">
                          <a:solidFill>
                            <a:srgbClr val="11206D"/>
                          </a:solidFill>
                          <a:latin typeface="Space Grotesk"/>
                        </a:rPr>
                        <a:t>Public access, no private endpoint, default network allows all networks</a:t>
                      </a:r>
                    </a:p>
                  </a:txBody>
                  <a:tcPr marL="73152" marR="54864" marT="27432" marB="27432" anchor="ctr">
                    <a:lnL w="9525" cap="flat" cmpd="sng" algn="ctr">
                      <a:solidFill>
                        <a:srgbClr val="C4CCDE"/>
                      </a:solidFill>
                    </a:lnL>
                    <a:lnR w="9525" cap="flat" cmpd="sng" algn="ctr">
                      <a:solidFill>
                        <a:srgbClr val="C4CCDE"/>
                      </a:solidFill>
                    </a:lnR>
                    <a:lnT w="9525" cap="flat" cmpd="sng" algn="ctr">
                      <a:solidFill>
                        <a:srgbClr val="C4CCDE"/>
                      </a:solidFill>
                    </a:lnT>
                    <a:lnB w="9525" cap="flat" cmpd="sng" algn="ctr">
                      <a:solidFill>
                        <a:srgbClr val="C4CC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C80019"/>
                          </a:solidFill>
                          <a:latin typeface="Space Grotesk"/>
                        </a:rPr>
                        <a:t>CRITICAL</a:t>
                      </a:r>
                    </a:p>
                  </a:txBody>
                  <a:tcPr marL="73152" marR="54864" marT="27432" marB="27432" anchor="ctr">
                    <a:lnL w="9525" cap="flat" cmpd="sng" algn="ctr">
                      <a:solidFill>
                        <a:srgbClr val="C4CCDE"/>
                      </a:solidFill>
                    </a:lnL>
                    <a:lnR w="9525" cap="flat" cmpd="sng" algn="ctr">
                      <a:solidFill>
                        <a:srgbClr val="C4CCDE"/>
                      </a:solidFill>
                    </a:lnR>
                    <a:lnT w="9525" cap="flat" cmpd="sng" algn="ctr">
                      <a:solidFill>
                        <a:srgbClr val="C4CCDE"/>
                      </a:solidFill>
                    </a:lnT>
                    <a:lnB w="9525" cap="flat" cmpd="sng" algn="ctr">
                      <a:solidFill>
                        <a:srgbClr val="C4CCDE"/>
                      </a:solidFill>
                    </a:lnB>
                    <a:solidFill>
                      <a:srgbClr val="FBEC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Space Grotesk"/>
              </a:rPr>
              <a:t>Toxic Combination Matrix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68096"/>
            <a:ext cx="786384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50" b="1" i="0">
                <a:solidFill>
                  <a:srgbClr val="0046FF"/>
                </a:solidFill>
                <a:latin typeface="Space Grotesk"/>
              </a:rPr>
              <a:t>FIVE CONFIRMED MULTI-CONTROL PATHS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84124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19" b="0" i="0">
                <a:solidFill>
                  <a:srgbClr val="5A637D"/>
                </a:solidFill>
                <a:latin typeface="Space Grotesk"/>
              </a:rPr>
              <a:t>Each row is a place where separate posture failures combine into materially higher risk.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4791456"/>
            <a:ext cx="841248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60" b="0" i="1">
                <a:solidFill>
                  <a:srgbClr val="5A637D"/>
                </a:solidFill>
                <a:latin typeface="Space Grotesk"/>
              </a:rPr>
              <a:t>Source: Cloud Findings, active and not ignored, Azure subscription scope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71600"/>
          <a:ext cx="8412479" cy="30906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6928"/>
                <a:gridCol w="1874519"/>
                <a:gridCol w="3108960"/>
                <a:gridCol w="1947672"/>
                <a:gridCol w="914400"/>
              </a:tblGrid>
              <a:tr h="256032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Space Grotesk"/>
                        </a:rPr>
                        <a:t>ID</a:t>
                      </a:r>
                    </a:p>
                  </a:txBody>
                  <a:tcPr marL="73152" marR="54864" marT="27432" marB="27432" anchor="ctr">
                    <a:solidFill>
                      <a:srgbClr val="11206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Space Grotesk"/>
                        </a:rPr>
                        <a:t>TOXIC COMBINATION</a:t>
                      </a:r>
                    </a:p>
                  </a:txBody>
                  <a:tcPr marL="73152" marR="54864" marT="27432" marB="27432" anchor="ctr">
                    <a:solidFill>
                      <a:srgbClr val="11206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Space Grotesk"/>
                        </a:rPr>
                        <a:t>CONFIRMED RELATIONSHIP</a:t>
                      </a:r>
                    </a:p>
                  </a:txBody>
                  <a:tcPr marL="73152" marR="54864" marT="27432" marB="27432" anchor="ctr">
                    <a:solidFill>
                      <a:srgbClr val="11206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Space Grotesk"/>
                        </a:rPr>
                        <a:t>POTENTIAL BLAST RADIUS</a:t>
                      </a:r>
                    </a:p>
                  </a:txBody>
                  <a:tcPr marL="73152" marR="54864" marT="27432" marB="27432" anchor="ctr">
                    <a:solidFill>
                      <a:srgbClr val="11206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Space Grotesk"/>
                        </a:rPr>
                        <a:t>RISK</a:t>
                      </a:r>
                    </a:p>
                  </a:txBody>
                  <a:tcPr marL="73152" marR="54864" marT="27432" marB="27432" anchor="ctr">
                    <a:solidFill>
                      <a:srgbClr val="11206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740" b="1">
                          <a:solidFill>
                            <a:srgbClr val="11206D"/>
                          </a:solidFill>
                          <a:latin typeface="Space Grotesk"/>
                        </a:rPr>
                        <a:t>TC-01</a:t>
                      </a:r>
                    </a:p>
                  </a:txBody>
                  <a:tcPr marL="73152" marR="54864" marT="27432" marB="27432" anchor="ctr">
                    <a:lnL w="9525" cap="flat" cmpd="sng" algn="ctr">
                      <a:solidFill>
                        <a:srgbClr val="C4CCDE"/>
                      </a:solidFill>
                    </a:lnL>
                    <a:lnR w="9525" cap="flat" cmpd="sng" algn="ctr">
                      <a:solidFill>
                        <a:srgbClr val="C4CCDE"/>
                      </a:solidFill>
                    </a:lnR>
                    <a:lnT w="9525" cap="flat" cmpd="sng" algn="ctr">
                      <a:solidFill>
                        <a:srgbClr val="C4CCDE"/>
                      </a:solidFill>
                    </a:lnT>
                    <a:lnB w="9525" cap="flat" cmpd="sng" algn="ctr">
                      <a:solidFill>
                        <a:srgbClr val="C4CCDE"/>
                      </a:solidFill>
                    </a:lnB>
                    <a:solidFill>
                      <a:srgbClr val="ECE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40" b="0">
                          <a:solidFill>
                            <a:srgbClr val="11206D"/>
                          </a:solidFill>
                          <a:latin typeface="Space Grotesk"/>
                        </a:rPr>
                        <a:t>Internet-exposed DCs plus all ports open</a:t>
                      </a:r>
                    </a:p>
                  </a:txBody>
                  <a:tcPr marL="73152" marR="54864" marT="27432" marB="27432" anchor="ctr">
                    <a:lnL w="9525" cap="flat" cmpd="sng" algn="ctr">
                      <a:solidFill>
                        <a:srgbClr val="C4CCDE"/>
                      </a:solidFill>
                    </a:lnL>
                    <a:lnR w="9525" cap="flat" cmpd="sng" algn="ctr">
                      <a:solidFill>
                        <a:srgbClr val="C4CCDE"/>
                      </a:solidFill>
                    </a:lnR>
                    <a:lnT w="9525" cap="flat" cmpd="sng" algn="ctr">
                      <a:solidFill>
                        <a:srgbClr val="C4CCDE"/>
                      </a:solidFill>
                    </a:lnT>
                    <a:lnB w="9525" cap="flat" cmpd="sng" algn="ctr">
                      <a:solidFill>
                        <a:srgbClr val="C4CC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40" b="0">
                          <a:solidFill>
                            <a:srgbClr val="11206D"/>
                          </a:solidFill>
                          <a:latin typeface="Space Grotesk"/>
                        </a:rPr>
                        <a:t>VM exposure names the same NSG, with all protocols and all ports open to *</a:t>
                      </a:r>
                    </a:p>
                  </a:txBody>
                  <a:tcPr marL="73152" marR="54864" marT="27432" marB="27432" anchor="ctr">
                    <a:lnL w="9525" cap="flat" cmpd="sng" algn="ctr">
                      <a:solidFill>
                        <a:srgbClr val="C4CCDE"/>
                      </a:solidFill>
                    </a:lnL>
                    <a:lnR w="9525" cap="flat" cmpd="sng" algn="ctr">
                      <a:solidFill>
                        <a:srgbClr val="C4CCDE"/>
                      </a:solidFill>
                    </a:lnR>
                    <a:lnT w="9525" cap="flat" cmpd="sng" algn="ctr">
                      <a:solidFill>
                        <a:srgbClr val="C4CCDE"/>
                      </a:solidFill>
                    </a:lnT>
                    <a:lnB w="9525" cap="flat" cmpd="sng" algn="ctr">
                      <a:solidFill>
                        <a:srgbClr val="C4CC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40" b="0">
                          <a:solidFill>
                            <a:srgbClr val="11206D"/>
                          </a:solidFill>
                          <a:latin typeface="Space Grotesk"/>
                        </a:rPr>
                        <a:t>Identity compromise, lateral movement</a:t>
                      </a:r>
                    </a:p>
                  </a:txBody>
                  <a:tcPr marL="73152" marR="54864" marT="27432" marB="27432" anchor="ctr">
                    <a:lnL w="9525" cap="flat" cmpd="sng" algn="ctr">
                      <a:solidFill>
                        <a:srgbClr val="C4CCDE"/>
                      </a:solidFill>
                    </a:lnL>
                    <a:lnR w="9525" cap="flat" cmpd="sng" algn="ctr">
                      <a:solidFill>
                        <a:srgbClr val="C4CCDE"/>
                      </a:solidFill>
                    </a:lnR>
                    <a:lnT w="9525" cap="flat" cmpd="sng" algn="ctr">
                      <a:solidFill>
                        <a:srgbClr val="C4CCDE"/>
                      </a:solidFill>
                    </a:lnT>
                    <a:lnB w="9525" cap="flat" cmpd="sng" algn="ctr">
                      <a:solidFill>
                        <a:srgbClr val="C4CC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C80019"/>
                          </a:solidFill>
                          <a:latin typeface="Space Grotesk"/>
                        </a:rPr>
                        <a:t>CRITICAL</a:t>
                      </a:r>
                    </a:p>
                  </a:txBody>
                  <a:tcPr marL="73152" marR="54864" marT="27432" marB="27432" anchor="ctr">
                    <a:lnL w="9525" cap="flat" cmpd="sng" algn="ctr">
                      <a:solidFill>
                        <a:srgbClr val="C4CCDE"/>
                      </a:solidFill>
                    </a:lnL>
                    <a:lnR w="9525" cap="flat" cmpd="sng" algn="ctr">
                      <a:solidFill>
                        <a:srgbClr val="C4CCDE"/>
                      </a:solidFill>
                    </a:lnR>
                    <a:lnT w="9525" cap="flat" cmpd="sng" algn="ctr">
                      <a:solidFill>
                        <a:srgbClr val="C4CCDE"/>
                      </a:solidFill>
                    </a:lnT>
                    <a:lnB w="9525" cap="flat" cmpd="sng" algn="ctr">
                      <a:solidFill>
                        <a:srgbClr val="C4CCDE"/>
                      </a:solidFill>
                    </a:lnB>
                    <a:solidFill>
                      <a:srgbClr val="FBECE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740" b="1">
                          <a:solidFill>
                            <a:srgbClr val="11206D"/>
                          </a:solidFill>
                          <a:latin typeface="Space Grotesk"/>
                        </a:rPr>
                        <a:t>TC-02</a:t>
                      </a:r>
                    </a:p>
                  </a:txBody>
                  <a:tcPr marL="73152" marR="54864" marT="27432" marB="27432" anchor="ctr">
                    <a:lnL w="9525" cap="flat" cmpd="sng" algn="ctr">
                      <a:solidFill>
                        <a:srgbClr val="C4CCDE"/>
                      </a:solidFill>
                    </a:lnL>
                    <a:lnR w="9525" cap="flat" cmpd="sng" algn="ctr">
                      <a:solidFill>
                        <a:srgbClr val="C4CCDE"/>
                      </a:solidFill>
                    </a:lnR>
                    <a:lnT w="9525" cap="flat" cmpd="sng" algn="ctr">
                      <a:solidFill>
                        <a:srgbClr val="C4CCDE"/>
                      </a:solidFill>
                    </a:lnT>
                    <a:lnB w="9525" cap="flat" cmpd="sng" algn="ctr">
                      <a:solidFill>
                        <a:srgbClr val="C4CCDE"/>
                      </a:solidFill>
                    </a:lnB>
                    <a:solidFill>
                      <a:srgbClr val="ECE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40" b="0">
                          <a:solidFill>
                            <a:srgbClr val="11206D"/>
                          </a:solidFill>
                          <a:latin typeface="Space Grotesk"/>
                        </a:rPr>
                        <a:t>Internet-exposed Root CA plus SMB open</a:t>
                      </a:r>
                    </a:p>
                  </a:txBody>
                  <a:tcPr marL="73152" marR="54864" marT="27432" marB="27432" anchor="ctr">
                    <a:lnL w="9525" cap="flat" cmpd="sng" algn="ctr">
                      <a:solidFill>
                        <a:srgbClr val="C4CCDE"/>
                      </a:solidFill>
                    </a:lnL>
                    <a:lnR w="9525" cap="flat" cmpd="sng" algn="ctr">
                      <a:solidFill>
                        <a:srgbClr val="C4CCDE"/>
                      </a:solidFill>
                    </a:lnR>
                    <a:lnT w="9525" cap="flat" cmpd="sng" algn="ctr">
                      <a:solidFill>
                        <a:srgbClr val="C4CCDE"/>
                      </a:solidFill>
                    </a:lnT>
                    <a:lnB w="9525" cap="flat" cmpd="sng" algn="ctr">
                      <a:solidFill>
                        <a:srgbClr val="C4CC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40" b="0">
                          <a:solidFill>
                            <a:srgbClr val="11206D"/>
                          </a:solidFill>
                          <a:latin typeface="Space Grotesk"/>
                        </a:rPr>
                        <a:t>IGROOTCA is exposed through IGROOTCA-NSG. TCP 445 is open to *</a:t>
                      </a:r>
                    </a:p>
                  </a:txBody>
                  <a:tcPr marL="73152" marR="54864" marT="27432" marB="27432" anchor="ctr">
                    <a:lnL w="9525" cap="flat" cmpd="sng" algn="ctr">
                      <a:solidFill>
                        <a:srgbClr val="C4CCDE"/>
                      </a:solidFill>
                    </a:lnL>
                    <a:lnR w="9525" cap="flat" cmpd="sng" algn="ctr">
                      <a:solidFill>
                        <a:srgbClr val="C4CCDE"/>
                      </a:solidFill>
                    </a:lnR>
                    <a:lnT w="9525" cap="flat" cmpd="sng" algn="ctr">
                      <a:solidFill>
                        <a:srgbClr val="C4CCDE"/>
                      </a:solidFill>
                    </a:lnT>
                    <a:lnB w="9525" cap="flat" cmpd="sng" algn="ctr">
                      <a:solidFill>
                        <a:srgbClr val="C4CC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40" b="0">
                          <a:solidFill>
                            <a:srgbClr val="11206D"/>
                          </a:solidFill>
                          <a:latin typeface="Space Grotesk"/>
                        </a:rPr>
                        <a:t>Trust and certificate infrastructure compromise</a:t>
                      </a:r>
                    </a:p>
                  </a:txBody>
                  <a:tcPr marL="73152" marR="54864" marT="27432" marB="27432" anchor="ctr">
                    <a:lnL w="9525" cap="flat" cmpd="sng" algn="ctr">
                      <a:solidFill>
                        <a:srgbClr val="C4CCDE"/>
                      </a:solidFill>
                    </a:lnL>
                    <a:lnR w="9525" cap="flat" cmpd="sng" algn="ctr">
                      <a:solidFill>
                        <a:srgbClr val="C4CCDE"/>
                      </a:solidFill>
                    </a:lnR>
                    <a:lnT w="9525" cap="flat" cmpd="sng" algn="ctr">
                      <a:solidFill>
                        <a:srgbClr val="C4CCDE"/>
                      </a:solidFill>
                    </a:lnT>
                    <a:lnB w="9525" cap="flat" cmpd="sng" algn="ctr">
                      <a:solidFill>
                        <a:srgbClr val="C4CC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C80019"/>
                          </a:solidFill>
                          <a:latin typeface="Space Grotesk"/>
                        </a:rPr>
                        <a:t>CRITICAL</a:t>
                      </a:r>
                    </a:p>
                  </a:txBody>
                  <a:tcPr marL="73152" marR="54864" marT="27432" marB="27432" anchor="ctr">
                    <a:lnL w="9525" cap="flat" cmpd="sng" algn="ctr">
                      <a:solidFill>
                        <a:srgbClr val="C4CCDE"/>
                      </a:solidFill>
                    </a:lnL>
                    <a:lnR w="9525" cap="flat" cmpd="sng" algn="ctr">
                      <a:solidFill>
                        <a:srgbClr val="C4CCDE"/>
                      </a:solidFill>
                    </a:lnR>
                    <a:lnT w="9525" cap="flat" cmpd="sng" algn="ctr">
                      <a:solidFill>
                        <a:srgbClr val="C4CCDE"/>
                      </a:solidFill>
                    </a:lnT>
                    <a:lnB w="9525" cap="flat" cmpd="sng" algn="ctr">
                      <a:solidFill>
                        <a:srgbClr val="C4CCDE"/>
                      </a:solidFill>
                    </a:lnB>
                    <a:solidFill>
                      <a:srgbClr val="FBECE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740" b="1">
                          <a:solidFill>
                            <a:srgbClr val="11206D"/>
                          </a:solidFill>
                          <a:latin typeface="Space Grotesk"/>
                        </a:rPr>
                        <a:t>TC-03</a:t>
                      </a:r>
                    </a:p>
                  </a:txBody>
                  <a:tcPr marL="73152" marR="54864" marT="27432" marB="27432" anchor="ctr">
                    <a:lnL w="9525" cap="flat" cmpd="sng" algn="ctr">
                      <a:solidFill>
                        <a:srgbClr val="C4CCDE"/>
                      </a:solidFill>
                    </a:lnL>
                    <a:lnR w="9525" cap="flat" cmpd="sng" algn="ctr">
                      <a:solidFill>
                        <a:srgbClr val="C4CCDE"/>
                      </a:solidFill>
                    </a:lnR>
                    <a:lnT w="9525" cap="flat" cmpd="sng" algn="ctr">
                      <a:solidFill>
                        <a:srgbClr val="C4CCDE"/>
                      </a:solidFill>
                    </a:lnT>
                    <a:lnB w="9525" cap="flat" cmpd="sng" algn="ctr">
                      <a:solidFill>
                        <a:srgbClr val="C4CCDE"/>
                      </a:solidFill>
                    </a:lnB>
                    <a:solidFill>
                      <a:srgbClr val="ECE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40" b="0">
                          <a:solidFill>
                            <a:srgbClr val="11206D"/>
                          </a:solidFill>
                          <a:latin typeface="Space Grotesk"/>
                        </a:rPr>
                        <a:t>Public Key Vault plus no private endpoint</a:t>
                      </a:r>
                    </a:p>
                  </a:txBody>
                  <a:tcPr marL="73152" marR="54864" marT="27432" marB="27432" anchor="ctr">
                    <a:lnL w="9525" cap="flat" cmpd="sng" algn="ctr">
                      <a:solidFill>
                        <a:srgbClr val="C4CCDE"/>
                      </a:solidFill>
                    </a:lnL>
                    <a:lnR w="9525" cap="flat" cmpd="sng" algn="ctr">
                      <a:solidFill>
                        <a:srgbClr val="C4CCDE"/>
                      </a:solidFill>
                    </a:lnR>
                    <a:lnT w="9525" cap="flat" cmpd="sng" algn="ctr">
                      <a:solidFill>
                        <a:srgbClr val="C4CCDE"/>
                      </a:solidFill>
                    </a:lnT>
                    <a:lnB w="9525" cap="flat" cmpd="sng" algn="ctr">
                      <a:solidFill>
                        <a:srgbClr val="C4CC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40" b="0">
                          <a:solidFill>
                            <a:srgbClr val="11206D"/>
                          </a:solidFill>
                          <a:latin typeface="Space Grotesk"/>
                        </a:rPr>
                        <a:t>The same Key Vault has public access, no private endpoint, an all-network default and a logging gap</a:t>
                      </a:r>
                    </a:p>
                  </a:txBody>
                  <a:tcPr marL="73152" marR="54864" marT="27432" marB="27432" anchor="ctr">
                    <a:lnL w="9525" cap="flat" cmpd="sng" algn="ctr">
                      <a:solidFill>
                        <a:srgbClr val="C4CCDE"/>
                      </a:solidFill>
                    </a:lnL>
                    <a:lnR w="9525" cap="flat" cmpd="sng" algn="ctr">
                      <a:solidFill>
                        <a:srgbClr val="C4CCDE"/>
                      </a:solidFill>
                    </a:lnR>
                    <a:lnT w="9525" cap="flat" cmpd="sng" algn="ctr">
                      <a:solidFill>
                        <a:srgbClr val="C4CCDE"/>
                      </a:solidFill>
                    </a:lnT>
                    <a:lnB w="9525" cap="flat" cmpd="sng" algn="ctr">
                      <a:solidFill>
                        <a:srgbClr val="C4CC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40" b="0">
                          <a:solidFill>
                            <a:srgbClr val="11206D"/>
                          </a:solidFill>
                          <a:latin typeface="Space Grotesk"/>
                        </a:rPr>
                        <a:t>Secrets, keys and certificates</a:t>
                      </a:r>
                    </a:p>
                  </a:txBody>
                  <a:tcPr marL="73152" marR="54864" marT="27432" marB="27432" anchor="ctr">
                    <a:lnL w="9525" cap="flat" cmpd="sng" algn="ctr">
                      <a:solidFill>
                        <a:srgbClr val="C4CCDE"/>
                      </a:solidFill>
                    </a:lnL>
                    <a:lnR w="9525" cap="flat" cmpd="sng" algn="ctr">
                      <a:solidFill>
                        <a:srgbClr val="C4CCDE"/>
                      </a:solidFill>
                    </a:lnR>
                    <a:lnT w="9525" cap="flat" cmpd="sng" algn="ctr">
                      <a:solidFill>
                        <a:srgbClr val="C4CCDE"/>
                      </a:solidFill>
                    </a:lnT>
                    <a:lnB w="9525" cap="flat" cmpd="sng" algn="ctr">
                      <a:solidFill>
                        <a:srgbClr val="C4CC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C80019"/>
                          </a:solidFill>
                          <a:latin typeface="Space Grotesk"/>
                        </a:rPr>
                        <a:t>CRITICAL</a:t>
                      </a:r>
                    </a:p>
                  </a:txBody>
                  <a:tcPr marL="73152" marR="54864" marT="27432" marB="27432" anchor="ctr">
                    <a:lnL w="9525" cap="flat" cmpd="sng" algn="ctr">
                      <a:solidFill>
                        <a:srgbClr val="C4CCDE"/>
                      </a:solidFill>
                    </a:lnL>
                    <a:lnR w="9525" cap="flat" cmpd="sng" algn="ctr">
                      <a:solidFill>
                        <a:srgbClr val="C4CCDE"/>
                      </a:solidFill>
                    </a:lnR>
                    <a:lnT w="9525" cap="flat" cmpd="sng" algn="ctr">
                      <a:solidFill>
                        <a:srgbClr val="C4CCDE"/>
                      </a:solidFill>
                    </a:lnT>
                    <a:lnB w="9525" cap="flat" cmpd="sng" algn="ctr">
                      <a:solidFill>
                        <a:srgbClr val="C4CCDE"/>
                      </a:solidFill>
                    </a:lnB>
                    <a:solidFill>
                      <a:srgbClr val="FBECE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740" b="1">
                          <a:solidFill>
                            <a:srgbClr val="11206D"/>
                          </a:solidFill>
                          <a:latin typeface="Space Grotesk"/>
                        </a:rPr>
                        <a:t>TC-04</a:t>
                      </a:r>
                    </a:p>
                  </a:txBody>
                  <a:tcPr marL="73152" marR="54864" marT="27432" marB="27432" anchor="ctr">
                    <a:lnL w="9525" cap="flat" cmpd="sng" algn="ctr">
                      <a:solidFill>
                        <a:srgbClr val="C4CCDE"/>
                      </a:solidFill>
                    </a:lnL>
                    <a:lnR w="9525" cap="flat" cmpd="sng" algn="ctr">
                      <a:solidFill>
                        <a:srgbClr val="C4CCDE"/>
                      </a:solidFill>
                    </a:lnR>
                    <a:lnT w="9525" cap="flat" cmpd="sng" algn="ctr">
                      <a:solidFill>
                        <a:srgbClr val="C4CCDE"/>
                      </a:solidFill>
                    </a:lnT>
                    <a:lnB w="9525" cap="flat" cmpd="sng" algn="ctr">
                      <a:solidFill>
                        <a:srgbClr val="C4CCDE"/>
                      </a:solidFill>
                    </a:lnB>
                    <a:solidFill>
                      <a:srgbClr val="ECE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40" b="0">
                          <a:solidFill>
                            <a:srgbClr val="11206D"/>
                          </a:solidFill>
                          <a:latin typeface="Space Grotesk"/>
                        </a:rPr>
                        <a:t>Public medical-records container plus no CMK</a:t>
                      </a:r>
                    </a:p>
                  </a:txBody>
                  <a:tcPr marL="73152" marR="54864" marT="27432" marB="27432" anchor="ctr">
                    <a:lnL w="9525" cap="flat" cmpd="sng" algn="ctr">
                      <a:solidFill>
                        <a:srgbClr val="C4CCDE"/>
                      </a:solidFill>
                    </a:lnL>
                    <a:lnR w="9525" cap="flat" cmpd="sng" algn="ctr">
                      <a:solidFill>
                        <a:srgbClr val="C4CCDE"/>
                      </a:solidFill>
                    </a:lnR>
                    <a:lnT w="9525" cap="flat" cmpd="sng" algn="ctr">
                      <a:solidFill>
                        <a:srgbClr val="C4CCDE"/>
                      </a:solidFill>
                    </a:lnT>
                    <a:lnB w="9525" cap="flat" cmpd="sng" algn="ctr">
                      <a:solidFill>
                        <a:srgbClr val="C4CC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40" b="0">
                          <a:solidFill>
                            <a:srgbClr val="11206D"/>
                          </a:solidFill>
                          <a:latin typeface="Space Grotesk"/>
                        </a:rPr>
                        <a:t>The same storage container is public and is not CMK-encrypted</a:t>
                      </a:r>
                    </a:p>
                  </a:txBody>
                  <a:tcPr marL="73152" marR="54864" marT="27432" marB="27432" anchor="ctr">
                    <a:lnL w="9525" cap="flat" cmpd="sng" algn="ctr">
                      <a:solidFill>
                        <a:srgbClr val="C4CCDE"/>
                      </a:solidFill>
                    </a:lnL>
                    <a:lnR w="9525" cap="flat" cmpd="sng" algn="ctr">
                      <a:solidFill>
                        <a:srgbClr val="C4CCDE"/>
                      </a:solidFill>
                    </a:lnR>
                    <a:lnT w="9525" cap="flat" cmpd="sng" algn="ctr">
                      <a:solidFill>
                        <a:srgbClr val="C4CCDE"/>
                      </a:solidFill>
                    </a:lnT>
                    <a:lnB w="9525" cap="flat" cmpd="sng" algn="ctr">
                      <a:solidFill>
                        <a:srgbClr val="C4CC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40" b="0">
                          <a:solidFill>
                            <a:srgbClr val="11206D"/>
                          </a:solidFill>
                          <a:latin typeface="Space Grotesk"/>
                        </a:rPr>
                        <a:t>Sensitive data exposure and governance</a:t>
                      </a:r>
                    </a:p>
                  </a:txBody>
                  <a:tcPr marL="73152" marR="54864" marT="27432" marB="27432" anchor="ctr">
                    <a:lnL w="9525" cap="flat" cmpd="sng" algn="ctr">
                      <a:solidFill>
                        <a:srgbClr val="C4CCDE"/>
                      </a:solidFill>
                    </a:lnL>
                    <a:lnR w="9525" cap="flat" cmpd="sng" algn="ctr">
                      <a:solidFill>
                        <a:srgbClr val="C4CCDE"/>
                      </a:solidFill>
                    </a:lnR>
                    <a:lnT w="9525" cap="flat" cmpd="sng" algn="ctr">
                      <a:solidFill>
                        <a:srgbClr val="C4CCDE"/>
                      </a:solidFill>
                    </a:lnT>
                    <a:lnB w="9525" cap="flat" cmpd="sng" algn="ctr">
                      <a:solidFill>
                        <a:srgbClr val="C4CC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C80019"/>
                          </a:solidFill>
                          <a:latin typeface="Space Grotesk"/>
                        </a:rPr>
                        <a:t>CRITICAL</a:t>
                      </a:r>
                    </a:p>
                  </a:txBody>
                  <a:tcPr marL="73152" marR="54864" marT="27432" marB="27432" anchor="ctr">
                    <a:lnL w="9525" cap="flat" cmpd="sng" algn="ctr">
                      <a:solidFill>
                        <a:srgbClr val="C4CCDE"/>
                      </a:solidFill>
                    </a:lnL>
                    <a:lnR w="9525" cap="flat" cmpd="sng" algn="ctr">
                      <a:solidFill>
                        <a:srgbClr val="C4CCDE"/>
                      </a:solidFill>
                    </a:lnR>
                    <a:lnT w="9525" cap="flat" cmpd="sng" algn="ctr">
                      <a:solidFill>
                        <a:srgbClr val="C4CCDE"/>
                      </a:solidFill>
                    </a:lnT>
                    <a:lnB w="9525" cap="flat" cmpd="sng" algn="ctr">
                      <a:solidFill>
                        <a:srgbClr val="C4CCDE"/>
                      </a:solidFill>
                    </a:lnB>
                    <a:solidFill>
                      <a:srgbClr val="FBECE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740" b="1">
                          <a:solidFill>
                            <a:srgbClr val="11206D"/>
                          </a:solidFill>
                          <a:latin typeface="Space Grotesk"/>
                        </a:rPr>
                        <a:t>TC-05</a:t>
                      </a:r>
                    </a:p>
                  </a:txBody>
                  <a:tcPr marL="73152" marR="54864" marT="27432" marB="27432" anchor="ctr">
                    <a:lnL w="9525" cap="flat" cmpd="sng" algn="ctr">
                      <a:solidFill>
                        <a:srgbClr val="C4CCDE"/>
                      </a:solidFill>
                    </a:lnL>
                    <a:lnR w="9525" cap="flat" cmpd="sng" algn="ctr">
                      <a:solidFill>
                        <a:srgbClr val="C4CCDE"/>
                      </a:solidFill>
                    </a:lnR>
                    <a:lnT w="9525" cap="flat" cmpd="sng" algn="ctr">
                      <a:solidFill>
                        <a:srgbClr val="C4CCDE"/>
                      </a:solidFill>
                    </a:lnT>
                    <a:lnB w="9525" cap="flat" cmpd="sng" algn="ctr">
                      <a:solidFill>
                        <a:srgbClr val="C4CCDE"/>
                      </a:solidFill>
                    </a:lnB>
                    <a:solidFill>
                      <a:srgbClr val="ECE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40" b="0">
                          <a:solidFill>
                            <a:srgbClr val="11206D"/>
                          </a:solidFill>
                          <a:latin typeface="Space Grotesk"/>
                        </a:rPr>
                        <a:t>Internet-facing OpenShift bastion plus RDP</a:t>
                      </a:r>
                    </a:p>
                  </a:txBody>
                  <a:tcPr marL="73152" marR="54864" marT="27432" marB="27432" anchor="ctr">
                    <a:lnL w="9525" cap="flat" cmpd="sng" algn="ctr">
                      <a:solidFill>
                        <a:srgbClr val="C4CCDE"/>
                      </a:solidFill>
                    </a:lnL>
                    <a:lnR w="9525" cap="flat" cmpd="sng" algn="ctr">
                      <a:solidFill>
                        <a:srgbClr val="C4CCDE"/>
                      </a:solidFill>
                    </a:lnR>
                    <a:lnT w="9525" cap="flat" cmpd="sng" algn="ctr">
                      <a:solidFill>
                        <a:srgbClr val="C4CCDE"/>
                      </a:solidFill>
                    </a:lnT>
                    <a:lnB w="9525" cap="flat" cmpd="sng" algn="ctr">
                      <a:solidFill>
                        <a:srgbClr val="C4CC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40" b="0">
                          <a:solidFill>
                            <a:srgbClr val="11206D"/>
                          </a:solidFill>
                          <a:latin typeface="Space Grotesk"/>
                        </a:rPr>
                        <a:t>VM exposure names the NSG. RDP 3389 is open to *. Hardening and logging gaps are present</a:t>
                      </a:r>
                    </a:p>
                  </a:txBody>
                  <a:tcPr marL="73152" marR="54864" marT="27432" marB="27432" anchor="ctr">
                    <a:lnL w="9525" cap="flat" cmpd="sng" algn="ctr">
                      <a:solidFill>
                        <a:srgbClr val="C4CCDE"/>
                      </a:solidFill>
                    </a:lnL>
                    <a:lnR w="9525" cap="flat" cmpd="sng" algn="ctr">
                      <a:solidFill>
                        <a:srgbClr val="C4CCDE"/>
                      </a:solidFill>
                    </a:lnR>
                    <a:lnT w="9525" cap="flat" cmpd="sng" algn="ctr">
                      <a:solidFill>
                        <a:srgbClr val="C4CCDE"/>
                      </a:solidFill>
                    </a:lnT>
                    <a:lnB w="9525" cap="flat" cmpd="sng" algn="ctr">
                      <a:solidFill>
                        <a:srgbClr val="C4CC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40" b="0">
                          <a:solidFill>
                            <a:srgbClr val="11206D"/>
                          </a:solidFill>
                          <a:latin typeface="Space Grotesk"/>
                        </a:rPr>
                        <a:t>Pivot into OpenShift and internal workloads</a:t>
                      </a:r>
                    </a:p>
                  </a:txBody>
                  <a:tcPr marL="73152" marR="54864" marT="27432" marB="27432" anchor="ctr">
                    <a:lnL w="9525" cap="flat" cmpd="sng" algn="ctr">
                      <a:solidFill>
                        <a:srgbClr val="C4CCDE"/>
                      </a:solidFill>
                    </a:lnL>
                    <a:lnR w="9525" cap="flat" cmpd="sng" algn="ctr">
                      <a:solidFill>
                        <a:srgbClr val="C4CCDE"/>
                      </a:solidFill>
                    </a:lnR>
                    <a:lnT w="9525" cap="flat" cmpd="sng" algn="ctr">
                      <a:solidFill>
                        <a:srgbClr val="C4CCDE"/>
                      </a:solidFill>
                    </a:lnT>
                    <a:lnB w="9525" cap="flat" cmpd="sng" algn="ctr">
                      <a:solidFill>
                        <a:srgbClr val="C4CC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C80019"/>
                          </a:solidFill>
                          <a:latin typeface="Space Grotesk"/>
                        </a:rPr>
                        <a:t>HIGH/CRIT</a:t>
                      </a:r>
                    </a:p>
                  </a:txBody>
                  <a:tcPr marL="73152" marR="54864" marT="27432" marB="27432" anchor="ctr">
                    <a:lnL w="9525" cap="flat" cmpd="sng" algn="ctr">
                      <a:solidFill>
                        <a:srgbClr val="C4CCDE"/>
                      </a:solidFill>
                    </a:lnL>
                    <a:lnR w="9525" cap="flat" cmpd="sng" algn="ctr">
                      <a:solidFill>
                        <a:srgbClr val="C4CCDE"/>
                      </a:solidFill>
                    </a:lnR>
                    <a:lnT w="9525" cap="flat" cmpd="sng" algn="ctr">
                      <a:solidFill>
                        <a:srgbClr val="C4CCDE"/>
                      </a:solidFill>
                    </a:lnT>
                    <a:lnB w="9525" cap="flat" cmpd="sng" algn="ctr">
                      <a:solidFill>
                        <a:srgbClr val="C4CCDE"/>
                      </a:solidFill>
                    </a:lnB>
                    <a:solidFill>
                      <a:srgbClr val="FBEC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Space Grotesk"/>
              </a:rPr>
              <a:t>Identity and Trust Plane Attack Paths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68096"/>
            <a:ext cx="786384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50" b="1" i="0">
                <a:solidFill>
                  <a:srgbClr val="0046FF"/>
                </a:solidFill>
                <a:latin typeface="Space Grotesk"/>
              </a:rPr>
              <a:t>TC-01 AND TC-02 IN DETAIL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84124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19" b="0" i="0">
                <a:solidFill>
                  <a:srgbClr val="5A637D"/>
                </a:solidFill>
                <a:latin typeface="Space Grotesk"/>
              </a:rPr>
              <a:t>Confirmed exposure chains show how Internet reachability meets high-value identity and trust infrastructure.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4791456"/>
            <a:ext cx="841248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60" b="0" i="1">
                <a:solidFill>
                  <a:srgbClr val="5A637D"/>
                </a:solidFill>
                <a:latin typeface="Space Grotesk"/>
              </a:rPr>
              <a:t>Source: Cloud Findings, active and not ignored, Azure subscription scope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353312"/>
            <a:ext cx="841248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7" name="Rounded Rectangle 6"/>
          <p:cNvSpPr/>
          <p:nvPr/>
        </p:nvSpPr>
        <p:spPr>
          <a:xfrm>
            <a:off x="530352" y="1481328"/>
            <a:ext cx="566928" cy="219456"/>
          </a:xfrm>
          <a:prstGeom prst="roundRect">
            <a:avLst>
              <a:gd name="adj" fmla="val 50000"/>
            </a:avLst>
          </a:prstGeom>
          <a:solidFill>
            <a:srgbClr val="EC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36576" bIns="36576"/>
          <a:lstStyle/>
          <a:p>
            <a:pPr algn="ctr"/>
            <a:r>
              <a:rPr sz="760" b="1" i="0">
                <a:solidFill>
                  <a:srgbClr val="4D4DD9"/>
                </a:solidFill>
                <a:latin typeface="Space Grotesk"/>
              </a:rPr>
              <a:t>TC-01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1463040"/>
            <a:ext cx="457200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73152" tIns="36576" bIns="36576"/>
          <a:lstStyle/>
          <a:p>
            <a:pPr algn="l"/>
            <a:r>
              <a:rPr sz="1050" b="1" i="0">
                <a:solidFill>
                  <a:srgbClr val="11206D"/>
                </a:solidFill>
                <a:latin typeface="Space Grotesk"/>
              </a:rPr>
              <a:t>Domain-controller attack path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792224"/>
            <a:ext cx="1577340" cy="640080"/>
          </a:xfrm>
          <a:prstGeom prst="roundRect">
            <a:avLst>
              <a:gd name="adj" fmla="val 5000"/>
            </a:avLst>
          </a:prstGeom>
          <a:solidFill>
            <a:srgbClr val="FB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10" name="Rectangle 9"/>
          <p:cNvSpPr/>
          <p:nvPr/>
        </p:nvSpPr>
        <p:spPr>
          <a:xfrm>
            <a:off x="530352" y="1819656"/>
            <a:ext cx="50292" cy="585215"/>
          </a:xfrm>
          <a:prstGeom prst="rect">
            <a:avLst/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11" name="Rectangle 10"/>
          <p:cNvSpPr/>
          <p:nvPr/>
        </p:nvSpPr>
        <p:spPr>
          <a:xfrm>
            <a:off x="676656" y="1819656"/>
            <a:ext cx="1357884" cy="58521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18288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60" b="1" i="0">
                <a:solidFill>
                  <a:srgbClr val="11206D"/>
                </a:solidFill>
                <a:latin typeface="Space Grotesk"/>
              </a:rPr>
              <a:t>Internet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A637D"/>
                </a:solidFill>
                <a:latin typeface="Space Grotesk"/>
              </a:rPr>
              <a:t>Untrusted source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07692" y="1993391"/>
            <a:ext cx="237744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C80019"/>
                </a:solidFill>
                <a:latin typeface="Space Grotesk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45436" y="1792224"/>
            <a:ext cx="1577340" cy="640080"/>
          </a:xfrm>
          <a:prstGeom prst="roundRect">
            <a:avLst>
              <a:gd name="adj" fmla="val 5000"/>
            </a:avLst>
          </a:prstGeom>
          <a:solidFill>
            <a:srgbClr val="FB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14" name="Rectangle 13"/>
          <p:cNvSpPr/>
          <p:nvPr/>
        </p:nvSpPr>
        <p:spPr>
          <a:xfrm>
            <a:off x="2345436" y="1819656"/>
            <a:ext cx="50292" cy="585215"/>
          </a:xfrm>
          <a:prstGeom prst="rect">
            <a:avLst/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15" name="Rectangle 14"/>
          <p:cNvSpPr/>
          <p:nvPr/>
        </p:nvSpPr>
        <p:spPr>
          <a:xfrm>
            <a:off x="2491740" y="1819656"/>
            <a:ext cx="1357884" cy="58521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18288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60" b="1" i="0">
                <a:solidFill>
                  <a:srgbClr val="11206D"/>
                </a:solidFill>
                <a:latin typeface="Space Grotesk"/>
              </a:rPr>
              <a:t>NSG wildcard rule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A637D"/>
                </a:solidFill>
                <a:latin typeface="Space Grotesk"/>
              </a:rPr>
              <a:t>All protocols and ports to *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22776" y="1993391"/>
            <a:ext cx="237744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C80019"/>
                </a:solidFill>
                <a:latin typeface="Space Grotesk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60520" y="1792224"/>
            <a:ext cx="1577340" cy="640080"/>
          </a:xfrm>
          <a:prstGeom prst="roundRect">
            <a:avLst>
              <a:gd name="adj" fmla="val 5000"/>
            </a:avLst>
          </a:prstGeom>
          <a:solidFill>
            <a:srgbClr val="FB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18" name="Rectangle 17"/>
          <p:cNvSpPr/>
          <p:nvPr/>
        </p:nvSpPr>
        <p:spPr>
          <a:xfrm>
            <a:off x="4160520" y="1819656"/>
            <a:ext cx="50292" cy="585215"/>
          </a:xfrm>
          <a:prstGeom prst="rect">
            <a:avLst/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19" name="Rectangle 18"/>
          <p:cNvSpPr/>
          <p:nvPr/>
        </p:nvSpPr>
        <p:spPr>
          <a:xfrm>
            <a:off x="4306824" y="1819656"/>
            <a:ext cx="1357884" cy="58521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18288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60" b="1" i="0">
                <a:solidFill>
                  <a:srgbClr val="11206D"/>
                </a:solidFill>
                <a:latin typeface="Space Grotesk"/>
              </a:rPr>
              <a:t>DC-named Azure VM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A637D"/>
                </a:solidFill>
                <a:latin typeface="Space Grotesk"/>
              </a:rPr>
              <a:t>ZPW-IGA-DC01 and 02, ZPW-DEV-DC01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37860" y="1993391"/>
            <a:ext cx="237744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C80019"/>
                </a:solidFill>
                <a:latin typeface="Space Grotesk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75604" y="1792224"/>
            <a:ext cx="1577340" cy="640080"/>
          </a:xfrm>
          <a:prstGeom prst="roundRect">
            <a:avLst>
              <a:gd name="adj" fmla="val 5000"/>
            </a:avLst>
          </a:prstGeom>
          <a:solidFill>
            <a:srgbClr val="EC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22" name="Rectangle 21"/>
          <p:cNvSpPr/>
          <p:nvPr/>
        </p:nvSpPr>
        <p:spPr>
          <a:xfrm>
            <a:off x="5975604" y="1819656"/>
            <a:ext cx="50292" cy="585215"/>
          </a:xfrm>
          <a:prstGeom prst="rect">
            <a:avLst/>
          </a:prstGeom>
          <a:solidFill>
            <a:srgbClr val="4D4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23" name="Rectangle 22"/>
          <p:cNvSpPr/>
          <p:nvPr/>
        </p:nvSpPr>
        <p:spPr>
          <a:xfrm>
            <a:off x="6121908" y="1819656"/>
            <a:ext cx="1357884" cy="58521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18288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60" b="1" i="0">
                <a:solidFill>
                  <a:srgbClr val="11206D"/>
                </a:solidFill>
                <a:latin typeface="Space Grotesk"/>
              </a:rPr>
              <a:t>Identity plane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A637D"/>
                </a:solidFill>
                <a:latin typeface="Space Grotesk"/>
              </a:rPr>
              <a:t>Credential and directory compromise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0" y="1993391"/>
            <a:ext cx="841248" cy="237744"/>
          </a:xfrm>
          <a:prstGeom prst="roundRect">
            <a:avLst>
              <a:gd name="adj" fmla="val 50000"/>
            </a:avLst>
          </a:prstGeom>
          <a:solidFill>
            <a:srgbClr val="FB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36576" bIns="36576"/>
          <a:lstStyle/>
          <a:p>
            <a:pPr algn="ctr"/>
            <a:r>
              <a:rPr sz="700" b="1" i="0">
                <a:solidFill>
                  <a:srgbClr val="C80019"/>
                </a:solidFill>
                <a:latin typeface="Space Grotesk"/>
              </a:rPr>
              <a:t>CRITICAL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2651760"/>
            <a:ext cx="841248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26" name="Rounded Rectangle 25"/>
          <p:cNvSpPr/>
          <p:nvPr/>
        </p:nvSpPr>
        <p:spPr>
          <a:xfrm>
            <a:off x="530352" y="2779776"/>
            <a:ext cx="566928" cy="219456"/>
          </a:xfrm>
          <a:prstGeom prst="roundRect">
            <a:avLst>
              <a:gd name="adj" fmla="val 50000"/>
            </a:avLst>
          </a:prstGeom>
          <a:solidFill>
            <a:srgbClr val="EC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36576" bIns="36576"/>
          <a:lstStyle/>
          <a:p>
            <a:pPr algn="ctr"/>
            <a:r>
              <a:rPr sz="760" b="1" i="0">
                <a:solidFill>
                  <a:srgbClr val="4D4DD9"/>
                </a:solidFill>
                <a:latin typeface="Space Grotesk"/>
              </a:rPr>
              <a:t>TC-02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88720" y="2761488"/>
            <a:ext cx="457200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73152" tIns="36576" bIns="36576"/>
          <a:lstStyle/>
          <a:p>
            <a:pPr algn="l"/>
            <a:r>
              <a:rPr sz="1050" b="1" i="0">
                <a:solidFill>
                  <a:srgbClr val="11206D"/>
                </a:solidFill>
                <a:latin typeface="Space Grotesk"/>
              </a:rPr>
              <a:t>Root CA and PKI trust-path exposure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0352" y="3090672"/>
            <a:ext cx="1577340" cy="640080"/>
          </a:xfrm>
          <a:prstGeom prst="roundRect">
            <a:avLst>
              <a:gd name="adj" fmla="val 5000"/>
            </a:avLst>
          </a:prstGeom>
          <a:solidFill>
            <a:srgbClr val="FB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29" name="Rectangle 28"/>
          <p:cNvSpPr/>
          <p:nvPr/>
        </p:nvSpPr>
        <p:spPr>
          <a:xfrm>
            <a:off x="530352" y="3118103"/>
            <a:ext cx="50292" cy="585215"/>
          </a:xfrm>
          <a:prstGeom prst="rect">
            <a:avLst/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30" name="Rectangle 29"/>
          <p:cNvSpPr/>
          <p:nvPr/>
        </p:nvSpPr>
        <p:spPr>
          <a:xfrm>
            <a:off x="676656" y="3118103"/>
            <a:ext cx="1357884" cy="58521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18288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60" b="1" i="0">
                <a:solidFill>
                  <a:srgbClr val="11206D"/>
                </a:solidFill>
                <a:latin typeface="Space Grotesk"/>
              </a:rPr>
              <a:t>Internet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A637D"/>
                </a:solidFill>
                <a:latin typeface="Space Grotesk"/>
              </a:rPr>
              <a:t>Untrusted source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07692" y="3291839"/>
            <a:ext cx="237744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C80019"/>
                </a:solidFill>
                <a:latin typeface="Space Grotesk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345436" y="3090672"/>
            <a:ext cx="1577340" cy="640080"/>
          </a:xfrm>
          <a:prstGeom prst="roundRect">
            <a:avLst>
              <a:gd name="adj" fmla="val 5000"/>
            </a:avLst>
          </a:prstGeom>
          <a:solidFill>
            <a:srgbClr val="FB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33" name="Rectangle 32"/>
          <p:cNvSpPr/>
          <p:nvPr/>
        </p:nvSpPr>
        <p:spPr>
          <a:xfrm>
            <a:off x="2345436" y="3118103"/>
            <a:ext cx="50292" cy="585215"/>
          </a:xfrm>
          <a:prstGeom prst="rect">
            <a:avLst/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34" name="Rectangle 33"/>
          <p:cNvSpPr/>
          <p:nvPr/>
        </p:nvSpPr>
        <p:spPr>
          <a:xfrm>
            <a:off x="2491740" y="3118103"/>
            <a:ext cx="1357884" cy="58521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18288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60" b="1" i="0">
                <a:solidFill>
                  <a:srgbClr val="11206D"/>
                </a:solidFill>
                <a:latin typeface="Space Grotesk"/>
              </a:rPr>
              <a:t>IGROOTCA-NSG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A637D"/>
                </a:solidFill>
                <a:latin typeface="Space Grotesk"/>
              </a:rPr>
              <a:t>SMB TCP 445 to *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922776" y="3291839"/>
            <a:ext cx="237744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C80019"/>
                </a:solidFill>
                <a:latin typeface="Space Grotesk"/>
              </a:rP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160520" y="3090672"/>
            <a:ext cx="1577340" cy="640080"/>
          </a:xfrm>
          <a:prstGeom prst="roundRect">
            <a:avLst>
              <a:gd name="adj" fmla="val 5000"/>
            </a:avLst>
          </a:prstGeom>
          <a:solidFill>
            <a:srgbClr val="FB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37" name="Rectangle 36"/>
          <p:cNvSpPr/>
          <p:nvPr/>
        </p:nvSpPr>
        <p:spPr>
          <a:xfrm>
            <a:off x="4160520" y="3118103"/>
            <a:ext cx="50292" cy="585215"/>
          </a:xfrm>
          <a:prstGeom prst="rect">
            <a:avLst/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38" name="Rectangle 37"/>
          <p:cNvSpPr/>
          <p:nvPr/>
        </p:nvSpPr>
        <p:spPr>
          <a:xfrm>
            <a:off x="4306824" y="3118103"/>
            <a:ext cx="1357884" cy="58521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18288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60" b="1" i="0">
                <a:solidFill>
                  <a:srgbClr val="11206D"/>
                </a:solidFill>
                <a:latin typeface="Space Grotesk"/>
              </a:rPr>
              <a:t>IGROOTCA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A637D"/>
                </a:solidFill>
                <a:latin typeface="Space Grotesk"/>
              </a:rPr>
              <a:t>Root CA-associated VM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737860" y="3291839"/>
            <a:ext cx="237744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C80019"/>
                </a:solidFill>
                <a:latin typeface="Space Grotesk"/>
              </a:rPr>
              <a:t>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75604" y="3090672"/>
            <a:ext cx="1577340" cy="640080"/>
          </a:xfrm>
          <a:prstGeom prst="roundRect">
            <a:avLst>
              <a:gd name="adj" fmla="val 5000"/>
            </a:avLst>
          </a:prstGeom>
          <a:solidFill>
            <a:srgbClr val="EC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41" name="Rectangle 40"/>
          <p:cNvSpPr/>
          <p:nvPr/>
        </p:nvSpPr>
        <p:spPr>
          <a:xfrm>
            <a:off x="5975604" y="3118103"/>
            <a:ext cx="50292" cy="585215"/>
          </a:xfrm>
          <a:prstGeom prst="rect">
            <a:avLst/>
          </a:prstGeom>
          <a:solidFill>
            <a:srgbClr val="4D4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42" name="Rectangle 41"/>
          <p:cNvSpPr/>
          <p:nvPr/>
        </p:nvSpPr>
        <p:spPr>
          <a:xfrm>
            <a:off x="6121908" y="3118103"/>
            <a:ext cx="1357884" cy="58521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18288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60" b="1" i="0">
                <a:solidFill>
                  <a:srgbClr val="11206D"/>
                </a:solidFill>
                <a:latin typeface="Space Grotesk"/>
              </a:rPr>
              <a:t>PKI and trust plane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A637D"/>
                </a:solidFill>
                <a:latin typeface="Space Grotesk"/>
              </a:rPr>
              <a:t>Certificates and signing trust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72400" y="3291839"/>
            <a:ext cx="841248" cy="237744"/>
          </a:xfrm>
          <a:prstGeom prst="roundRect">
            <a:avLst>
              <a:gd name="adj" fmla="val 50000"/>
            </a:avLst>
          </a:prstGeom>
          <a:solidFill>
            <a:srgbClr val="FB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36576" bIns="36576"/>
          <a:lstStyle/>
          <a:p>
            <a:pPr algn="ctr"/>
            <a:r>
              <a:rPr sz="700" b="1" i="0">
                <a:solidFill>
                  <a:srgbClr val="C80019"/>
                </a:solidFill>
                <a:latin typeface="Space Grotesk"/>
              </a:rPr>
              <a:t>CRITICAL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65760" y="3986784"/>
            <a:ext cx="8412480" cy="658368"/>
          </a:xfrm>
          <a:prstGeom prst="roundRect">
            <a:avLst>
              <a:gd name="adj" fmla="val 5000"/>
            </a:avLst>
          </a:prstGeom>
          <a:solidFill>
            <a:srgbClr val="FB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45" name="Oval 44"/>
          <p:cNvSpPr/>
          <p:nvPr/>
        </p:nvSpPr>
        <p:spPr>
          <a:xfrm>
            <a:off x="521208" y="4119372"/>
            <a:ext cx="100584" cy="100584"/>
          </a:xfrm>
          <a:prstGeom prst="ellipse">
            <a:avLst/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</a:p>
        </p:txBody>
      </p:sp>
      <p:sp>
        <p:nvSpPr>
          <p:cNvPr id="46" name="Rectangle 45"/>
          <p:cNvSpPr/>
          <p:nvPr/>
        </p:nvSpPr>
        <p:spPr>
          <a:xfrm>
            <a:off x="713232" y="4023360"/>
            <a:ext cx="7918704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73152" tIns="36576" bIns="36576"/>
          <a:lstStyle/>
          <a:p>
            <a:pPr algn="l"/>
            <a:r>
              <a:rPr sz="900" b="1" i="0">
                <a:solidFill>
                  <a:srgbClr val="11206D"/>
                </a:solidFill>
                <a:latin typeface="Space Grotesk"/>
              </a:rPr>
              <a:t>Security implication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13232" y="4242816"/>
            <a:ext cx="7918704" cy="35661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819" b="0" i="0">
                <a:solidFill>
                  <a:srgbClr val="5A637D"/>
                </a:solidFill>
                <a:latin typeface="Space Grotesk"/>
              </a:rPr>
              <a:t>The network path is explicitly confirmed to the named high-value systems, which raises blast radius. Treat these as connected exposures rather than isolated misconfigurations.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Space Grotesk"/>
              </a:rPr>
              <a:t>Secrets and Sensitive Data Attack Paths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68096"/>
            <a:ext cx="786384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50" b="1" i="0">
                <a:solidFill>
                  <a:srgbClr val="0046FF"/>
                </a:solidFill>
                <a:latin typeface="Space Grotesk"/>
              </a:rPr>
              <a:t>TC-03 AND TC-04 IN DETAIL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84124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19" b="0" i="0">
                <a:solidFill>
                  <a:srgbClr val="5A637D"/>
                </a:solidFill>
                <a:latin typeface="Space Grotesk"/>
              </a:rPr>
              <a:t>Public service endpoints combine with weak network isolation, encryption or logging controls.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4791456"/>
            <a:ext cx="841248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60" b="0" i="1">
                <a:solidFill>
                  <a:srgbClr val="5A637D"/>
                </a:solidFill>
                <a:latin typeface="Space Grotesk"/>
              </a:rPr>
              <a:t>Source: Cloud Findings, active and not ignored, Azure subscription scope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353312"/>
            <a:ext cx="4114800" cy="2834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7" name="Rounded Rectangle 6"/>
          <p:cNvSpPr/>
          <p:nvPr/>
        </p:nvSpPr>
        <p:spPr>
          <a:xfrm>
            <a:off x="530352" y="1481328"/>
            <a:ext cx="566928" cy="219456"/>
          </a:xfrm>
          <a:prstGeom prst="roundRect">
            <a:avLst>
              <a:gd name="adj" fmla="val 50000"/>
            </a:avLst>
          </a:prstGeom>
          <a:solidFill>
            <a:srgbClr val="EC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36576" bIns="36576"/>
          <a:lstStyle/>
          <a:p>
            <a:pPr algn="ctr"/>
            <a:r>
              <a:rPr sz="760" b="1" i="0">
                <a:solidFill>
                  <a:srgbClr val="4D4DD9"/>
                </a:solidFill>
                <a:latin typeface="Space Grotesk"/>
              </a:rPr>
              <a:t>TC-03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1463040"/>
            <a:ext cx="237744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73152" tIns="36576" bIns="36576"/>
          <a:lstStyle/>
          <a:p>
            <a:pPr algn="l"/>
            <a:r>
              <a:rPr sz="1100" b="1" i="0">
                <a:solidFill>
                  <a:srgbClr val="11206D"/>
                </a:solidFill>
                <a:latin typeface="Space Grotesk"/>
              </a:rPr>
              <a:t>KEYVAULT-CIAM-PRD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47872" y="1481328"/>
            <a:ext cx="768096" cy="219456"/>
          </a:xfrm>
          <a:prstGeom prst="roundRect">
            <a:avLst>
              <a:gd name="adj" fmla="val 50000"/>
            </a:avLst>
          </a:prstGeom>
          <a:solidFill>
            <a:srgbClr val="FB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36576" bIns="36576"/>
          <a:lstStyle/>
          <a:p>
            <a:pPr algn="ctr"/>
            <a:r>
              <a:rPr sz="700" b="1" i="0">
                <a:solidFill>
                  <a:srgbClr val="C80019"/>
                </a:solidFill>
                <a:latin typeface="Space Grotesk"/>
              </a:rPr>
              <a:t>CRITICAL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719072"/>
            <a:ext cx="3785615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720" b="1" i="0">
                <a:solidFill>
                  <a:srgbClr val="8A93A8"/>
                </a:solidFill>
                <a:latin typeface="Space Grotesk"/>
              </a:rPr>
              <a:t>KEY VAULT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975104"/>
            <a:ext cx="3785615" cy="438912"/>
          </a:xfrm>
          <a:prstGeom prst="roundRect">
            <a:avLst>
              <a:gd name="adj" fmla="val 4000"/>
            </a:avLst>
          </a:prstGeom>
          <a:solidFill>
            <a:srgbClr val="FB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12" name="Rectangle 11"/>
          <p:cNvSpPr/>
          <p:nvPr/>
        </p:nvSpPr>
        <p:spPr>
          <a:xfrm>
            <a:off x="576072" y="2002536"/>
            <a:ext cx="45720" cy="384048"/>
          </a:xfrm>
          <a:prstGeom prst="rect">
            <a:avLst/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13" name="Rectangle 12"/>
          <p:cNvSpPr/>
          <p:nvPr/>
        </p:nvSpPr>
        <p:spPr>
          <a:xfrm>
            <a:off x="713232" y="1984248"/>
            <a:ext cx="3529583" cy="42062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18288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60" b="1" i="0">
                <a:solidFill>
                  <a:srgbClr val="11206D"/>
                </a:solidFill>
                <a:latin typeface="Space Grotesk"/>
              </a:rPr>
              <a:t>Public Key Vault endpoint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5A637D"/>
                </a:solidFill>
                <a:latin typeface="Space Grotesk"/>
              </a:rPr>
              <a:t>Secrets, keys and certificates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" y="2450592"/>
            <a:ext cx="3785615" cy="438912"/>
          </a:xfrm>
          <a:prstGeom prst="roundRect">
            <a:avLst>
              <a:gd name="adj" fmla="val 4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15" name="Rectangle 14"/>
          <p:cNvSpPr/>
          <p:nvPr/>
        </p:nvSpPr>
        <p:spPr>
          <a:xfrm>
            <a:off x="576072" y="2478024"/>
            <a:ext cx="45720" cy="38404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16" name="Rectangle 15"/>
          <p:cNvSpPr/>
          <p:nvPr/>
        </p:nvSpPr>
        <p:spPr>
          <a:xfrm>
            <a:off x="713232" y="2459736"/>
            <a:ext cx="3529583" cy="42062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18288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60" b="1" i="0">
                <a:solidFill>
                  <a:srgbClr val="11206D"/>
                </a:solidFill>
                <a:latin typeface="Space Grotesk"/>
              </a:rPr>
              <a:t>No private endpoint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5A637D"/>
                </a:solidFill>
                <a:latin typeface="Space Grotesk"/>
              </a:rPr>
              <a:t>No private-only service path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" y="2926080"/>
            <a:ext cx="3785615" cy="438912"/>
          </a:xfrm>
          <a:prstGeom prst="roundRect">
            <a:avLst>
              <a:gd name="adj" fmla="val 4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18" name="Rectangle 17"/>
          <p:cNvSpPr/>
          <p:nvPr/>
        </p:nvSpPr>
        <p:spPr>
          <a:xfrm>
            <a:off x="576072" y="2953512"/>
            <a:ext cx="45720" cy="38404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19" name="Rectangle 18"/>
          <p:cNvSpPr/>
          <p:nvPr/>
        </p:nvSpPr>
        <p:spPr>
          <a:xfrm>
            <a:off x="713232" y="2935224"/>
            <a:ext cx="3529583" cy="42062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18288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60" b="1" i="0">
                <a:solidFill>
                  <a:srgbClr val="11206D"/>
                </a:solidFill>
                <a:latin typeface="Space Grotesk"/>
              </a:rPr>
              <a:t>Default access is all networks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5A637D"/>
                </a:solidFill>
                <a:latin typeface="Space Grotesk"/>
              </a:rPr>
              <a:t>Broad network reachability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0352" y="3401568"/>
            <a:ext cx="3785615" cy="438912"/>
          </a:xfrm>
          <a:prstGeom prst="roundRect">
            <a:avLst>
              <a:gd name="adj" fmla="val 4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21" name="Rectangle 20"/>
          <p:cNvSpPr/>
          <p:nvPr/>
        </p:nvSpPr>
        <p:spPr>
          <a:xfrm>
            <a:off x="576072" y="3429000"/>
            <a:ext cx="45720" cy="38404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22" name="Rectangle 21"/>
          <p:cNvSpPr/>
          <p:nvPr/>
        </p:nvSpPr>
        <p:spPr>
          <a:xfrm>
            <a:off x="713232" y="3410712"/>
            <a:ext cx="3529583" cy="42062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18288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60" b="1" i="0">
                <a:solidFill>
                  <a:srgbClr val="11206D"/>
                </a:solidFill>
                <a:latin typeface="Space Grotesk"/>
              </a:rPr>
              <a:t>Logging gap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5A637D"/>
                </a:solidFill>
                <a:latin typeface="Space Grotesk"/>
              </a:rPr>
              <a:t>Key Vault Log Analytics is not enabled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0352" y="3913632"/>
            <a:ext cx="3785615" cy="219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73152" tIns="36576" bIns="36576"/>
          <a:lstStyle/>
          <a:p>
            <a:pPr algn="l"/>
            <a:r>
              <a:rPr sz="760" b="1" i="0">
                <a:solidFill>
                  <a:srgbClr val="C80019"/>
                </a:solidFill>
                <a:latin typeface="Space Grotesk"/>
              </a:rPr>
              <a:t>Potential impact: Reduced detection, plus secret exposure risk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63440" y="1353312"/>
            <a:ext cx="4114800" cy="2834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25" name="Rounded Rectangle 24"/>
          <p:cNvSpPr/>
          <p:nvPr/>
        </p:nvSpPr>
        <p:spPr>
          <a:xfrm>
            <a:off x="4828032" y="1481328"/>
            <a:ext cx="566928" cy="219456"/>
          </a:xfrm>
          <a:prstGeom prst="roundRect">
            <a:avLst>
              <a:gd name="adj" fmla="val 50000"/>
            </a:avLst>
          </a:prstGeom>
          <a:solidFill>
            <a:srgbClr val="EC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36576" bIns="36576"/>
          <a:lstStyle/>
          <a:p>
            <a:pPr algn="ctr"/>
            <a:r>
              <a:rPr sz="760" b="1" i="0">
                <a:solidFill>
                  <a:srgbClr val="4D4DD9"/>
                </a:solidFill>
                <a:latin typeface="Space Grotesk"/>
              </a:rPr>
              <a:t>TC-04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0" y="1463040"/>
            <a:ext cx="237744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73152" tIns="36576" bIns="36576"/>
          <a:lstStyle/>
          <a:p>
            <a:pPr algn="l"/>
            <a:r>
              <a:rPr sz="1100" b="1" i="0">
                <a:solidFill>
                  <a:srgbClr val="11206D"/>
                </a:solidFill>
                <a:latin typeface="Space Grotesk"/>
              </a:rPr>
              <a:t>medical-records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45552" y="1481328"/>
            <a:ext cx="768096" cy="219456"/>
          </a:xfrm>
          <a:prstGeom prst="roundRect">
            <a:avLst>
              <a:gd name="adj" fmla="val 50000"/>
            </a:avLst>
          </a:prstGeom>
          <a:solidFill>
            <a:srgbClr val="FB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36576" bIns="36576"/>
          <a:lstStyle/>
          <a:p>
            <a:pPr algn="ctr"/>
            <a:r>
              <a:rPr sz="700" b="1" i="0">
                <a:solidFill>
                  <a:srgbClr val="C80019"/>
                </a:solidFill>
                <a:latin typeface="Space Grotesk"/>
              </a:rPr>
              <a:t>CRITICAL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28032" y="1719072"/>
            <a:ext cx="3785615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720" b="1" i="0">
                <a:solidFill>
                  <a:srgbClr val="8A93A8"/>
                </a:solidFill>
                <a:latin typeface="Space Grotesk"/>
              </a:rPr>
              <a:t>STORAGE CONTAINER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28032" y="1975104"/>
            <a:ext cx="3785615" cy="438912"/>
          </a:xfrm>
          <a:prstGeom prst="roundRect">
            <a:avLst>
              <a:gd name="adj" fmla="val 4000"/>
            </a:avLst>
          </a:prstGeom>
          <a:solidFill>
            <a:srgbClr val="FB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30" name="Rectangle 29"/>
          <p:cNvSpPr/>
          <p:nvPr/>
        </p:nvSpPr>
        <p:spPr>
          <a:xfrm>
            <a:off x="4873752" y="2002536"/>
            <a:ext cx="45720" cy="384048"/>
          </a:xfrm>
          <a:prstGeom prst="rect">
            <a:avLst/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31" name="Rectangle 30"/>
          <p:cNvSpPr/>
          <p:nvPr/>
        </p:nvSpPr>
        <p:spPr>
          <a:xfrm>
            <a:off x="5010912" y="1984248"/>
            <a:ext cx="3529583" cy="42062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18288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60" b="1" i="0">
                <a:solidFill>
                  <a:srgbClr val="11206D"/>
                </a:solidFill>
                <a:latin typeface="Space Grotesk"/>
              </a:rPr>
              <a:t>Public blob container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5A637D"/>
                </a:solidFill>
                <a:latin typeface="Space Grotesk"/>
              </a:rPr>
              <a:t>Reachable object data named medical-records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828032" y="2450592"/>
            <a:ext cx="3785615" cy="438912"/>
          </a:xfrm>
          <a:prstGeom prst="roundRect">
            <a:avLst>
              <a:gd name="adj" fmla="val 4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33" name="Rectangle 32"/>
          <p:cNvSpPr/>
          <p:nvPr/>
        </p:nvSpPr>
        <p:spPr>
          <a:xfrm>
            <a:off x="4873752" y="2478024"/>
            <a:ext cx="45720" cy="38404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34" name="Rectangle 33"/>
          <p:cNvSpPr/>
          <p:nvPr/>
        </p:nvSpPr>
        <p:spPr>
          <a:xfrm>
            <a:off x="5010912" y="2459736"/>
            <a:ext cx="3529583" cy="42062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18288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60" b="1" i="0">
                <a:solidFill>
                  <a:srgbClr val="11206D"/>
                </a:solidFill>
                <a:latin typeface="Space Grotesk"/>
              </a:rPr>
              <a:t>No CMK control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5A637D"/>
                </a:solidFill>
                <a:latin typeface="Space Grotesk"/>
              </a:rPr>
              <a:t>Customer-managed key is absent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828032" y="2926080"/>
            <a:ext cx="3785615" cy="438912"/>
          </a:xfrm>
          <a:prstGeom prst="roundRect">
            <a:avLst>
              <a:gd name="adj" fmla="val 4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36" name="Rectangle 35"/>
          <p:cNvSpPr/>
          <p:nvPr/>
        </p:nvSpPr>
        <p:spPr>
          <a:xfrm>
            <a:off x="4873752" y="2953512"/>
            <a:ext cx="45720" cy="38404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37" name="Rectangle 36"/>
          <p:cNvSpPr/>
          <p:nvPr/>
        </p:nvSpPr>
        <p:spPr>
          <a:xfrm>
            <a:off x="5010912" y="2935224"/>
            <a:ext cx="3529583" cy="42062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18288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60" b="1" i="0">
                <a:solidFill>
                  <a:srgbClr val="11206D"/>
                </a:solidFill>
                <a:latin typeface="Space Grotesk"/>
              </a:rPr>
              <a:t>Sensitive-data context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5A637D"/>
                </a:solidFill>
                <a:latin typeface="Space Grotesk"/>
              </a:rPr>
              <a:t>Asset naming implies high sensitivity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828032" y="3401568"/>
            <a:ext cx="3785615" cy="438912"/>
          </a:xfrm>
          <a:prstGeom prst="roundRect">
            <a:avLst>
              <a:gd name="adj" fmla="val 4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39" name="Rectangle 38"/>
          <p:cNvSpPr/>
          <p:nvPr/>
        </p:nvSpPr>
        <p:spPr>
          <a:xfrm>
            <a:off x="4873752" y="3429000"/>
            <a:ext cx="45720" cy="38404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40" name="Rectangle 39"/>
          <p:cNvSpPr/>
          <p:nvPr/>
        </p:nvSpPr>
        <p:spPr>
          <a:xfrm>
            <a:off x="5010912" y="3410712"/>
            <a:ext cx="3529583" cy="42062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18288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60" b="1" i="0">
                <a:solidFill>
                  <a:srgbClr val="11206D"/>
                </a:solidFill>
                <a:latin typeface="Space Grotesk"/>
              </a:rPr>
              <a:t>Public exposure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5A637D"/>
                </a:solidFill>
                <a:latin typeface="Space Grotesk"/>
              </a:rPr>
              <a:t>Internet-accessible object data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828032" y="3913632"/>
            <a:ext cx="3785615" cy="219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73152" tIns="36576" bIns="36576"/>
          <a:lstStyle/>
          <a:p>
            <a:pPr algn="l"/>
            <a:r>
              <a:rPr sz="760" b="1" i="0">
                <a:solidFill>
                  <a:srgbClr val="C80019"/>
                </a:solidFill>
                <a:latin typeface="Space Grotesk"/>
              </a:rPr>
              <a:t>Potential impact: Data exposure, plus weaker key governance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Space Grotesk"/>
              </a:rPr>
              <a:t>Risk Concentration by Subscription and Region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68096"/>
            <a:ext cx="786384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50" b="1" i="0">
                <a:solidFill>
                  <a:srgbClr val="0046FF"/>
                </a:solidFill>
                <a:latin typeface="Space Grotesk"/>
              </a:rPr>
              <a:t>WHERE TO SEND THE EFFORT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84124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19" b="0" i="0">
                <a:solidFill>
                  <a:srgbClr val="5A637D"/>
                </a:solidFill>
                <a:latin typeface="Space Grotesk"/>
              </a:rPr>
              <a:t>A small subset of subscriptions, and Central India, account for most of the observed CSPM risk.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4791456"/>
            <a:ext cx="841248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60" b="0" i="1">
                <a:solidFill>
                  <a:srgbClr val="5A637D"/>
                </a:solidFill>
                <a:latin typeface="Space Grotesk"/>
              </a:rPr>
              <a:t>Source: Cloud Findings, active and not ignored, Azure subscription scope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353312"/>
            <a:ext cx="4114800" cy="243230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7" name="Rectangle 6"/>
          <p:cNvSpPr/>
          <p:nvPr/>
        </p:nvSpPr>
        <p:spPr>
          <a:xfrm>
            <a:off x="548640" y="1435608"/>
            <a:ext cx="3749039" cy="219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800" b="1" i="0">
                <a:solidFill>
                  <a:srgbClr val="8A93A8"/>
                </a:solidFill>
                <a:latin typeface="Space Grotesk"/>
              </a:rPr>
              <a:t>TOP SUBSCRIPTIONS BY HIGH FINDINGS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737360"/>
            <a:ext cx="132588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576" tIns="36576" bIns="36576"/>
          <a:lstStyle/>
          <a:p>
            <a:pPr algn="l"/>
            <a:r>
              <a:rPr sz="800" b="0" i="0">
                <a:solidFill>
                  <a:srgbClr val="11206D"/>
                </a:solidFill>
                <a:latin typeface="Space Grotesk"/>
              </a:rPr>
              <a:t>9bc57f1e...154a48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29384" y="1812798"/>
            <a:ext cx="1746503" cy="105156"/>
          </a:xfrm>
          <a:prstGeom prst="roundRect">
            <a:avLst>
              <a:gd name="adj" fmla="val 50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10" name="Rounded Rectangle 9"/>
          <p:cNvSpPr/>
          <p:nvPr/>
        </p:nvSpPr>
        <p:spPr>
          <a:xfrm>
            <a:off x="1929384" y="1812798"/>
            <a:ext cx="1746503" cy="105156"/>
          </a:xfrm>
          <a:prstGeom prst="roundRect">
            <a:avLst>
              <a:gd name="adj" fmla="val 50000"/>
            </a:avLst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11" name="Rectangle 10"/>
          <p:cNvSpPr/>
          <p:nvPr/>
        </p:nvSpPr>
        <p:spPr>
          <a:xfrm>
            <a:off x="3749039" y="1737360"/>
            <a:ext cx="566928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r"/>
            <a:r>
              <a:rPr sz="819" b="1" i="0">
                <a:solidFill>
                  <a:srgbClr val="11206D"/>
                </a:solidFill>
                <a:latin typeface="Space Grotesk"/>
              </a:rPr>
              <a:t>2,782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" y="2039112"/>
            <a:ext cx="132588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576" tIns="36576" bIns="36576"/>
          <a:lstStyle/>
          <a:p>
            <a:pPr algn="l"/>
            <a:r>
              <a:rPr sz="800" b="0" i="0">
                <a:solidFill>
                  <a:srgbClr val="11206D"/>
                </a:solidFill>
                <a:latin typeface="Space Grotesk"/>
              </a:rPr>
              <a:t>732df2de...febec5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29384" y="2114550"/>
            <a:ext cx="1746503" cy="105156"/>
          </a:xfrm>
          <a:prstGeom prst="roundRect">
            <a:avLst>
              <a:gd name="adj" fmla="val 50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14" name="Rounded Rectangle 13"/>
          <p:cNvSpPr/>
          <p:nvPr/>
        </p:nvSpPr>
        <p:spPr>
          <a:xfrm>
            <a:off x="1929384" y="2114550"/>
            <a:ext cx="742672" cy="105156"/>
          </a:xfrm>
          <a:prstGeom prst="roundRect">
            <a:avLst>
              <a:gd name="adj" fmla="val 50000"/>
            </a:avLst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15" name="Rectangle 14"/>
          <p:cNvSpPr/>
          <p:nvPr/>
        </p:nvSpPr>
        <p:spPr>
          <a:xfrm>
            <a:off x="3749039" y="2039112"/>
            <a:ext cx="566928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r"/>
            <a:r>
              <a:rPr sz="819" b="1" i="0">
                <a:solidFill>
                  <a:srgbClr val="11206D"/>
                </a:solidFill>
                <a:latin typeface="Space Grotesk"/>
              </a:rPr>
              <a:t>1,183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2340864"/>
            <a:ext cx="132588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576" tIns="36576" bIns="36576"/>
          <a:lstStyle/>
          <a:p>
            <a:pPr algn="l"/>
            <a:r>
              <a:rPr sz="800" b="0" i="0">
                <a:solidFill>
                  <a:srgbClr val="11206D"/>
                </a:solidFill>
                <a:latin typeface="Space Grotesk"/>
              </a:rPr>
              <a:t>f6941c4a...be380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29384" y="2416302"/>
            <a:ext cx="1746503" cy="105156"/>
          </a:xfrm>
          <a:prstGeom prst="roundRect">
            <a:avLst>
              <a:gd name="adj" fmla="val 50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18" name="Rounded Rectangle 17"/>
          <p:cNvSpPr/>
          <p:nvPr/>
        </p:nvSpPr>
        <p:spPr>
          <a:xfrm>
            <a:off x="1929384" y="2416302"/>
            <a:ext cx="597653" cy="105156"/>
          </a:xfrm>
          <a:prstGeom prst="roundRect">
            <a:avLst>
              <a:gd name="adj" fmla="val 50000"/>
            </a:avLst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19" name="Rectangle 18"/>
          <p:cNvSpPr/>
          <p:nvPr/>
        </p:nvSpPr>
        <p:spPr>
          <a:xfrm>
            <a:off x="3749039" y="2340864"/>
            <a:ext cx="566928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r"/>
            <a:r>
              <a:rPr sz="819" b="1" i="0">
                <a:solidFill>
                  <a:srgbClr val="11206D"/>
                </a:solidFill>
                <a:latin typeface="Space Grotesk"/>
              </a:rPr>
              <a:t>952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352" y="2642615"/>
            <a:ext cx="132588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576" tIns="36576" bIns="36576"/>
          <a:lstStyle/>
          <a:p>
            <a:pPr algn="l"/>
            <a:r>
              <a:rPr sz="800" b="0" i="0">
                <a:solidFill>
                  <a:srgbClr val="11206D"/>
                </a:solidFill>
                <a:latin typeface="Space Grotesk"/>
              </a:rPr>
              <a:t>26da838f...1d873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929384" y="2718053"/>
            <a:ext cx="1746503" cy="105156"/>
          </a:xfrm>
          <a:prstGeom prst="roundRect">
            <a:avLst>
              <a:gd name="adj" fmla="val 50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22" name="Rounded Rectangle 21"/>
          <p:cNvSpPr/>
          <p:nvPr/>
        </p:nvSpPr>
        <p:spPr>
          <a:xfrm>
            <a:off x="1929384" y="2718053"/>
            <a:ext cx="497835" cy="105156"/>
          </a:xfrm>
          <a:prstGeom prst="roundRect">
            <a:avLst>
              <a:gd name="adj" fmla="val 50000"/>
            </a:avLst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23" name="Rectangle 22"/>
          <p:cNvSpPr/>
          <p:nvPr/>
        </p:nvSpPr>
        <p:spPr>
          <a:xfrm>
            <a:off x="3749039" y="2642615"/>
            <a:ext cx="566928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r"/>
            <a:r>
              <a:rPr sz="819" b="1" i="0">
                <a:solidFill>
                  <a:srgbClr val="11206D"/>
                </a:solidFill>
                <a:latin typeface="Space Grotesk"/>
              </a:rPr>
              <a:t>793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0352" y="2944368"/>
            <a:ext cx="132588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576" tIns="36576" bIns="36576"/>
          <a:lstStyle/>
          <a:p>
            <a:pPr algn="l"/>
            <a:r>
              <a:rPr sz="800" b="0" i="0">
                <a:solidFill>
                  <a:srgbClr val="11206D"/>
                </a:solidFill>
                <a:latin typeface="Space Grotesk"/>
              </a:rPr>
              <a:t>d2ac0e93...9576d3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929384" y="3019806"/>
            <a:ext cx="1746503" cy="105156"/>
          </a:xfrm>
          <a:prstGeom prst="roundRect">
            <a:avLst>
              <a:gd name="adj" fmla="val 50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26" name="Rounded Rectangle 25"/>
          <p:cNvSpPr/>
          <p:nvPr/>
        </p:nvSpPr>
        <p:spPr>
          <a:xfrm>
            <a:off x="1929384" y="3019806"/>
            <a:ext cx="435056" cy="105156"/>
          </a:xfrm>
          <a:prstGeom prst="roundRect">
            <a:avLst>
              <a:gd name="adj" fmla="val 50000"/>
            </a:avLst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27" name="Rectangle 26"/>
          <p:cNvSpPr/>
          <p:nvPr/>
        </p:nvSpPr>
        <p:spPr>
          <a:xfrm>
            <a:off x="3749039" y="2944368"/>
            <a:ext cx="566928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r"/>
            <a:r>
              <a:rPr sz="819" b="1" i="0">
                <a:solidFill>
                  <a:srgbClr val="11206D"/>
                </a:solidFill>
                <a:latin typeface="Space Grotesk"/>
              </a:rPr>
              <a:t>693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0352" y="3310128"/>
            <a:ext cx="3785615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73152" tIns="36576" bIns="36576"/>
          <a:lstStyle/>
          <a:p>
            <a:pPr algn="l"/>
            <a:r>
              <a:rPr sz="800" b="0" i="1">
                <a:solidFill>
                  <a:srgbClr val="5A637D"/>
                </a:solidFill>
                <a:latin typeface="Space Grotesk"/>
              </a:rPr>
              <a:t>Top account: 2,782 High findings and 7,065 total active findings.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63440" y="1353312"/>
            <a:ext cx="4114800" cy="243230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30" name="Rectangle 29"/>
          <p:cNvSpPr/>
          <p:nvPr/>
        </p:nvSpPr>
        <p:spPr>
          <a:xfrm>
            <a:off x="4846320" y="1435608"/>
            <a:ext cx="3749039" cy="219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800" b="1" i="0">
                <a:solidFill>
                  <a:srgbClr val="8A93A8"/>
                </a:solidFill>
                <a:latin typeface="Space Grotesk"/>
              </a:rPr>
              <a:t>FINDINGS BY REGION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28032" y="1719072"/>
            <a:ext cx="118872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576" tIns="36576" bIns="36576"/>
          <a:lstStyle/>
          <a:p>
            <a:pPr algn="l"/>
            <a:r>
              <a:rPr sz="800" b="0" i="0">
                <a:solidFill>
                  <a:srgbClr val="11206D"/>
                </a:solidFill>
                <a:latin typeface="Space Grotesk"/>
              </a:rPr>
              <a:t>centralindia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89904" y="1794510"/>
            <a:ext cx="1792224" cy="105156"/>
          </a:xfrm>
          <a:prstGeom prst="roundRect">
            <a:avLst>
              <a:gd name="adj" fmla="val 50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33" name="Rounded Rectangle 32"/>
          <p:cNvSpPr/>
          <p:nvPr/>
        </p:nvSpPr>
        <p:spPr>
          <a:xfrm>
            <a:off x="6089904" y="1794510"/>
            <a:ext cx="1792224" cy="105156"/>
          </a:xfrm>
          <a:prstGeom prst="roundRect">
            <a:avLst>
              <a:gd name="adj" fmla="val 50000"/>
            </a:avLst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34" name="Rectangle 33"/>
          <p:cNvSpPr/>
          <p:nvPr/>
        </p:nvSpPr>
        <p:spPr>
          <a:xfrm>
            <a:off x="7955279" y="1719072"/>
            <a:ext cx="658368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r"/>
            <a:r>
              <a:rPr sz="819" b="1" i="0">
                <a:solidFill>
                  <a:srgbClr val="11206D"/>
                </a:solidFill>
                <a:latin typeface="Space Grotesk"/>
              </a:rPr>
              <a:t>27,526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28032" y="1993391"/>
            <a:ext cx="118872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576" tIns="36576" bIns="36576"/>
          <a:lstStyle/>
          <a:p>
            <a:pPr algn="l"/>
            <a:r>
              <a:rPr sz="800" b="0" i="0">
                <a:solidFill>
                  <a:srgbClr val="11206D"/>
                </a:solidFill>
                <a:latin typeface="Space Grotesk"/>
              </a:rPr>
              <a:t>southindia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89904" y="2068829"/>
            <a:ext cx="1792224" cy="105156"/>
          </a:xfrm>
          <a:prstGeom prst="roundRect">
            <a:avLst>
              <a:gd name="adj" fmla="val 50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37" name="Rounded Rectangle 36"/>
          <p:cNvSpPr/>
          <p:nvPr/>
        </p:nvSpPr>
        <p:spPr>
          <a:xfrm>
            <a:off x="6089904" y="2068829"/>
            <a:ext cx="197609" cy="105156"/>
          </a:xfrm>
          <a:prstGeom prst="roundRect">
            <a:avLst>
              <a:gd name="adj" fmla="val 50000"/>
            </a:avLst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38" name="Rectangle 37"/>
          <p:cNvSpPr/>
          <p:nvPr/>
        </p:nvSpPr>
        <p:spPr>
          <a:xfrm>
            <a:off x="7955279" y="1993391"/>
            <a:ext cx="658368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r"/>
            <a:r>
              <a:rPr sz="819" b="1" i="0">
                <a:solidFill>
                  <a:srgbClr val="11206D"/>
                </a:solidFill>
                <a:latin typeface="Space Grotesk"/>
              </a:rPr>
              <a:t>3,035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828032" y="2267712"/>
            <a:ext cx="118872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576" tIns="36576" bIns="36576"/>
          <a:lstStyle/>
          <a:p>
            <a:pPr algn="l"/>
            <a:r>
              <a:rPr sz="800" b="0" i="0">
                <a:solidFill>
                  <a:srgbClr val="11206D"/>
                </a:solidFill>
                <a:latin typeface="Space Grotesk"/>
              </a:rPr>
              <a:t>global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089904" y="2343150"/>
            <a:ext cx="1792224" cy="105156"/>
          </a:xfrm>
          <a:prstGeom prst="roundRect">
            <a:avLst>
              <a:gd name="adj" fmla="val 50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41" name="Rounded Rectangle 40"/>
          <p:cNvSpPr/>
          <p:nvPr/>
        </p:nvSpPr>
        <p:spPr>
          <a:xfrm>
            <a:off x="6089904" y="2343150"/>
            <a:ext cx="64008" cy="105156"/>
          </a:xfrm>
          <a:prstGeom prst="roundRect">
            <a:avLst>
              <a:gd name="adj" fmla="val 50000"/>
            </a:avLst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42" name="Rectangle 41"/>
          <p:cNvSpPr/>
          <p:nvPr/>
        </p:nvSpPr>
        <p:spPr>
          <a:xfrm>
            <a:off x="7955279" y="2267712"/>
            <a:ext cx="658368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r"/>
            <a:r>
              <a:rPr sz="819" b="1" i="0">
                <a:solidFill>
                  <a:srgbClr val="11206D"/>
                </a:solidFill>
                <a:latin typeface="Space Grotesk"/>
              </a:rPr>
              <a:t>367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828032" y="2542032"/>
            <a:ext cx="118872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576" tIns="36576" bIns="36576"/>
          <a:lstStyle/>
          <a:p>
            <a:pPr algn="l"/>
            <a:r>
              <a:rPr sz="800" b="0" i="0">
                <a:solidFill>
                  <a:srgbClr val="11206D"/>
                </a:solidFill>
                <a:latin typeface="Space Grotesk"/>
              </a:rPr>
              <a:t>eastus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089904" y="2617470"/>
            <a:ext cx="1792224" cy="105156"/>
          </a:xfrm>
          <a:prstGeom prst="roundRect">
            <a:avLst>
              <a:gd name="adj" fmla="val 50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45" name="Rounded Rectangle 44"/>
          <p:cNvSpPr/>
          <p:nvPr/>
        </p:nvSpPr>
        <p:spPr>
          <a:xfrm>
            <a:off x="6089904" y="2617470"/>
            <a:ext cx="64008" cy="105156"/>
          </a:xfrm>
          <a:prstGeom prst="roundRect">
            <a:avLst>
              <a:gd name="adj" fmla="val 50000"/>
            </a:avLst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46" name="Rectangle 45"/>
          <p:cNvSpPr/>
          <p:nvPr/>
        </p:nvSpPr>
        <p:spPr>
          <a:xfrm>
            <a:off x="7955279" y="2542032"/>
            <a:ext cx="658368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r"/>
            <a:r>
              <a:rPr sz="819" b="1" i="0">
                <a:solidFill>
                  <a:srgbClr val="11206D"/>
                </a:solidFill>
                <a:latin typeface="Space Grotesk"/>
              </a:rPr>
              <a:t>220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828032" y="2816352"/>
            <a:ext cx="118872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576" tIns="36576" bIns="36576"/>
          <a:lstStyle/>
          <a:p>
            <a:pPr algn="l"/>
            <a:r>
              <a:rPr sz="800" b="0" i="0">
                <a:solidFill>
                  <a:srgbClr val="11206D"/>
                </a:solidFill>
                <a:latin typeface="Space Grotesk"/>
              </a:rPr>
              <a:t>eastus2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089904" y="2891790"/>
            <a:ext cx="1792224" cy="105156"/>
          </a:xfrm>
          <a:prstGeom prst="roundRect">
            <a:avLst>
              <a:gd name="adj" fmla="val 50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49" name="Rounded Rectangle 48"/>
          <p:cNvSpPr/>
          <p:nvPr/>
        </p:nvSpPr>
        <p:spPr>
          <a:xfrm>
            <a:off x="6089904" y="2891790"/>
            <a:ext cx="64008" cy="105156"/>
          </a:xfrm>
          <a:prstGeom prst="roundRect">
            <a:avLst>
              <a:gd name="adj" fmla="val 50000"/>
            </a:avLst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50" name="Rectangle 49"/>
          <p:cNvSpPr/>
          <p:nvPr/>
        </p:nvSpPr>
        <p:spPr>
          <a:xfrm>
            <a:off x="7955279" y="2816352"/>
            <a:ext cx="658368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r"/>
            <a:r>
              <a:rPr sz="819" b="1" i="0">
                <a:solidFill>
                  <a:srgbClr val="11206D"/>
                </a:solidFill>
                <a:latin typeface="Space Grotesk"/>
              </a:rPr>
              <a:t>126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828032" y="3090672"/>
            <a:ext cx="118872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576" tIns="36576" bIns="36576"/>
          <a:lstStyle/>
          <a:p>
            <a:pPr algn="l"/>
            <a:r>
              <a:rPr sz="800" b="0" i="0">
                <a:solidFill>
                  <a:srgbClr val="11206D"/>
                </a:solidFill>
                <a:latin typeface="Space Grotesk"/>
              </a:rPr>
              <a:t>swedencentral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089904" y="3166110"/>
            <a:ext cx="1792224" cy="105156"/>
          </a:xfrm>
          <a:prstGeom prst="roundRect">
            <a:avLst>
              <a:gd name="adj" fmla="val 50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53" name="Rounded Rectangle 52"/>
          <p:cNvSpPr/>
          <p:nvPr/>
        </p:nvSpPr>
        <p:spPr>
          <a:xfrm>
            <a:off x="6089904" y="3166110"/>
            <a:ext cx="64008" cy="105156"/>
          </a:xfrm>
          <a:prstGeom prst="roundRect">
            <a:avLst>
              <a:gd name="adj" fmla="val 50000"/>
            </a:avLst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54" name="Rectangle 53"/>
          <p:cNvSpPr/>
          <p:nvPr/>
        </p:nvSpPr>
        <p:spPr>
          <a:xfrm>
            <a:off x="7955279" y="3090672"/>
            <a:ext cx="658368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r"/>
            <a:r>
              <a:rPr sz="819" b="1" i="0">
                <a:solidFill>
                  <a:srgbClr val="11206D"/>
                </a:solidFill>
                <a:latin typeface="Space Grotesk"/>
              </a:rPr>
              <a:t>81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65760" y="3877056"/>
            <a:ext cx="8412480" cy="768096"/>
          </a:xfrm>
          <a:prstGeom prst="roundRect">
            <a:avLst>
              <a:gd name="adj" fmla="val 5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56" name="Oval 55"/>
          <p:cNvSpPr/>
          <p:nvPr/>
        </p:nvSpPr>
        <p:spPr>
          <a:xfrm>
            <a:off x="521208" y="4009644"/>
            <a:ext cx="100584" cy="100584"/>
          </a:xfrm>
          <a:prstGeom prst="ellipse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</a:p>
        </p:txBody>
      </p:sp>
      <p:sp>
        <p:nvSpPr>
          <p:cNvPr id="57" name="Rectangle 56"/>
          <p:cNvSpPr/>
          <p:nvPr/>
        </p:nvSpPr>
        <p:spPr>
          <a:xfrm>
            <a:off x="713232" y="3913632"/>
            <a:ext cx="7918704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73152" tIns="36576" bIns="36576"/>
          <a:lstStyle/>
          <a:p>
            <a:pPr algn="l"/>
            <a:r>
              <a:rPr sz="900" b="1" i="0">
                <a:solidFill>
                  <a:srgbClr val="11206D"/>
                </a:solidFill>
                <a:latin typeface="Space Grotesk"/>
              </a:rPr>
              <a:t>Regional hotspot and ranking rule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13232" y="4133088"/>
            <a:ext cx="7918704" cy="4663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819" b="0" i="0">
                <a:solidFill>
                  <a:srgbClr val="5A637D"/>
                </a:solidFill>
                <a:latin typeface="Space Grotesk"/>
              </a:rPr>
              <a:t>Central India carries 27,526 total findings and 9,105 High findings, which makes it the primary remediation domain. Pair account volume with toxic-combination context. A lower-volume account can still outrank a larger one when it holds exposed crown-jewel assets.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Space Grotesk"/>
              </a:rPr>
              <a:t>Compliance Impact and Remediation Priorities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68096"/>
            <a:ext cx="786384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50" b="1" i="0">
                <a:solidFill>
                  <a:srgbClr val="0046FF"/>
                </a:solidFill>
                <a:latin typeface="Space Grotesk"/>
              </a:rPr>
              <a:t>FAILED MAPPINGS AND THE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84124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19" b="0" i="0">
                <a:solidFill>
                  <a:srgbClr val="5A637D"/>
                </a:solidFill>
                <a:latin typeface="Space Grotesk"/>
              </a:rPr>
              <a:t>Failed framework mappings show the control themes. Remediation is ranked by attack-path impact rather than mapping volume.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4791456"/>
            <a:ext cx="841248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60" b="0" i="1">
                <a:solidFill>
                  <a:srgbClr val="5A637D"/>
                </a:solidFill>
                <a:latin typeface="Space Grotesk"/>
              </a:rPr>
              <a:t>Source: Cloud Findings, active and not ignored, Azure subscription scope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353312"/>
            <a:ext cx="3931920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7" name="Rectangle 6"/>
          <p:cNvSpPr/>
          <p:nvPr/>
        </p:nvSpPr>
        <p:spPr>
          <a:xfrm>
            <a:off x="548640" y="1435608"/>
            <a:ext cx="3566160" cy="219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800" b="1" i="0">
                <a:solidFill>
                  <a:srgbClr val="8A93A8"/>
                </a:solidFill>
                <a:latin typeface="Space Grotesk"/>
              </a:rPr>
              <a:t>TOP FAILED COMPLIANCE MAPPINGS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719072"/>
            <a:ext cx="2944368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576" tIns="36576" bIns="36576"/>
          <a:lstStyle/>
          <a:p>
            <a:pPr algn="l"/>
            <a:r>
              <a:rPr sz="819" b="0" i="0">
                <a:solidFill>
                  <a:srgbClr val="11206D"/>
                </a:solidFill>
                <a:latin typeface="Space Grotesk"/>
              </a:rPr>
              <a:t>DPDP Act India + RBI CSF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1719072"/>
            <a:ext cx="658368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r"/>
            <a:r>
              <a:rPr sz="819" b="1" i="0">
                <a:solidFill>
                  <a:srgbClr val="11206D"/>
                </a:solidFill>
                <a:latin typeface="Space Grotesk"/>
              </a:rPr>
              <a:t>6,264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1911095"/>
            <a:ext cx="3602736" cy="105156"/>
          </a:xfrm>
          <a:prstGeom prst="roundRect">
            <a:avLst>
              <a:gd name="adj" fmla="val 50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11" name="Rounded Rectangle 10"/>
          <p:cNvSpPr/>
          <p:nvPr/>
        </p:nvSpPr>
        <p:spPr>
          <a:xfrm>
            <a:off x="530352" y="1911095"/>
            <a:ext cx="3602736" cy="105156"/>
          </a:xfrm>
          <a:prstGeom prst="roundRect">
            <a:avLst>
              <a:gd name="adj" fmla="val 50000"/>
            </a:avLst>
          </a:prstGeom>
          <a:solidFill>
            <a:srgbClr val="4D4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12" name="Rectangle 11"/>
          <p:cNvSpPr/>
          <p:nvPr/>
        </p:nvSpPr>
        <p:spPr>
          <a:xfrm>
            <a:off x="530352" y="2121408"/>
            <a:ext cx="2944368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576" tIns="36576" bIns="36576"/>
          <a:lstStyle/>
          <a:p>
            <a:pPr algn="l"/>
            <a:r>
              <a:rPr sz="819" b="0" i="0">
                <a:solidFill>
                  <a:srgbClr val="11206D"/>
                </a:solidFill>
                <a:latin typeface="Space Grotesk"/>
              </a:rPr>
              <a:t>RBI IT Framework + RBI CSF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2121408"/>
            <a:ext cx="658368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r"/>
            <a:r>
              <a:rPr sz="819" b="1" i="0">
                <a:solidFill>
                  <a:srgbClr val="11206D"/>
                </a:solidFill>
                <a:latin typeface="Space Grotesk"/>
              </a:rPr>
              <a:t>4,062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" y="2313432"/>
            <a:ext cx="3602736" cy="105156"/>
          </a:xfrm>
          <a:prstGeom prst="roundRect">
            <a:avLst>
              <a:gd name="adj" fmla="val 50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15" name="Rounded Rectangle 14"/>
          <p:cNvSpPr/>
          <p:nvPr/>
        </p:nvSpPr>
        <p:spPr>
          <a:xfrm>
            <a:off x="530352" y="2313432"/>
            <a:ext cx="2336256" cy="105156"/>
          </a:xfrm>
          <a:prstGeom prst="roundRect">
            <a:avLst>
              <a:gd name="adj" fmla="val 50000"/>
            </a:avLst>
          </a:prstGeom>
          <a:solidFill>
            <a:srgbClr val="4D4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16" name="Rectangle 15"/>
          <p:cNvSpPr/>
          <p:nvPr/>
        </p:nvSpPr>
        <p:spPr>
          <a:xfrm>
            <a:off x="530352" y="2523744"/>
            <a:ext cx="2944368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576" tIns="36576" bIns="36576"/>
          <a:lstStyle/>
          <a:p>
            <a:pPr algn="l"/>
            <a:r>
              <a:rPr sz="819" b="0" i="0">
                <a:solidFill>
                  <a:srgbClr val="11206D"/>
                </a:solidFill>
                <a:latin typeface="Space Grotesk"/>
              </a:rPr>
              <a:t>Azure CIS v3.0 + RBI CSF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0" y="2523744"/>
            <a:ext cx="658368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r"/>
            <a:r>
              <a:rPr sz="819" b="1" i="0">
                <a:solidFill>
                  <a:srgbClr val="11206D"/>
                </a:solidFill>
                <a:latin typeface="Space Grotesk"/>
              </a:rPr>
              <a:t>2,290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0352" y="2715768"/>
            <a:ext cx="3602736" cy="105156"/>
          </a:xfrm>
          <a:prstGeom prst="roundRect">
            <a:avLst>
              <a:gd name="adj" fmla="val 50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19" name="Rounded Rectangle 18"/>
          <p:cNvSpPr/>
          <p:nvPr/>
        </p:nvSpPr>
        <p:spPr>
          <a:xfrm>
            <a:off x="530352" y="2715768"/>
            <a:ext cx="1317092" cy="105156"/>
          </a:xfrm>
          <a:prstGeom prst="roundRect">
            <a:avLst>
              <a:gd name="adj" fmla="val 50000"/>
            </a:avLst>
          </a:prstGeom>
          <a:solidFill>
            <a:srgbClr val="4D4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20" name="Rectangle 19"/>
          <p:cNvSpPr/>
          <p:nvPr/>
        </p:nvSpPr>
        <p:spPr>
          <a:xfrm>
            <a:off x="530352" y="2926080"/>
            <a:ext cx="2944368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576" tIns="36576" bIns="36576"/>
          <a:lstStyle/>
          <a:p>
            <a:pPr algn="l"/>
            <a:r>
              <a:rPr sz="819" b="0" i="0">
                <a:solidFill>
                  <a:srgbClr val="11206D"/>
                </a:solidFill>
                <a:latin typeface="Space Grotesk"/>
              </a:rPr>
              <a:t>Azure CIS v3.0 + CIS v2.0.0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74720" y="2926080"/>
            <a:ext cx="658368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r"/>
            <a:r>
              <a:rPr sz="819" b="1" i="0">
                <a:solidFill>
                  <a:srgbClr val="11206D"/>
                </a:solidFill>
                <a:latin typeface="Space Grotesk"/>
              </a:rPr>
              <a:t>2,073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" y="3118104"/>
            <a:ext cx="3602736" cy="105156"/>
          </a:xfrm>
          <a:prstGeom prst="roundRect">
            <a:avLst>
              <a:gd name="adj" fmla="val 50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23" name="Rounded Rectangle 22"/>
          <p:cNvSpPr/>
          <p:nvPr/>
        </p:nvSpPr>
        <p:spPr>
          <a:xfrm>
            <a:off x="530352" y="3118104"/>
            <a:ext cx="1192284" cy="105156"/>
          </a:xfrm>
          <a:prstGeom prst="roundRect">
            <a:avLst>
              <a:gd name="adj" fmla="val 50000"/>
            </a:avLst>
          </a:prstGeom>
          <a:solidFill>
            <a:srgbClr val="4D4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24" name="Rectangle 23"/>
          <p:cNvSpPr/>
          <p:nvPr/>
        </p:nvSpPr>
        <p:spPr>
          <a:xfrm>
            <a:off x="530352" y="3328415"/>
            <a:ext cx="2944368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576" tIns="36576" bIns="36576"/>
          <a:lstStyle/>
          <a:p>
            <a:pPr algn="l"/>
            <a:r>
              <a:rPr sz="819" b="0" i="0">
                <a:solidFill>
                  <a:srgbClr val="11206D"/>
                </a:solidFill>
                <a:latin typeface="Space Grotesk"/>
              </a:rPr>
              <a:t>DPDP Act India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4720" y="3328415"/>
            <a:ext cx="658368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r"/>
            <a:r>
              <a:rPr sz="819" b="1" i="0">
                <a:solidFill>
                  <a:srgbClr val="11206D"/>
                </a:solidFill>
                <a:latin typeface="Space Grotesk"/>
              </a:rPr>
              <a:t>1,319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0352" y="3520439"/>
            <a:ext cx="3602736" cy="105156"/>
          </a:xfrm>
          <a:prstGeom prst="roundRect">
            <a:avLst>
              <a:gd name="adj" fmla="val 50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27" name="Rounded Rectangle 26"/>
          <p:cNvSpPr/>
          <p:nvPr/>
        </p:nvSpPr>
        <p:spPr>
          <a:xfrm>
            <a:off x="530352" y="3520439"/>
            <a:ext cx="758622" cy="105156"/>
          </a:xfrm>
          <a:prstGeom prst="roundRect">
            <a:avLst>
              <a:gd name="adj" fmla="val 50000"/>
            </a:avLst>
          </a:prstGeom>
          <a:solidFill>
            <a:srgbClr val="4D4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28" name="Rectangle 27"/>
          <p:cNvSpPr/>
          <p:nvPr/>
        </p:nvSpPr>
        <p:spPr>
          <a:xfrm>
            <a:off x="530352" y="3730752"/>
            <a:ext cx="2944368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576" tIns="36576" bIns="36576"/>
          <a:lstStyle/>
          <a:p>
            <a:pPr algn="l"/>
            <a:r>
              <a:rPr sz="819" b="0" i="0">
                <a:solidFill>
                  <a:srgbClr val="11206D"/>
                </a:solidFill>
                <a:latin typeface="Space Grotesk"/>
              </a:rPr>
              <a:t>DPDP + Azure CIS v3.0 + RBI CSF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74720" y="3730752"/>
            <a:ext cx="658368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r"/>
            <a:r>
              <a:rPr sz="819" b="1" i="0">
                <a:solidFill>
                  <a:srgbClr val="11206D"/>
                </a:solidFill>
                <a:latin typeface="Space Grotesk"/>
              </a:rPr>
              <a:t>1,272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0352" y="3922776"/>
            <a:ext cx="3602736" cy="105156"/>
          </a:xfrm>
          <a:prstGeom prst="roundRect">
            <a:avLst>
              <a:gd name="adj" fmla="val 50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31" name="Rounded Rectangle 30"/>
          <p:cNvSpPr/>
          <p:nvPr/>
        </p:nvSpPr>
        <p:spPr>
          <a:xfrm>
            <a:off x="530352" y="3922776"/>
            <a:ext cx="731590" cy="105156"/>
          </a:xfrm>
          <a:prstGeom prst="roundRect">
            <a:avLst>
              <a:gd name="adj" fmla="val 50000"/>
            </a:avLst>
          </a:prstGeom>
          <a:solidFill>
            <a:srgbClr val="4D4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32" name="Rectangle 31"/>
          <p:cNvSpPr/>
          <p:nvPr/>
        </p:nvSpPr>
        <p:spPr>
          <a:xfrm>
            <a:off x="530352" y="4169664"/>
            <a:ext cx="3602736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740" b="0" i="1">
                <a:solidFill>
                  <a:srgbClr val="8A93A8"/>
                </a:solidFill>
                <a:latin typeface="Space Grotesk"/>
              </a:rPr>
              <a:t>Note: compliance data represents failed finding and control mappings. It is not a complete pass percentage.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0" y="1353312"/>
            <a:ext cx="4206240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34" name="Rectangle 33"/>
          <p:cNvSpPr/>
          <p:nvPr/>
        </p:nvSpPr>
        <p:spPr>
          <a:xfrm>
            <a:off x="4754880" y="1435608"/>
            <a:ext cx="3840479" cy="219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800" b="1" i="0">
                <a:solidFill>
                  <a:srgbClr val="8A93A8"/>
                </a:solidFill>
                <a:latin typeface="Space Grotesk"/>
              </a:rPr>
              <a:t>PRIORITIZED REMEDIATION PLAN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736592" y="1810512"/>
            <a:ext cx="420624" cy="219456"/>
          </a:xfrm>
          <a:prstGeom prst="roundRect">
            <a:avLst>
              <a:gd name="adj" fmla="val 50000"/>
            </a:avLst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36576" bIns="36576"/>
          <a:lstStyle/>
          <a:p>
            <a:pPr algn="ctr"/>
            <a:r>
              <a:rPr sz="760" b="1" i="0">
                <a:solidFill>
                  <a:srgbClr val="FFFFFF"/>
                </a:solidFill>
                <a:latin typeface="Space Grotesk"/>
              </a:rPr>
              <a:t>P0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48656" y="1755648"/>
            <a:ext cx="3346704" cy="219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73152" tIns="36576" bIns="36576"/>
          <a:lstStyle/>
          <a:p>
            <a:pPr algn="l"/>
            <a:r>
              <a:rPr sz="919" b="1" i="0">
                <a:solidFill>
                  <a:srgbClr val="11206D"/>
                </a:solidFill>
                <a:latin typeface="Space Grotesk"/>
              </a:rPr>
              <a:t>Break confirmed attack paths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48656" y="1965960"/>
            <a:ext cx="3346704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760" b="0" i="0">
                <a:solidFill>
                  <a:srgbClr val="5A637D"/>
                </a:solidFill>
                <a:latin typeface="Space Grotesk"/>
              </a:rPr>
              <a:t>Restrict NSGs to approved sources and ports. Remove public access from the DC, Root CA, Key Vault and storage paths.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736592" y="2386584"/>
            <a:ext cx="420624" cy="219456"/>
          </a:xfrm>
          <a:prstGeom prst="roundRect">
            <a:avLst>
              <a:gd name="adj" fmla="val 50000"/>
            </a:avLst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36576" bIns="36576"/>
          <a:lstStyle/>
          <a:p>
            <a:pPr algn="ctr"/>
            <a:r>
              <a:rPr sz="760" b="1" i="0">
                <a:solidFill>
                  <a:srgbClr val="FFFFFF"/>
                </a:solidFill>
                <a:latin typeface="Space Grotesk"/>
              </a:rPr>
              <a:t>P1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248656" y="2331720"/>
            <a:ext cx="3346704" cy="219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73152" tIns="36576" bIns="36576"/>
          <a:lstStyle/>
          <a:p>
            <a:pPr algn="l"/>
            <a:r>
              <a:rPr sz="919" b="1" i="0">
                <a:solidFill>
                  <a:srgbClr val="11206D"/>
                </a:solidFill>
                <a:latin typeface="Space Grotesk"/>
              </a:rPr>
              <a:t>Reduce external exposure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248656" y="2542032"/>
            <a:ext cx="3346704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760" b="0" i="0">
                <a:solidFill>
                  <a:srgbClr val="5A637D"/>
                </a:solidFill>
                <a:latin typeface="Space Grotesk"/>
              </a:rPr>
              <a:t>Remove unnecessary public IP and service exposure. Close RDP, SSH and SMB. Enforce private endpoints and restrictive defaults.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736592" y="2962656"/>
            <a:ext cx="420624" cy="219456"/>
          </a:xfrm>
          <a:prstGeom prst="roundRect">
            <a:avLst>
              <a:gd name="adj" fmla="val 50000"/>
            </a:avLst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36576" bIns="36576"/>
          <a:lstStyle/>
          <a:p>
            <a:pPr algn="ctr"/>
            <a:r>
              <a:rPr sz="760" b="1" i="0">
                <a:solidFill>
                  <a:srgbClr val="FFFFFF"/>
                </a:solidFill>
                <a:latin typeface="Space Grotesk"/>
              </a:rPr>
              <a:t>P1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48656" y="2907791"/>
            <a:ext cx="3346704" cy="219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73152" tIns="36576" bIns="36576"/>
          <a:lstStyle/>
          <a:p>
            <a:pPr algn="l"/>
            <a:r>
              <a:rPr sz="919" b="1" i="0">
                <a:solidFill>
                  <a:srgbClr val="11206D"/>
                </a:solidFill>
                <a:latin typeface="Space Grotesk"/>
              </a:rPr>
              <a:t>Close data-protection gaps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248656" y="3118103"/>
            <a:ext cx="3346704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760" b="0" i="0">
                <a:solidFill>
                  <a:srgbClr val="5A637D"/>
                </a:solidFill>
                <a:latin typeface="Space Grotesk"/>
              </a:rPr>
              <a:t>Enforce CMK and BYOK where required, disk encryption at host, and private storage access.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736592" y="3538728"/>
            <a:ext cx="420624" cy="219456"/>
          </a:xfrm>
          <a:prstGeom prst="roundRect">
            <a:avLst>
              <a:gd name="adj" fmla="val 50000"/>
            </a:avLst>
          </a:prstGeom>
          <a:solidFill>
            <a:srgbClr val="646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36576" bIns="36576"/>
          <a:lstStyle/>
          <a:p>
            <a:pPr algn="ctr"/>
            <a:r>
              <a:rPr sz="760" b="1" i="0">
                <a:solidFill>
                  <a:srgbClr val="FFFFFF"/>
                </a:solidFill>
                <a:latin typeface="Space Grotesk"/>
              </a:rPr>
              <a:t>P2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248656" y="3483864"/>
            <a:ext cx="3346704" cy="219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73152" tIns="36576" bIns="36576"/>
          <a:lstStyle/>
          <a:p>
            <a:pPr algn="l"/>
            <a:r>
              <a:rPr sz="919" b="1" i="0">
                <a:solidFill>
                  <a:srgbClr val="11206D"/>
                </a:solidFill>
                <a:latin typeface="Space Grotesk"/>
              </a:rPr>
              <a:t>Restore observability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48656" y="3694176"/>
            <a:ext cx="3346704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760" b="0" i="0">
                <a:solidFill>
                  <a:srgbClr val="5A637D"/>
                </a:solidFill>
                <a:latin typeface="Space Grotesk"/>
              </a:rPr>
              <a:t>Enable NSG, VNET, load-balancer and Key Vault diagnostics, with central Log Analytics integration.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736592" y="4114800"/>
            <a:ext cx="420624" cy="219456"/>
          </a:xfrm>
          <a:prstGeom prst="roundRect">
            <a:avLst>
              <a:gd name="adj" fmla="val 50000"/>
            </a:avLst>
          </a:prstGeom>
          <a:solidFill>
            <a:srgbClr val="646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36576" bIns="36576"/>
          <a:lstStyle/>
          <a:p>
            <a:pPr algn="ctr"/>
            <a:r>
              <a:rPr sz="760" b="1" i="0">
                <a:solidFill>
                  <a:srgbClr val="FFFFFF"/>
                </a:solidFill>
                <a:latin typeface="Space Grotesk"/>
              </a:rPr>
              <a:t>P2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248656" y="4059936"/>
            <a:ext cx="3346704" cy="219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73152" tIns="36576" bIns="36576"/>
          <a:lstStyle/>
          <a:p>
            <a:pPr algn="l"/>
            <a:r>
              <a:rPr sz="919" b="1" i="0">
                <a:solidFill>
                  <a:srgbClr val="11206D"/>
                </a:solidFill>
                <a:latin typeface="Space Grotesk"/>
              </a:rPr>
              <a:t>Baseline identity controls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248656" y="4270248"/>
            <a:ext cx="3346704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760" b="0" i="0">
                <a:solidFill>
                  <a:srgbClr val="5A637D"/>
                </a:solidFill>
                <a:latin typeface="Space Grotesk"/>
              </a:rPr>
              <a:t>Enable managed identities where applicable. Standardize identity-centric workload hardening.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Space Grotesk"/>
              </a:rPr>
              <a:t>Data Confidence and Assessment Boundaries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68096"/>
            <a:ext cx="786384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50" b="1" i="0">
                <a:solidFill>
                  <a:srgbClr val="0046FF"/>
                </a:solidFill>
                <a:latin typeface="Space Grotesk"/>
              </a:rPr>
              <a:t>EVIDENCE VERSUS GAPS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84124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19" b="0" i="0">
                <a:solidFill>
                  <a:srgbClr val="5A637D"/>
                </a:solidFill>
                <a:latin typeface="Space Grotesk"/>
              </a:rPr>
              <a:t>The report separates confirmed evidence from context that was not available or not validated.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4791456"/>
            <a:ext cx="841248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60" b="0" i="1">
                <a:solidFill>
                  <a:srgbClr val="5A637D"/>
                </a:solidFill>
                <a:latin typeface="Space Grotesk"/>
              </a:rPr>
              <a:t>Source: Cloud Findings, active and not ignored, Azure subscription scope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353312"/>
            <a:ext cx="4114800" cy="26151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7" name="Rectangle 6"/>
          <p:cNvSpPr/>
          <p:nvPr/>
        </p:nvSpPr>
        <p:spPr>
          <a:xfrm>
            <a:off x="548640" y="1435608"/>
            <a:ext cx="3749039" cy="219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800" b="1" i="0">
                <a:solidFill>
                  <a:srgbClr val="8A93A8"/>
                </a:solidFill>
                <a:latin typeface="Space Grotesk"/>
              </a:rPr>
              <a:t>EVIDENCE USED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1719072"/>
            <a:ext cx="3785615" cy="402336"/>
          </a:xfrm>
          <a:prstGeom prst="roundRect">
            <a:avLst>
              <a:gd name="adj" fmla="val 4000"/>
            </a:avLst>
          </a:prstGeom>
          <a:solidFill>
            <a:srgbClr val="E7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9" name="Rectangle 8"/>
          <p:cNvSpPr/>
          <p:nvPr/>
        </p:nvSpPr>
        <p:spPr>
          <a:xfrm>
            <a:off x="576072" y="1746504"/>
            <a:ext cx="45720" cy="347472"/>
          </a:xfrm>
          <a:prstGeom prst="rect">
            <a:avLst/>
          </a:prstGeom>
          <a:solidFill>
            <a:srgbClr val="16A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10" name="Rectangle 9"/>
          <p:cNvSpPr/>
          <p:nvPr/>
        </p:nvSpPr>
        <p:spPr>
          <a:xfrm>
            <a:off x="713232" y="1728216"/>
            <a:ext cx="3529583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18288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60" b="1" i="0">
                <a:solidFill>
                  <a:srgbClr val="11206D"/>
                </a:solidFill>
                <a:latin typeface="Space Grotesk"/>
              </a:rPr>
              <a:t>Cloud provider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5A637D"/>
                </a:solidFill>
                <a:latin typeface="Space Grotesk"/>
              </a:rPr>
              <a:t>Azure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2157984"/>
            <a:ext cx="3785615" cy="402336"/>
          </a:xfrm>
          <a:prstGeom prst="roundRect">
            <a:avLst>
              <a:gd name="adj" fmla="val 4000"/>
            </a:avLst>
          </a:prstGeom>
          <a:solidFill>
            <a:srgbClr val="E7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12" name="Rectangle 11"/>
          <p:cNvSpPr/>
          <p:nvPr/>
        </p:nvSpPr>
        <p:spPr>
          <a:xfrm>
            <a:off x="576072" y="2185415"/>
            <a:ext cx="45720" cy="347472"/>
          </a:xfrm>
          <a:prstGeom prst="rect">
            <a:avLst/>
          </a:prstGeom>
          <a:solidFill>
            <a:srgbClr val="16A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13" name="Rectangle 12"/>
          <p:cNvSpPr/>
          <p:nvPr/>
        </p:nvSpPr>
        <p:spPr>
          <a:xfrm>
            <a:off x="713232" y="2167127"/>
            <a:ext cx="3529583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18288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60" b="1" i="0">
                <a:solidFill>
                  <a:srgbClr val="11206D"/>
                </a:solidFill>
                <a:latin typeface="Space Grotesk"/>
              </a:rPr>
              <a:t>Source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5A637D"/>
                </a:solidFill>
                <a:latin typeface="Space Grotesk"/>
              </a:rPr>
              <a:t>Cloud Findings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" y="2596896"/>
            <a:ext cx="3785615" cy="402336"/>
          </a:xfrm>
          <a:prstGeom prst="roundRect">
            <a:avLst>
              <a:gd name="adj" fmla="val 4000"/>
            </a:avLst>
          </a:prstGeom>
          <a:solidFill>
            <a:srgbClr val="E7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15" name="Rectangle 14"/>
          <p:cNvSpPr/>
          <p:nvPr/>
        </p:nvSpPr>
        <p:spPr>
          <a:xfrm>
            <a:off x="576072" y="2624327"/>
            <a:ext cx="45720" cy="347472"/>
          </a:xfrm>
          <a:prstGeom prst="rect">
            <a:avLst/>
          </a:prstGeom>
          <a:solidFill>
            <a:srgbClr val="16A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16" name="Rectangle 15"/>
          <p:cNvSpPr/>
          <p:nvPr/>
        </p:nvSpPr>
        <p:spPr>
          <a:xfrm>
            <a:off x="713232" y="2606039"/>
            <a:ext cx="3529583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18288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60" b="1" i="0">
                <a:solidFill>
                  <a:srgbClr val="11206D"/>
                </a:solidFill>
                <a:latin typeface="Space Grotesk"/>
              </a:rPr>
              <a:t>Filters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5A637D"/>
                </a:solidFill>
                <a:latin typeface="Space Grotesk"/>
              </a:rPr>
              <a:t>Active, not ignored, azure_subscription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" y="3035808"/>
            <a:ext cx="3785615" cy="402336"/>
          </a:xfrm>
          <a:prstGeom prst="roundRect">
            <a:avLst>
              <a:gd name="adj" fmla="val 4000"/>
            </a:avLst>
          </a:prstGeom>
          <a:solidFill>
            <a:srgbClr val="E7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18" name="Rectangle 17"/>
          <p:cNvSpPr/>
          <p:nvPr/>
        </p:nvSpPr>
        <p:spPr>
          <a:xfrm>
            <a:off x="576072" y="3063239"/>
            <a:ext cx="45720" cy="347472"/>
          </a:xfrm>
          <a:prstGeom prst="rect">
            <a:avLst/>
          </a:prstGeom>
          <a:solidFill>
            <a:srgbClr val="16A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19" name="Rectangle 18"/>
          <p:cNvSpPr/>
          <p:nvPr/>
        </p:nvSpPr>
        <p:spPr>
          <a:xfrm>
            <a:off x="713232" y="3044951"/>
            <a:ext cx="3529583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18288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60" b="1" i="0">
                <a:solidFill>
                  <a:srgbClr val="11206D"/>
                </a:solidFill>
                <a:latin typeface="Space Grotesk"/>
              </a:rPr>
              <a:t>Confirmed Azure accounts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5A637D"/>
                </a:solidFill>
                <a:latin typeface="Space Grotesk"/>
              </a:rPr>
              <a:t>30 with active findings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0352" y="3474720"/>
            <a:ext cx="3785615" cy="402336"/>
          </a:xfrm>
          <a:prstGeom prst="roundRect">
            <a:avLst>
              <a:gd name="adj" fmla="val 4000"/>
            </a:avLst>
          </a:prstGeom>
          <a:solidFill>
            <a:srgbClr val="E7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21" name="Rectangle 20"/>
          <p:cNvSpPr/>
          <p:nvPr/>
        </p:nvSpPr>
        <p:spPr>
          <a:xfrm>
            <a:off x="576072" y="3502151"/>
            <a:ext cx="45720" cy="347472"/>
          </a:xfrm>
          <a:prstGeom prst="rect">
            <a:avLst/>
          </a:prstGeom>
          <a:solidFill>
            <a:srgbClr val="16A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22" name="Rectangle 21"/>
          <p:cNvSpPr/>
          <p:nvPr/>
        </p:nvSpPr>
        <p:spPr>
          <a:xfrm>
            <a:off x="713232" y="3483863"/>
            <a:ext cx="3529583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18288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60" b="1" i="0">
                <a:solidFill>
                  <a:srgbClr val="11206D"/>
                </a:solidFill>
                <a:latin typeface="Space Grotesk"/>
              </a:rPr>
              <a:t>Toxic-combination rule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5A637D"/>
                </a:solidFill>
                <a:latin typeface="Space Grotesk"/>
              </a:rPr>
              <a:t>Same asset or finding explicitly naming the related NSG or load balancer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63440" y="1353312"/>
            <a:ext cx="4114800" cy="26151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24" name="Rectangle 23"/>
          <p:cNvSpPr/>
          <p:nvPr/>
        </p:nvSpPr>
        <p:spPr>
          <a:xfrm>
            <a:off x="4846320" y="1435608"/>
            <a:ext cx="3749039" cy="219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800" b="1" i="0">
                <a:solidFill>
                  <a:srgbClr val="8A93A8"/>
                </a:solidFill>
                <a:latin typeface="Space Grotesk"/>
              </a:rPr>
              <a:t>NOT CONFIDENTLY AVAILABLE OR VALIDATED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28032" y="1719072"/>
            <a:ext cx="3785615" cy="402336"/>
          </a:xfrm>
          <a:prstGeom prst="roundRect">
            <a:avLst>
              <a:gd name="adj" fmla="val 4000"/>
            </a:avLst>
          </a:prstGeom>
          <a:solidFill>
            <a:srgbClr val="FB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26" name="Rectangle 25"/>
          <p:cNvSpPr/>
          <p:nvPr/>
        </p:nvSpPr>
        <p:spPr>
          <a:xfrm>
            <a:off x="4873752" y="1746504"/>
            <a:ext cx="45720" cy="347472"/>
          </a:xfrm>
          <a:prstGeom prst="rect">
            <a:avLst/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27" name="Rectangle 26"/>
          <p:cNvSpPr/>
          <p:nvPr/>
        </p:nvSpPr>
        <p:spPr>
          <a:xfrm>
            <a:off x="5010912" y="1728216"/>
            <a:ext cx="3529583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18288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60" b="1" i="0">
                <a:solidFill>
                  <a:srgbClr val="11206D"/>
                </a:solidFill>
                <a:latin typeface="Space Grotesk"/>
              </a:rPr>
              <a:t>Public IP addresses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5A637D"/>
                </a:solidFill>
                <a:latin typeface="Space Grotesk"/>
              </a:rPr>
              <a:t>Not returned in the queried CSPM fields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28032" y="2157984"/>
            <a:ext cx="3785615" cy="402336"/>
          </a:xfrm>
          <a:prstGeom prst="roundRect">
            <a:avLst>
              <a:gd name="adj" fmla="val 4000"/>
            </a:avLst>
          </a:prstGeom>
          <a:solidFill>
            <a:srgbClr val="FB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29" name="Rectangle 28"/>
          <p:cNvSpPr/>
          <p:nvPr/>
        </p:nvSpPr>
        <p:spPr>
          <a:xfrm>
            <a:off x="4873752" y="2185415"/>
            <a:ext cx="45720" cy="347472"/>
          </a:xfrm>
          <a:prstGeom prst="rect">
            <a:avLst/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30" name="Rectangle 29"/>
          <p:cNvSpPr/>
          <p:nvPr/>
        </p:nvSpPr>
        <p:spPr>
          <a:xfrm>
            <a:off x="5010912" y="2167127"/>
            <a:ext cx="3529583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18288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60" b="1" i="0">
                <a:solidFill>
                  <a:srgbClr val="11206D"/>
                </a:solidFill>
                <a:latin typeface="Space Grotesk"/>
              </a:rPr>
              <a:t>Excessive IAM and privilege escalation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5A637D"/>
                </a:solidFill>
                <a:latin typeface="Space Grotesk"/>
              </a:rPr>
              <a:t>No confirmed Azure findings retrieved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28032" y="2596896"/>
            <a:ext cx="3785615" cy="402336"/>
          </a:xfrm>
          <a:prstGeom prst="roundRect">
            <a:avLst>
              <a:gd name="adj" fmla="val 4000"/>
            </a:avLst>
          </a:prstGeom>
          <a:solidFill>
            <a:srgbClr val="FB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32" name="Rectangle 31"/>
          <p:cNvSpPr/>
          <p:nvPr/>
        </p:nvSpPr>
        <p:spPr>
          <a:xfrm>
            <a:off x="4873752" y="2624327"/>
            <a:ext cx="45720" cy="347472"/>
          </a:xfrm>
          <a:prstGeom prst="rect">
            <a:avLst/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33" name="Rectangle 32"/>
          <p:cNvSpPr/>
          <p:nvPr/>
        </p:nvSpPr>
        <p:spPr>
          <a:xfrm>
            <a:off x="5010912" y="2606039"/>
            <a:ext cx="3529583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18288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60" b="1" i="0">
                <a:solidFill>
                  <a:srgbClr val="11206D"/>
                </a:solidFill>
                <a:latin typeface="Space Grotesk"/>
              </a:rPr>
              <a:t>Secret-scan and container-secret findings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5A637D"/>
                </a:solidFill>
                <a:latin typeface="Space Grotesk"/>
              </a:rPr>
              <a:t>No active Azure findings in the queried data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828032" y="3035808"/>
            <a:ext cx="3785615" cy="402336"/>
          </a:xfrm>
          <a:prstGeom prst="roundRect">
            <a:avLst>
              <a:gd name="adj" fmla="val 4000"/>
            </a:avLst>
          </a:prstGeom>
          <a:solidFill>
            <a:srgbClr val="FB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35" name="Rectangle 34"/>
          <p:cNvSpPr/>
          <p:nvPr/>
        </p:nvSpPr>
        <p:spPr>
          <a:xfrm>
            <a:off x="4873752" y="3063239"/>
            <a:ext cx="45720" cy="347472"/>
          </a:xfrm>
          <a:prstGeom prst="rect">
            <a:avLst/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36" name="Rectangle 35"/>
          <p:cNvSpPr/>
          <p:nvPr/>
        </p:nvSpPr>
        <p:spPr>
          <a:xfrm>
            <a:off x="5010912" y="3044951"/>
            <a:ext cx="3529583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18288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60" b="1" i="0">
                <a:solidFill>
                  <a:srgbClr val="11206D"/>
                </a:solidFill>
                <a:latin typeface="Space Grotesk"/>
              </a:rPr>
              <a:t>Total onboarded Azure subscriptions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5A637D"/>
                </a:solidFill>
                <a:latin typeface="Space Grotesk"/>
              </a:rPr>
              <a:t>36 filter values exist. Only 30 carry confirmed active CSPM findings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828032" y="3474720"/>
            <a:ext cx="3785615" cy="402336"/>
          </a:xfrm>
          <a:prstGeom prst="roundRect">
            <a:avLst>
              <a:gd name="adj" fmla="val 4000"/>
            </a:avLst>
          </a:prstGeom>
          <a:solidFill>
            <a:srgbClr val="FB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38" name="Rectangle 37"/>
          <p:cNvSpPr/>
          <p:nvPr/>
        </p:nvSpPr>
        <p:spPr>
          <a:xfrm>
            <a:off x="4873752" y="3502151"/>
            <a:ext cx="45720" cy="347472"/>
          </a:xfrm>
          <a:prstGeom prst="rect">
            <a:avLst/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39" name="Rectangle 38"/>
          <p:cNvSpPr/>
          <p:nvPr/>
        </p:nvSpPr>
        <p:spPr>
          <a:xfrm>
            <a:off x="5010912" y="3483863"/>
            <a:ext cx="3529583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18288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60" b="1" i="0">
                <a:solidFill>
                  <a:srgbClr val="11206D"/>
                </a:solidFill>
                <a:latin typeface="Space Grotesk"/>
              </a:rPr>
              <a:t>Compliance score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5A637D"/>
                </a:solidFill>
                <a:latin typeface="Space Grotesk"/>
              </a:rPr>
              <a:t>Mappings available. No complete pass or fail percentage returned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" y="4059936"/>
            <a:ext cx="8412480" cy="585216"/>
          </a:xfrm>
          <a:prstGeom prst="roundRect">
            <a:avLst>
              <a:gd name="adj" fmla="val 5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41" name="Oval 40"/>
          <p:cNvSpPr/>
          <p:nvPr/>
        </p:nvSpPr>
        <p:spPr>
          <a:xfrm>
            <a:off x="521208" y="4192524"/>
            <a:ext cx="100584" cy="100584"/>
          </a:xfrm>
          <a:prstGeom prst="ellipse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</a:p>
        </p:txBody>
      </p:sp>
      <p:sp>
        <p:nvSpPr>
          <p:cNvPr id="42" name="Rectangle 41"/>
          <p:cNvSpPr/>
          <p:nvPr/>
        </p:nvSpPr>
        <p:spPr>
          <a:xfrm>
            <a:off x="713232" y="4096512"/>
            <a:ext cx="7918704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73152" tIns="36576" bIns="36576"/>
          <a:lstStyle/>
          <a:p>
            <a:pPr algn="l"/>
            <a:r>
              <a:rPr sz="900" b="1" i="0">
                <a:solidFill>
                  <a:srgbClr val="11206D"/>
                </a:solidFill>
                <a:latin typeface="Space Grotesk"/>
              </a:rPr>
              <a:t>Reporting principle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13232" y="4315968"/>
            <a:ext cx="7918704" cy="2834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819" b="0" i="0">
                <a:solidFill>
                  <a:srgbClr val="5A637D"/>
                </a:solidFill>
                <a:latin typeface="Space Grotesk"/>
              </a:rPr>
              <a:t>Only confirmed evidence supports the attack-path assertions. Missing context is surfaced rather than inferred.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640080" y="786384"/>
            <a:ext cx="786384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200" b="1" i="0">
                <a:solidFill>
                  <a:srgbClr val="6464FF"/>
                </a:solidFill>
                <a:latin typeface="Space Grotesk"/>
              </a:rPr>
              <a:t>PART 2  ·  AI AND ML SECURITY POSTURE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109728" cy="457200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859536" y="1078992"/>
            <a:ext cx="4389120" cy="10058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3000" b="1" i="0">
                <a:solidFill>
                  <a:srgbClr val="FFFFFF"/>
                </a:solidFill>
                <a:latin typeface="Space Grotesk"/>
              </a:rPr>
              <a:t>Azure AI Security</a:t>
            </a:r>
            <a:br/>
            <a:r>
              <a:rPr sz="3000" b="1" i="0">
                <a:solidFill>
                  <a:srgbClr val="FFFFFF"/>
                </a:solidFill>
                <a:latin typeface="Space Grotesk"/>
              </a:rPr>
              <a:t>Posture Report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212848"/>
            <a:ext cx="448056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150" b="0" i="0">
                <a:solidFill>
                  <a:srgbClr val="B8C4E8"/>
                </a:solidFill>
                <a:latin typeface="Space Grotesk"/>
              </a:rPr>
              <a:t>AI asset inventory, exposure, security findings and reporting confidence across the confirmed Azure AI and ML estate.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07792"/>
            <a:ext cx="2743200" cy="219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950" b="1" i="0">
                <a:solidFill>
                  <a:srgbClr val="6464FF"/>
                </a:solidFill>
                <a:latin typeface="Space Grotesk"/>
              </a:rPr>
              <a:t>CONFIRMED SCOPE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182112"/>
            <a:ext cx="1481328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73152" tIns="36576" bIns="36576"/>
          <a:lstStyle/>
          <a:p>
            <a:pPr algn="l"/>
            <a:r>
              <a:rPr sz="2300" b="1" i="0">
                <a:solidFill>
                  <a:srgbClr val="FFFFFF"/>
                </a:solidFill>
                <a:latin typeface="Space Grotesk"/>
              </a:rPr>
              <a:t>34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584448"/>
            <a:ext cx="1481328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800" b="0" i="0">
                <a:solidFill>
                  <a:srgbClr val="B8C4E8"/>
                </a:solidFill>
                <a:latin typeface="Space Grotesk"/>
              </a:rPr>
              <a:t>AI and ML assets</a:t>
            </a:r>
            <a:br/>
            <a:r>
              <a:rPr sz="800" b="0" i="0">
                <a:solidFill>
                  <a:srgbClr val="B8C4E8"/>
                </a:solidFill>
                <a:latin typeface="Space Grotesk"/>
              </a:rPr>
              <a:t>Inventory-confirmed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12848" y="3182112"/>
            <a:ext cx="1481328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73152" tIns="36576" bIns="36576"/>
          <a:lstStyle/>
          <a:p>
            <a:pPr algn="l"/>
            <a:r>
              <a:rPr sz="2300" b="1" i="0">
                <a:solidFill>
                  <a:srgbClr val="FFFFFF"/>
                </a:solidFill>
                <a:latin typeface="Space Grotesk"/>
              </a:rPr>
              <a:t>164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12848" y="3584448"/>
            <a:ext cx="1481328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800" b="0" i="0">
                <a:solidFill>
                  <a:srgbClr val="B8C4E8"/>
                </a:solidFill>
                <a:latin typeface="Space Grotesk"/>
              </a:rPr>
              <a:t>Active AI findings</a:t>
            </a:r>
            <a:br/>
            <a:r>
              <a:rPr sz="800" b="0" i="0">
                <a:solidFill>
                  <a:srgbClr val="B8C4E8"/>
                </a:solidFill>
                <a:latin typeface="Space Grotesk"/>
              </a:rPr>
              <a:t>Across 34 assets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85615" y="3182112"/>
            <a:ext cx="1481328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73152" tIns="36576" bIns="36576"/>
          <a:lstStyle/>
          <a:p>
            <a:pPr algn="l"/>
            <a:r>
              <a:rPr sz="2300" b="1" i="0">
                <a:solidFill>
                  <a:srgbClr val="FFFFFF"/>
                </a:solidFill>
                <a:latin typeface="Space Grotesk"/>
              </a:rPr>
              <a:t>24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85615" y="3584448"/>
            <a:ext cx="1481328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800" b="0" i="0">
                <a:solidFill>
                  <a:srgbClr val="B8C4E8"/>
                </a:solidFill>
                <a:latin typeface="Space Grotesk"/>
              </a:rPr>
              <a:t>Public network access</a:t>
            </a:r>
            <a:br/>
            <a:r>
              <a:rPr sz="800" b="0" i="0">
                <a:solidFill>
                  <a:srgbClr val="B8C4E8"/>
                </a:solidFill>
                <a:latin typeface="Space Grotesk"/>
              </a:rPr>
              <a:t>Confirmed endpoints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58384" y="1060704"/>
            <a:ext cx="3145536" cy="2962656"/>
          </a:xfrm>
          <a:prstGeom prst="roundRect">
            <a:avLst>
              <a:gd name="adj" fmla="val 5000"/>
            </a:avLst>
          </a:prstGeom>
          <a:solidFill>
            <a:srgbClr val="0A1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15" name="Rectangle 14"/>
          <p:cNvSpPr/>
          <p:nvPr/>
        </p:nvSpPr>
        <p:spPr>
          <a:xfrm>
            <a:off x="5541264" y="1188720"/>
            <a:ext cx="2779776" cy="219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800" b="1" i="0">
                <a:solidFill>
                  <a:srgbClr val="6464FF"/>
                </a:solidFill>
                <a:latin typeface="Space Grotesk"/>
              </a:rPr>
              <a:t>AI POSTURE SIGNAL SUMMARY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41264" y="1481328"/>
            <a:ext cx="50292" cy="512064"/>
          </a:xfrm>
          <a:prstGeom prst="rect">
            <a:avLst/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17" name="Rectangle 16"/>
          <p:cNvSpPr/>
          <p:nvPr/>
        </p:nvSpPr>
        <p:spPr>
          <a:xfrm>
            <a:off x="5705856" y="1481328"/>
            <a:ext cx="713232" cy="512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73152" tIns="36576" bIns="36576"/>
          <a:lstStyle/>
          <a:p>
            <a:pPr algn="l"/>
            <a:r>
              <a:rPr sz="1800" b="1" i="0">
                <a:solidFill>
                  <a:srgbClr val="FFFFFF"/>
                </a:solidFill>
                <a:latin typeface="Space Grotesk"/>
              </a:rPr>
              <a:t>24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19088" y="1481328"/>
            <a:ext cx="1920240" cy="512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73152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FFFFFF"/>
                </a:solidFill>
                <a:latin typeface="Space Grotesk"/>
              </a:rPr>
              <a:t>Exposure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B8C4E8"/>
                </a:solidFill>
                <a:latin typeface="Space Grotesk"/>
              </a:rPr>
              <a:t>Assets with public network access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41264" y="2103120"/>
            <a:ext cx="50292" cy="512064"/>
          </a:xfrm>
          <a:prstGeom prst="rect">
            <a:avLst/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20" name="Rectangle 19"/>
          <p:cNvSpPr/>
          <p:nvPr/>
        </p:nvSpPr>
        <p:spPr>
          <a:xfrm>
            <a:off x="5705856" y="2103120"/>
            <a:ext cx="713232" cy="512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73152" tIns="36576" bIns="36576"/>
          <a:lstStyle/>
          <a:p>
            <a:pPr algn="l"/>
            <a:r>
              <a:rPr sz="1800" b="1" i="0">
                <a:solidFill>
                  <a:srgbClr val="FFFFFF"/>
                </a:solidFill>
                <a:latin typeface="Space Grotesk"/>
              </a:rPr>
              <a:t>51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19088" y="2103120"/>
            <a:ext cx="1920240" cy="512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73152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FFFFFF"/>
                </a:solidFill>
                <a:latin typeface="Space Grotesk"/>
              </a:rPr>
              <a:t>Severity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B8C4E8"/>
                </a:solidFill>
                <a:latin typeface="Space Grotesk"/>
              </a:rPr>
              <a:t>High-severity AI findings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41264" y="2724912"/>
            <a:ext cx="50292" cy="512064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23" name="Rectangle 22"/>
          <p:cNvSpPr/>
          <p:nvPr/>
        </p:nvSpPr>
        <p:spPr>
          <a:xfrm>
            <a:off x="5705856" y="2724912"/>
            <a:ext cx="713232" cy="512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73152" tIns="36576" bIns="36576"/>
          <a:lstStyle/>
          <a:p>
            <a:pPr algn="l"/>
            <a:r>
              <a:rPr sz="1800" b="1" i="0">
                <a:solidFill>
                  <a:srgbClr val="FFFFFF"/>
                </a:solidFill>
                <a:latin typeface="Space Grotesk"/>
              </a:rPr>
              <a:t>41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19088" y="2724912"/>
            <a:ext cx="1920240" cy="512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73152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FFFFFF"/>
                </a:solidFill>
                <a:latin typeface="Space Grotesk"/>
              </a:rPr>
              <a:t>Data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B8C4E8"/>
                </a:solidFill>
                <a:latin typeface="Space Grotesk"/>
              </a:rPr>
              <a:t>Data-security findings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41264" y="3346704"/>
            <a:ext cx="50292" cy="512064"/>
          </a:xfrm>
          <a:prstGeom prst="rect">
            <a:avLst/>
          </a:prstGeom>
          <a:solidFill>
            <a:srgbClr val="646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26" name="Rectangle 25"/>
          <p:cNvSpPr/>
          <p:nvPr/>
        </p:nvSpPr>
        <p:spPr>
          <a:xfrm>
            <a:off x="5705856" y="3346704"/>
            <a:ext cx="713232" cy="512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73152" tIns="36576" bIns="36576"/>
          <a:lstStyle/>
          <a:p>
            <a:pPr algn="l"/>
            <a:r>
              <a:rPr sz="1800" b="1" i="0">
                <a:solidFill>
                  <a:srgbClr val="FFFFFF"/>
                </a:solidFill>
                <a:latin typeface="Space Grotesk"/>
              </a:rPr>
              <a:t>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19088" y="3346704"/>
            <a:ext cx="1920240" cy="512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73152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FFFFFF"/>
                </a:solidFill>
                <a:latin typeface="Space Grotesk"/>
              </a:rPr>
              <a:t>Platform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B8C4E8"/>
                </a:solidFill>
                <a:latin typeface="Space Grotesk"/>
              </a:rPr>
              <a:t>Azure ML and Databricks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169663"/>
            <a:ext cx="786384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800" b="0" i="1">
                <a:solidFill>
                  <a:srgbClr val="8A93A8"/>
                </a:solidFill>
                <a:latin typeface="Space Grotesk"/>
              </a:rPr>
              <a:t>Assessment basis: confirmed AI asset inventory, active findings, and no unvalidated account-level asset counts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Space Grotesk"/>
              </a:rPr>
              <a:t>Executive AI Risk Snapshot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68096"/>
            <a:ext cx="786384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50" b="1" i="0">
                <a:solidFill>
                  <a:srgbClr val="0046FF"/>
                </a:solidFill>
                <a:latin typeface="Space Grotesk"/>
              </a:rPr>
              <a:t>AI VOLUME, SEVERITY AND EXPOSURE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84124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19" b="0" i="0">
                <a:solidFill>
                  <a:srgbClr val="5A637D"/>
                </a:solidFill>
                <a:latin typeface="Space Grotesk"/>
              </a:rPr>
              <a:t>A short view of the confirmed Azure AI and ML footprint.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4791456"/>
            <a:ext cx="841248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60" b="0" i="1">
                <a:solidFill>
                  <a:srgbClr val="5A637D"/>
                </a:solidFill>
                <a:latin typeface="Space Grotesk"/>
              </a:rPr>
              <a:t>Source: confirmed AI asset inventory, active AI findings, Azure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353312"/>
            <a:ext cx="1594713" cy="8595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7" name="Rectangle 6"/>
          <p:cNvSpPr/>
          <p:nvPr/>
        </p:nvSpPr>
        <p:spPr>
          <a:xfrm>
            <a:off x="457200" y="1472184"/>
            <a:ext cx="50292" cy="621792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8" name="Rectangle 7"/>
          <p:cNvSpPr/>
          <p:nvPr/>
        </p:nvSpPr>
        <p:spPr>
          <a:xfrm>
            <a:off x="585216" y="1417320"/>
            <a:ext cx="1283817" cy="3474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73152" tIns="36576" bIns="36576"/>
          <a:lstStyle/>
          <a:p>
            <a:pPr algn="l"/>
            <a:r>
              <a:rPr sz="1700" b="1" i="0">
                <a:solidFill>
                  <a:srgbClr val="11206D"/>
                </a:solidFill>
                <a:latin typeface="Space Grotesk"/>
              </a:rPr>
              <a:t>34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6" y="1764792"/>
            <a:ext cx="1302105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660" b="1" i="0">
                <a:solidFill>
                  <a:srgbClr val="11206D"/>
                </a:solidFill>
                <a:latin typeface="Space Grotesk"/>
              </a:rPr>
              <a:t>ACTIVE AI ASSETS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" y="1947672"/>
            <a:ext cx="1302105" cy="219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650" b="0" i="0">
                <a:solidFill>
                  <a:srgbClr val="8A93A8"/>
                </a:solidFill>
                <a:latin typeface="Space Grotesk"/>
              </a:rPr>
              <a:t>34 of 34 have active findings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70201" y="1353312"/>
            <a:ext cx="1594713" cy="8595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12" name="Rectangle 11"/>
          <p:cNvSpPr/>
          <p:nvPr/>
        </p:nvSpPr>
        <p:spPr>
          <a:xfrm>
            <a:off x="2161641" y="1472184"/>
            <a:ext cx="50292" cy="621792"/>
          </a:xfrm>
          <a:prstGeom prst="rect">
            <a:avLst/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13" name="Rectangle 12"/>
          <p:cNvSpPr/>
          <p:nvPr/>
        </p:nvSpPr>
        <p:spPr>
          <a:xfrm>
            <a:off x="2289657" y="1417320"/>
            <a:ext cx="1283817" cy="3474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73152" tIns="36576" bIns="36576"/>
          <a:lstStyle/>
          <a:p>
            <a:pPr algn="l"/>
            <a:r>
              <a:rPr sz="1700" b="1" i="0">
                <a:solidFill>
                  <a:srgbClr val="11206D"/>
                </a:solidFill>
                <a:latin typeface="Space Grotesk"/>
              </a:rPr>
              <a:t>27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9657" y="1764792"/>
            <a:ext cx="1302105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660" b="1" i="0">
                <a:solidFill>
                  <a:srgbClr val="11206D"/>
                </a:solidFill>
                <a:latin typeface="Space Grotesk"/>
              </a:rPr>
              <a:t>ASSETS WITH HIGH FINDINGS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9657" y="1947672"/>
            <a:ext cx="1302105" cy="219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650" b="0" i="0">
                <a:solidFill>
                  <a:srgbClr val="8A93A8"/>
                </a:solidFill>
                <a:latin typeface="Space Grotesk"/>
              </a:rPr>
              <a:t>79.4% of the AI estate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74643" y="1353312"/>
            <a:ext cx="1594713" cy="8595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17" name="Rectangle 16"/>
          <p:cNvSpPr/>
          <p:nvPr/>
        </p:nvSpPr>
        <p:spPr>
          <a:xfrm>
            <a:off x="3866083" y="1472184"/>
            <a:ext cx="50292" cy="621792"/>
          </a:xfrm>
          <a:prstGeom prst="rect">
            <a:avLst/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18" name="Rectangle 17"/>
          <p:cNvSpPr/>
          <p:nvPr/>
        </p:nvSpPr>
        <p:spPr>
          <a:xfrm>
            <a:off x="3994099" y="1417320"/>
            <a:ext cx="1283817" cy="3474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73152" tIns="36576" bIns="36576"/>
          <a:lstStyle/>
          <a:p>
            <a:pPr algn="l"/>
            <a:r>
              <a:rPr sz="1700" b="1" i="0">
                <a:solidFill>
                  <a:srgbClr val="11206D"/>
                </a:solidFill>
                <a:latin typeface="Space Grotesk"/>
              </a:rPr>
              <a:t>24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94099" y="1764792"/>
            <a:ext cx="1302105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660" b="1" i="0">
                <a:solidFill>
                  <a:srgbClr val="11206D"/>
                </a:solidFill>
                <a:latin typeface="Space Grotesk"/>
              </a:rPr>
              <a:t>PUBLIC NETWORK ACCESS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94099" y="1947672"/>
            <a:ext cx="1302105" cy="219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650" b="0" i="0">
                <a:solidFill>
                  <a:srgbClr val="8A93A8"/>
                </a:solidFill>
                <a:latin typeface="Space Grotesk"/>
              </a:rPr>
              <a:t>70.6% of the AI estate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79084" y="1353312"/>
            <a:ext cx="1594713" cy="8595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22" name="Rectangle 21"/>
          <p:cNvSpPr/>
          <p:nvPr/>
        </p:nvSpPr>
        <p:spPr>
          <a:xfrm>
            <a:off x="5570524" y="1472184"/>
            <a:ext cx="50292" cy="621792"/>
          </a:xfrm>
          <a:prstGeom prst="rect">
            <a:avLst/>
          </a:prstGeom>
          <a:solidFill>
            <a:srgbClr val="646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23" name="Rectangle 22"/>
          <p:cNvSpPr/>
          <p:nvPr/>
        </p:nvSpPr>
        <p:spPr>
          <a:xfrm>
            <a:off x="5698540" y="1417320"/>
            <a:ext cx="1283817" cy="3474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73152" tIns="36576" bIns="36576"/>
          <a:lstStyle/>
          <a:p>
            <a:pPr algn="l"/>
            <a:r>
              <a:rPr sz="1700" b="1" i="0">
                <a:solidFill>
                  <a:srgbClr val="11206D"/>
                </a:solidFill>
                <a:latin typeface="Space Grotesk"/>
              </a:rPr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98540" y="1764792"/>
            <a:ext cx="1302105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660" b="1" i="0">
                <a:solidFill>
                  <a:srgbClr val="11206D"/>
                </a:solidFill>
                <a:latin typeface="Space Grotesk"/>
              </a:rPr>
              <a:t>AI PLATFORM TYPES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98540" y="1947672"/>
            <a:ext cx="1302105" cy="219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650" b="0" i="0">
                <a:solidFill>
                  <a:srgbClr val="8A93A8"/>
                </a:solidFill>
                <a:latin typeface="Space Grotesk"/>
              </a:rPr>
              <a:t>Azure ML and Databricks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83526" y="1353312"/>
            <a:ext cx="1594713" cy="8595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27" name="Rectangle 26"/>
          <p:cNvSpPr/>
          <p:nvPr/>
        </p:nvSpPr>
        <p:spPr>
          <a:xfrm>
            <a:off x="7274966" y="1472184"/>
            <a:ext cx="50292" cy="621792"/>
          </a:xfrm>
          <a:prstGeom prst="rect">
            <a:avLst/>
          </a:prstGeom>
          <a:solidFill>
            <a:srgbClr val="16A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28" name="Rectangle 27"/>
          <p:cNvSpPr/>
          <p:nvPr/>
        </p:nvSpPr>
        <p:spPr>
          <a:xfrm>
            <a:off x="7402982" y="1417320"/>
            <a:ext cx="1283817" cy="3474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73152" tIns="36576" bIns="36576"/>
          <a:lstStyle/>
          <a:p>
            <a:pPr algn="l"/>
            <a:r>
              <a:rPr sz="1700" b="1" i="0">
                <a:solidFill>
                  <a:srgbClr val="11206D"/>
                </a:solidFill>
                <a:latin typeface="Space Grotesk"/>
              </a:rPr>
              <a:t>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02982" y="1764792"/>
            <a:ext cx="1302105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660" b="1" i="0">
                <a:solidFill>
                  <a:srgbClr val="11206D"/>
                </a:solidFill>
                <a:latin typeface="Space Grotesk"/>
              </a:rPr>
              <a:t>CRITICAL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02982" y="1947672"/>
            <a:ext cx="1302105" cy="219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650" b="0" i="0">
                <a:solidFill>
                  <a:srgbClr val="8A93A8"/>
                </a:solidFill>
                <a:latin typeface="Space Grotesk"/>
              </a:rPr>
              <a:t>None confirmed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2377440"/>
            <a:ext cx="4114800" cy="22677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32" name="Rectangle 31"/>
          <p:cNvSpPr/>
          <p:nvPr/>
        </p:nvSpPr>
        <p:spPr>
          <a:xfrm>
            <a:off x="548640" y="2459736"/>
            <a:ext cx="3749039" cy="219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800" b="1" i="0">
                <a:solidFill>
                  <a:srgbClr val="8A93A8"/>
                </a:solidFill>
                <a:latin typeface="Space Grotesk"/>
              </a:rPr>
              <a:t>FINDING SEVERITY DISTRIBUTION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2761488"/>
            <a:ext cx="1154485" cy="182880"/>
          </a:xfrm>
          <a:prstGeom prst="rect">
            <a:avLst/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34" name="Rectangle 33"/>
          <p:cNvSpPr/>
          <p:nvPr/>
        </p:nvSpPr>
        <p:spPr>
          <a:xfrm>
            <a:off x="1721413" y="2761488"/>
            <a:ext cx="2173149" cy="182880"/>
          </a:xfrm>
          <a:prstGeom prst="rect">
            <a:avLst/>
          </a:prstGeom>
          <a:solidFill>
            <a:srgbClr val="646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35" name="Rectangle 34"/>
          <p:cNvSpPr/>
          <p:nvPr/>
        </p:nvSpPr>
        <p:spPr>
          <a:xfrm>
            <a:off x="3894563" y="2761488"/>
            <a:ext cx="384828" cy="182880"/>
          </a:xfrm>
          <a:prstGeom prst="rect">
            <a:avLst/>
          </a:prstGeom>
          <a:solidFill>
            <a:srgbClr val="16A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36" name="Oval 35"/>
          <p:cNvSpPr/>
          <p:nvPr/>
        </p:nvSpPr>
        <p:spPr>
          <a:xfrm>
            <a:off x="566928" y="3067812"/>
            <a:ext cx="91440" cy="91440"/>
          </a:xfrm>
          <a:prstGeom prst="ellipse">
            <a:avLst/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</a:p>
        </p:txBody>
      </p:sp>
      <p:sp>
        <p:nvSpPr>
          <p:cNvPr id="37" name="Rectangle 36"/>
          <p:cNvSpPr/>
          <p:nvPr/>
        </p:nvSpPr>
        <p:spPr>
          <a:xfrm>
            <a:off x="713232" y="3017520"/>
            <a:ext cx="1054608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73152" tIns="36576" bIns="36576"/>
          <a:lstStyle/>
          <a:p>
            <a:pPr algn="l"/>
            <a:r>
              <a:rPr sz="819" b="0" i="0">
                <a:solidFill>
                  <a:srgbClr val="11206D"/>
                </a:solidFill>
                <a:latin typeface="Space Grotesk"/>
              </a:rPr>
              <a:t>High 51</a:t>
            </a:r>
          </a:p>
        </p:txBody>
      </p:sp>
      <p:sp>
        <p:nvSpPr>
          <p:cNvPr id="38" name="Oval 37"/>
          <p:cNvSpPr/>
          <p:nvPr/>
        </p:nvSpPr>
        <p:spPr>
          <a:xfrm>
            <a:off x="1804415" y="3067812"/>
            <a:ext cx="91440" cy="91440"/>
          </a:xfrm>
          <a:prstGeom prst="ellipse">
            <a:avLst/>
          </a:prstGeom>
          <a:solidFill>
            <a:srgbClr val="646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</a:p>
        </p:txBody>
      </p:sp>
      <p:sp>
        <p:nvSpPr>
          <p:cNvPr id="39" name="Rectangle 38"/>
          <p:cNvSpPr/>
          <p:nvPr/>
        </p:nvSpPr>
        <p:spPr>
          <a:xfrm>
            <a:off x="1950720" y="3017520"/>
            <a:ext cx="1054608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73152" tIns="36576" bIns="36576"/>
          <a:lstStyle/>
          <a:p>
            <a:pPr algn="l"/>
            <a:r>
              <a:rPr sz="819" b="0" i="0">
                <a:solidFill>
                  <a:srgbClr val="11206D"/>
                </a:solidFill>
                <a:latin typeface="Space Grotesk"/>
              </a:rPr>
              <a:t>Medium 96</a:t>
            </a:r>
          </a:p>
        </p:txBody>
      </p:sp>
      <p:sp>
        <p:nvSpPr>
          <p:cNvPr id="40" name="Oval 39"/>
          <p:cNvSpPr/>
          <p:nvPr/>
        </p:nvSpPr>
        <p:spPr>
          <a:xfrm>
            <a:off x="3041904" y="3067812"/>
            <a:ext cx="91440" cy="91440"/>
          </a:xfrm>
          <a:prstGeom prst="ellipse">
            <a:avLst/>
          </a:prstGeom>
          <a:solidFill>
            <a:srgbClr val="16A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</a:p>
        </p:txBody>
      </p:sp>
      <p:sp>
        <p:nvSpPr>
          <p:cNvPr id="41" name="Rectangle 40"/>
          <p:cNvSpPr/>
          <p:nvPr/>
        </p:nvSpPr>
        <p:spPr>
          <a:xfrm>
            <a:off x="3188208" y="3017520"/>
            <a:ext cx="1054608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73152" tIns="36576" bIns="36576"/>
          <a:lstStyle/>
          <a:p>
            <a:pPr algn="l"/>
            <a:r>
              <a:rPr sz="819" b="0" i="0">
                <a:solidFill>
                  <a:srgbClr val="11206D"/>
                </a:solidFill>
                <a:latin typeface="Space Grotesk"/>
              </a:rPr>
              <a:t>Low 17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3328416"/>
            <a:ext cx="1828800" cy="4206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73152" tIns="36576" bIns="36576"/>
          <a:lstStyle/>
          <a:p>
            <a:pPr algn="l"/>
            <a:r>
              <a:rPr sz="2500" b="1" i="0">
                <a:solidFill>
                  <a:srgbClr val="0046FF"/>
                </a:solidFill>
                <a:latin typeface="Space Grotesk"/>
              </a:rPr>
              <a:t>89.6%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28" y="3749039"/>
            <a:ext cx="3712463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860" b="0" i="0">
                <a:solidFill>
                  <a:srgbClr val="11206D"/>
                </a:solidFill>
                <a:latin typeface="Space Grotesk"/>
              </a:rPr>
              <a:t>of AI findings are Medium or High severity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6928" y="4041648"/>
            <a:ext cx="3712463" cy="512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860" b="0" i="0">
                <a:solidFill>
                  <a:srgbClr val="5A637D"/>
                </a:solidFill>
                <a:latin typeface="Space Grotesk"/>
              </a:rPr>
              <a:t>Risk concentrates in Azure Machine Learning controls: public access, customer-managed encryption, diagnostics and monitoring.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663440" y="2377440"/>
            <a:ext cx="4114800" cy="22677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46" name="Rectangle 45"/>
          <p:cNvSpPr/>
          <p:nvPr/>
        </p:nvSpPr>
        <p:spPr>
          <a:xfrm>
            <a:off x="4846320" y="2459736"/>
            <a:ext cx="3749039" cy="219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800" b="1" i="0">
                <a:solidFill>
                  <a:srgbClr val="8A93A8"/>
                </a:solidFill>
                <a:latin typeface="Space Grotesk"/>
              </a:rPr>
              <a:t>PRIORITY RISK SIGNALS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828032" y="2743200"/>
            <a:ext cx="3785615" cy="585216"/>
          </a:xfrm>
          <a:prstGeom prst="roundRect">
            <a:avLst>
              <a:gd name="adj" fmla="val 5000"/>
            </a:avLst>
          </a:prstGeom>
          <a:solidFill>
            <a:srgbClr val="FB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48" name="Oval 47"/>
          <p:cNvSpPr/>
          <p:nvPr/>
        </p:nvSpPr>
        <p:spPr>
          <a:xfrm>
            <a:off x="4983480" y="2875788"/>
            <a:ext cx="100584" cy="100584"/>
          </a:xfrm>
          <a:prstGeom prst="ellipse">
            <a:avLst/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</a:p>
        </p:txBody>
      </p:sp>
      <p:sp>
        <p:nvSpPr>
          <p:cNvPr id="49" name="Rectangle 48"/>
          <p:cNvSpPr/>
          <p:nvPr/>
        </p:nvSpPr>
        <p:spPr>
          <a:xfrm>
            <a:off x="5175504" y="2779776"/>
            <a:ext cx="3291839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73152" tIns="36576" bIns="36576"/>
          <a:lstStyle/>
          <a:p>
            <a:pPr algn="l"/>
            <a:r>
              <a:rPr sz="900" b="1" i="0">
                <a:solidFill>
                  <a:srgbClr val="11206D"/>
                </a:solidFill>
                <a:latin typeface="Space Grotesk"/>
              </a:rPr>
              <a:t>Public network exposure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175504" y="2999232"/>
            <a:ext cx="3291839" cy="2834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760" b="0" i="0">
                <a:solidFill>
                  <a:srgbClr val="5A637D"/>
                </a:solidFill>
                <a:latin typeface="Space Grotesk"/>
              </a:rPr>
              <a:t>24 AI assets have public network access enabled. No separate Internet Exposure finding was returned.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828032" y="3364991"/>
            <a:ext cx="3785615" cy="585216"/>
          </a:xfrm>
          <a:prstGeom prst="roundRect">
            <a:avLst>
              <a:gd name="adj" fmla="val 5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52" name="Oval 51"/>
          <p:cNvSpPr/>
          <p:nvPr/>
        </p:nvSpPr>
        <p:spPr>
          <a:xfrm>
            <a:off x="4983480" y="3497579"/>
            <a:ext cx="100584" cy="100584"/>
          </a:xfrm>
          <a:prstGeom prst="ellipse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</a:p>
        </p:txBody>
      </p:sp>
      <p:sp>
        <p:nvSpPr>
          <p:cNvPr id="53" name="Rectangle 52"/>
          <p:cNvSpPr/>
          <p:nvPr/>
        </p:nvSpPr>
        <p:spPr>
          <a:xfrm>
            <a:off x="5175504" y="3401568"/>
            <a:ext cx="3291839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73152" tIns="36576" bIns="36576"/>
          <a:lstStyle/>
          <a:p>
            <a:pPr algn="l"/>
            <a:r>
              <a:rPr sz="900" b="1" i="0">
                <a:solidFill>
                  <a:srgbClr val="11206D"/>
                </a:solidFill>
                <a:latin typeface="Space Grotesk"/>
              </a:rPr>
              <a:t>Data protection concentration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175504" y="3621024"/>
            <a:ext cx="3291839" cy="2834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760" b="0" i="0">
                <a:solidFill>
                  <a:srgbClr val="5A637D"/>
                </a:solidFill>
                <a:latin typeface="Space Grotesk"/>
              </a:rPr>
              <a:t>All 34 assets carry data-security findings. 41 data-security findings were confirmed across the AI estate.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828032" y="3986783"/>
            <a:ext cx="3785615" cy="585216"/>
          </a:xfrm>
          <a:prstGeom prst="roundRect">
            <a:avLst>
              <a:gd name="adj" fmla="val 5000"/>
            </a:avLst>
          </a:prstGeom>
          <a:solidFill>
            <a:srgbClr val="EC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56" name="Oval 55"/>
          <p:cNvSpPr/>
          <p:nvPr/>
        </p:nvSpPr>
        <p:spPr>
          <a:xfrm>
            <a:off x="4983480" y="4119371"/>
            <a:ext cx="100584" cy="100584"/>
          </a:xfrm>
          <a:prstGeom prst="ellipse">
            <a:avLst/>
          </a:prstGeom>
          <a:solidFill>
            <a:srgbClr val="4D4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</a:p>
        </p:txBody>
      </p:sp>
      <p:sp>
        <p:nvSpPr>
          <p:cNvPr id="57" name="Rectangle 56"/>
          <p:cNvSpPr/>
          <p:nvPr/>
        </p:nvSpPr>
        <p:spPr>
          <a:xfrm>
            <a:off x="5175504" y="4023359"/>
            <a:ext cx="3291839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73152" tIns="36576" bIns="36576"/>
          <a:lstStyle/>
          <a:p>
            <a:pPr algn="l"/>
            <a:r>
              <a:rPr sz="900" b="1" i="0">
                <a:solidFill>
                  <a:srgbClr val="11206D"/>
                </a:solidFill>
                <a:latin typeface="Space Grotesk"/>
              </a:rPr>
              <a:t>Platform concentration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175504" y="4242816"/>
            <a:ext cx="3291839" cy="2834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760" b="0" i="0">
                <a:solidFill>
                  <a:srgbClr val="5A637D"/>
                </a:solidFill>
                <a:latin typeface="Space Grotesk"/>
              </a:rPr>
              <a:t>27 of 34 assets are Azure Machine Learning workspaces, and all 27 carry High-severity findings.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Space Grotesk"/>
              </a:rPr>
              <a:t>AI Asset Footprint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68096"/>
            <a:ext cx="786384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50" b="1" i="0">
                <a:solidFill>
                  <a:srgbClr val="0046FF"/>
                </a:solidFill>
                <a:latin typeface="Space Grotesk"/>
              </a:rPr>
              <a:t>PLATFORM AND REGION SPREAD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84124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19" b="0" i="0">
                <a:solidFill>
                  <a:srgbClr val="5A637D"/>
                </a:solidFill>
                <a:latin typeface="Space Grotesk"/>
              </a:rPr>
              <a:t>The confirmed AI estate is entirely Azure. It concentrates in Machine Learning workspaces deployed mainly in southindia.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4791456"/>
            <a:ext cx="841248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60" b="0" i="1">
                <a:solidFill>
                  <a:srgbClr val="5A637D"/>
                </a:solidFill>
                <a:latin typeface="Space Grotesk"/>
              </a:rPr>
              <a:t>Source: confirmed AI asset inventory, active AI findings, Azure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353312"/>
            <a:ext cx="4754880" cy="12984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7" name="Rectangle 6"/>
          <p:cNvSpPr/>
          <p:nvPr/>
        </p:nvSpPr>
        <p:spPr>
          <a:xfrm>
            <a:off x="548640" y="1435608"/>
            <a:ext cx="4389120" cy="219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800" b="1" i="0">
                <a:solidFill>
                  <a:srgbClr val="8A93A8"/>
                </a:solidFill>
                <a:latin typeface="Space Grotesk"/>
              </a:rPr>
              <a:t>AI SERVICE AND PLATFORM DISTRIBUTION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55648"/>
            <a:ext cx="214884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576" tIns="36576" bIns="36576"/>
          <a:lstStyle/>
          <a:p>
            <a:pPr algn="l"/>
            <a:r>
              <a:rPr sz="819" b="0" i="0">
                <a:solidFill>
                  <a:srgbClr val="11206D"/>
                </a:solidFill>
                <a:latin typeface="Space Grotesk"/>
              </a:rPr>
              <a:t>Azure Machine Learning Workspace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70632" y="1831086"/>
            <a:ext cx="1143000" cy="105156"/>
          </a:xfrm>
          <a:prstGeom prst="roundRect">
            <a:avLst>
              <a:gd name="adj" fmla="val 50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10" name="Rounded Rectangle 9"/>
          <p:cNvSpPr/>
          <p:nvPr/>
        </p:nvSpPr>
        <p:spPr>
          <a:xfrm>
            <a:off x="2770632" y="1831086"/>
            <a:ext cx="1143000" cy="105156"/>
          </a:xfrm>
          <a:prstGeom prst="roundRect">
            <a:avLst>
              <a:gd name="adj" fmla="val 50000"/>
            </a:avLst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11" name="Rectangle 10"/>
          <p:cNvSpPr/>
          <p:nvPr/>
        </p:nvSpPr>
        <p:spPr>
          <a:xfrm>
            <a:off x="3986783" y="1755648"/>
            <a:ext cx="402336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r"/>
            <a:r>
              <a:rPr sz="819" b="1" i="0">
                <a:solidFill>
                  <a:srgbClr val="11206D"/>
                </a:solidFill>
                <a:latin typeface="Space Grotesk"/>
              </a:rPr>
              <a:t>27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755648"/>
            <a:ext cx="54864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r"/>
            <a:r>
              <a:rPr sz="760" b="0" i="0">
                <a:solidFill>
                  <a:srgbClr val="8A93A8"/>
                </a:solidFill>
                <a:latin typeface="Space Grotesk"/>
              </a:rPr>
              <a:t>79.4%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139696"/>
            <a:ext cx="214884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576" tIns="36576" bIns="36576"/>
          <a:lstStyle/>
          <a:p>
            <a:pPr algn="l"/>
            <a:r>
              <a:rPr sz="819" b="0" i="0">
                <a:solidFill>
                  <a:srgbClr val="11206D"/>
                </a:solidFill>
                <a:latin typeface="Space Grotesk"/>
              </a:rPr>
              <a:t>Azure Databricks Workspace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70632" y="2215134"/>
            <a:ext cx="1143000" cy="105156"/>
          </a:xfrm>
          <a:prstGeom prst="roundRect">
            <a:avLst>
              <a:gd name="adj" fmla="val 50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15" name="Rounded Rectangle 14"/>
          <p:cNvSpPr/>
          <p:nvPr/>
        </p:nvSpPr>
        <p:spPr>
          <a:xfrm>
            <a:off x="2770632" y="2215134"/>
            <a:ext cx="296333" cy="105156"/>
          </a:xfrm>
          <a:prstGeom prst="roundRect">
            <a:avLst>
              <a:gd name="adj" fmla="val 50000"/>
            </a:avLst>
          </a:prstGeom>
          <a:solidFill>
            <a:srgbClr val="646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16" name="Rectangle 15"/>
          <p:cNvSpPr/>
          <p:nvPr/>
        </p:nvSpPr>
        <p:spPr>
          <a:xfrm>
            <a:off x="3986783" y="2139696"/>
            <a:ext cx="402336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r"/>
            <a:r>
              <a:rPr sz="819" b="1" i="0">
                <a:solidFill>
                  <a:srgbClr val="11206D"/>
                </a:solidFill>
                <a:latin typeface="Space Grotesk"/>
              </a:rPr>
              <a:t>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80560" y="2139696"/>
            <a:ext cx="54864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r"/>
            <a:r>
              <a:rPr sz="760" b="0" i="0">
                <a:solidFill>
                  <a:srgbClr val="8A93A8"/>
                </a:solidFill>
                <a:latin typeface="Space Grotesk"/>
              </a:rPr>
              <a:t>20.6%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2743200"/>
            <a:ext cx="4754880" cy="19019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19" name="Rectangle 18"/>
          <p:cNvSpPr/>
          <p:nvPr/>
        </p:nvSpPr>
        <p:spPr>
          <a:xfrm>
            <a:off x="548640" y="2825496"/>
            <a:ext cx="4389120" cy="219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800" b="1" i="0">
                <a:solidFill>
                  <a:srgbClr val="8A93A8"/>
                </a:solidFill>
                <a:latin typeface="Space Grotesk"/>
              </a:rPr>
              <a:t>REGIONAL ASSET DISTRIBUTION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145536"/>
            <a:ext cx="128016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576" tIns="36576" bIns="36576"/>
          <a:lstStyle/>
          <a:p>
            <a:pPr algn="l"/>
            <a:r>
              <a:rPr sz="819" b="0" i="0">
                <a:solidFill>
                  <a:srgbClr val="11206D"/>
                </a:solidFill>
                <a:latin typeface="Space Grotesk"/>
              </a:rPr>
              <a:t>southindia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901952" y="3220974"/>
            <a:ext cx="2011680" cy="105156"/>
          </a:xfrm>
          <a:prstGeom prst="roundRect">
            <a:avLst>
              <a:gd name="adj" fmla="val 50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22" name="Rounded Rectangle 21"/>
          <p:cNvSpPr/>
          <p:nvPr/>
        </p:nvSpPr>
        <p:spPr>
          <a:xfrm>
            <a:off x="1901952" y="3220974"/>
            <a:ext cx="2011680" cy="105156"/>
          </a:xfrm>
          <a:prstGeom prst="roundRect">
            <a:avLst>
              <a:gd name="adj" fmla="val 50000"/>
            </a:avLst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23" name="Rectangle 22"/>
          <p:cNvSpPr/>
          <p:nvPr/>
        </p:nvSpPr>
        <p:spPr>
          <a:xfrm>
            <a:off x="3986783" y="3145536"/>
            <a:ext cx="402336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r"/>
            <a:r>
              <a:rPr sz="819" b="1" i="0">
                <a:solidFill>
                  <a:srgbClr val="11206D"/>
                </a:solidFill>
                <a:latin typeface="Space Grotesk"/>
              </a:rPr>
              <a:t>22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80560" y="3145536"/>
            <a:ext cx="54864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r"/>
            <a:r>
              <a:rPr sz="760" b="0" i="0">
                <a:solidFill>
                  <a:srgbClr val="8A93A8"/>
                </a:solidFill>
                <a:latin typeface="Space Grotesk"/>
              </a:rPr>
              <a:t>64.7%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474720"/>
            <a:ext cx="128016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576" tIns="36576" bIns="36576"/>
          <a:lstStyle/>
          <a:p>
            <a:pPr algn="l"/>
            <a:r>
              <a:rPr sz="819" b="0" i="0">
                <a:solidFill>
                  <a:srgbClr val="11206D"/>
                </a:solidFill>
                <a:latin typeface="Space Grotesk"/>
              </a:rPr>
              <a:t>centralindia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901952" y="3550158"/>
            <a:ext cx="2011680" cy="105156"/>
          </a:xfrm>
          <a:prstGeom prst="roundRect">
            <a:avLst>
              <a:gd name="adj" fmla="val 50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27" name="Rounded Rectangle 26"/>
          <p:cNvSpPr/>
          <p:nvPr/>
        </p:nvSpPr>
        <p:spPr>
          <a:xfrm>
            <a:off x="1901952" y="3550158"/>
            <a:ext cx="914400" cy="105156"/>
          </a:xfrm>
          <a:prstGeom prst="roundRect">
            <a:avLst>
              <a:gd name="adj" fmla="val 50000"/>
            </a:avLst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28" name="Rectangle 27"/>
          <p:cNvSpPr/>
          <p:nvPr/>
        </p:nvSpPr>
        <p:spPr>
          <a:xfrm>
            <a:off x="3986783" y="3474720"/>
            <a:ext cx="402336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r"/>
            <a:r>
              <a:rPr sz="819" b="1" i="0">
                <a:solidFill>
                  <a:srgbClr val="11206D"/>
                </a:solidFill>
                <a:latin typeface="Space Grotesk"/>
              </a:rPr>
              <a:t>10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80560" y="3474720"/>
            <a:ext cx="54864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r"/>
            <a:r>
              <a:rPr sz="760" b="0" i="0">
                <a:solidFill>
                  <a:srgbClr val="8A93A8"/>
                </a:solidFill>
                <a:latin typeface="Space Grotesk"/>
              </a:rPr>
              <a:t>29.4%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803904"/>
            <a:ext cx="128016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576" tIns="36576" bIns="36576"/>
          <a:lstStyle/>
          <a:p>
            <a:pPr algn="l"/>
            <a:r>
              <a:rPr sz="819" b="0" i="0">
                <a:solidFill>
                  <a:srgbClr val="11206D"/>
                </a:solidFill>
                <a:latin typeface="Space Grotesk"/>
              </a:rPr>
              <a:t>eastus2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901952" y="3879341"/>
            <a:ext cx="2011680" cy="105156"/>
          </a:xfrm>
          <a:prstGeom prst="roundRect">
            <a:avLst>
              <a:gd name="adj" fmla="val 50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32" name="Rounded Rectangle 31"/>
          <p:cNvSpPr/>
          <p:nvPr/>
        </p:nvSpPr>
        <p:spPr>
          <a:xfrm>
            <a:off x="1901952" y="3879341"/>
            <a:ext cx="182880" cy="105156"/>
          </a:xfrm>
          <a:prstGeom prst="roundRect">
            <a:avLst>
              <a:gd name="adj" fmla="val 50000"/>
            </a:avLst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33" name="Rectangle 32"/>
          <p:cNvSpPr/>
          <p:nvPr/>
        </p:nvSpPr>
        <p:spPr>
          <a:xfrm>
            <a:off x="3986783" y="3803904"/>
            <a:ext cx="402336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r"/>
            <a:r>
              <a:rPr sz="819" b="1" i="0">
                <a:solidFill>
                  <a:srgbClr val="11206D"/>
                </a:solidFill>
                <a:latin typeface="Space Grotesk"/>
              </a:rPr>
              <a:t>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80560" y="3803904"/>
            <a:ext cx="54864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r"/>
            <a:r>
              <a:rPr sz="760" b="0" i="0">
                <a:solidFill>
                  <a:srgbClr val="8A93A8"/>
                </a:solidFill>
                <a:latin typeface="Space Grotesk"/>
              </a:rPr>
              <a:t>5.9%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187952"/>
            <a:ext cx="4389120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720" b="0" i="1">
                <a:solidFill>
                  <a:srgbClr val="8A93A8"/>
                </a:solidFill>
                <a:latin typeface="Space Grotesk"/>
              </a:rPr>
              <a:t>Coverage note: unique AI asset counts by account, subscription or project were absent from the inventory output. They are not inferred here.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285232" y="1353312"/>
            <a:ext cx="3493008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600" b="1" i="0">
                <a:solidFill>
                  <a:srgbClr val="0046FF"/>
                </a:solidFill>
                <a:latin typeface="Space Grotesk"/>
              </a:rPr>
              <a:t>34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5A637D"/>
                </a:solidFill>
                <a:latin typeface="Space Grotesk"/>
              </a:rPr>
              <a:t>TOTAL CONFIRMED AI AND ML ASSETS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285232" y="2194560"/>
            <a:ext cx="3493008" cy="749808"/>
          </a:xfrm>
          <a:prstGeom prst="roundRect">
            <a:avLst>
              <a:gd name="adj" fmla="val 5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38" name="Oval 37"/>
          <p:cNvSpPr/>
          <p:nvPr/>
        </p:nvSpPr>
        <p:spPr>
          <a:xfrm>
            <a:off x="5440680" y="2327148"/>
            <a:ext cx="100584" cy="100584"/>
          </a:xfrm>
          <a:prstGeom prst="ellipse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</a:p>
        </p:txBody>
      </p:sp>
      <p:sp>
        <p:nvSpPr>
          <p:cNvPr id="39" name="Rectangle 38"/>
          <p:cNvSpPr/>
          <p:nvPr/>
        </p:nvSpPr>
        <p:spPr>
          <a:xfrm>
            <a:off x="5632704" y="2231136"/>
            <a:ext cx="2999232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73152" tIns="36576" bIns="36576"/>
          <a:lstStyle/>
          <a:p>
            <a:pPr algn="l"/>
            <a:r>
              <a:rPr sz="900" b="1" i="0">
                <a:solidFill>
                  <a:srgbClr val="11206D"/>
                </a:solidFill>
                <a:latin typeface="Space Grotesk"/>
              </a:rPr>
              <a:t>Platform concentration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32704" y="2450591"/>
            <a:ext cx="2999232" cy="44805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800" b="0" i="0">
                <a:solidFill>
                  <a:srgbClr val="5A637D"/>
                </a:solidFill>
                <a:latin typeface="Space Grotesk"/>
              </a:rPr>
              <a:t>79.4% of AI assets are Azure Machine Learning workspaces.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285232" y="3017520"/>
            <a:ext cx="3493008" cy="749808"/>
          </a:xfrm>
          <a:prstGeom prst="roundRect">
            <a:avLst>
              <a:gd name="adj" fmla="val 5000"/>
            </a:avLst>
          </a:prstGeom>
          <a:solidFill>
            <a:srgbClr val="EC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42" name="Oval 41"/>
          <p:cNvSpPr/>
          <p:nvPr/>
        </p:nvSpPr>
        <p:spPr>
          <a:xfrm>
            <a:off x="5440680" y="3150108"/>
            <a:ext cx="100584" cy="100584"/>
          </a:xfrm>
          <a:prstGeom prst="ellipse">
            <a:avLst/>
          </a:prstGeom>
          <a:solidFill>
            <a:srgbClr val="646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</a:p>
        </p:txBody>
      </p:sp>
      <p:sp>
        <p:nvSpPr>
          <p:cNvPr id="43" name="Rectangle 42"/>
          <p:cNvSpPr/>
          <p:nvPr/>
        </p:nvSpPr>
        <p:spPr>
          <a:xfrm>
            <a:off x="5632704" y="3054096"/>
            <a:ext cx="2999232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73152" tIns="36576" bIns="36576"/>
          <a:lstStyle/>
          <a:p>
            <a:pPr algn="l"/>
            <a:r>
              <a:rPr sz="900" b="1" i="0">
                <a:solidFill>
                  <a:srgbClr val="11206D"/>
                </a:solidFill>
                <a:latin typeface="Space Grotesk"/>
              </a:rPr>
              <a:t>Regional concentration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32704" y="3273552"/>
            <a:ext cx="2999232" cy="44805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800" b="0" i="0">
                <a:solidFill>
                  <a:srgbClr val="5A637D"/>
                </a:solidFill>
                <a:latin typeface="Space Grotesk"/>
              </a:rPr>
              <a:t>64.7% of AI assets sit in southindia.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285232" y="3840480"/>
            <a:ext cx="3493008" cy="749808"/>
          </a:xfrm>
          <a:prstGeom prst="roundRect">
            <a:avLst>
              <a:gd name="adj" fmla="val 5000"/>
            </a:avLst>
          </a:prstGeom>
          <a:solidFill>
            <a:srgbClr val="FB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46" name="Oval 45"/>
          <p:cNvSpPr/>
          <p:nvPr/>
        </p:nvSpPr>
        <p:spPr>
          <a:xfrm>
            <a:off x="5440680" y="3973068"/>
            <a:ext cx="100584" cy="100584"/>
          </a:xfrm>
          <a:prstGeom prst="ellipse">
            <a:avLst/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</a:p>
        </p:txBody>
      </p:sp>
      <p:sp>
        <p:nvSpPr>
          <p:cNvPr id="47" name="Rectangle 46"/>
          <p:cNvSpPr/>
          <p:nvPr/>
        </p:nvSpPr>
        <p:spPr>
          <a:xfrm>
            <a:off x="5632704" y="3877056"/>
            <a:ext cx="2999232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73152" tIns="36576" bIns="36576"/>
          <a:lstStyle/>
          <a:p>
            <a:pPr algn="l"/>
            <a:r>
              <a:rPr sz="900" b="1" i="0">
                <a:solidFill>
                  <a:srgbClr val="11206D"/>
                </a:solidFill>
                <a:latin typeface="Space Grotesk"/>
              </a:rPr>
              <a:t>Finding coverage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32704" y="4096512"/>
            <a:ext cx="2999232" cy="44805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800" b="0" i="0">
                <a:solidFill>
                  <a:srgbClr val="5A637D"/>
                </a:solidFill>
                <a:latin typeface="Space Grotesk"/>
              </a:rPr>
              <a:t>34 of 34 confirmed AI assets carry at least one active finding.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Space Grotesk"/>
              </a:rPr>
              <a:t>AI Severity and Risk Concentration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68096"/>
            <a:ext cx="786384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50" b="1" i="0">
                <a:solidFill>
                  <a:srgbClr val="0046FF"/>
                </a:solidFill>
                <a:latin typeface="Space Grotesk"/>
              </a:rPr>
              <a:t>WHICH CONTROLS CARRY THE WEIGHT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84124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19" b="0" i="0">
                <a:solidFill>
                  <a:srgbClr val="5A637D"/>
                </a:solidFill>
                <a:latin typeface="Space Grotesk"/>
              </a:rPr>
              <a:t>High-severity impact is broad across Azure ML workspaces. Medium and Low findings touch the full AI estate.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4791456"/>
            <a:ext cx="841248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60" b="0" i="1">
                <a:solidFill>
                  <a:srgbClr val="5A637D"/>
                </a:solidFill>
                <a:latin typeface="Space Grotesk"/>
              </a:rPr>
              <a:t>Source: confirmed AI asset inventory, active AI findings, Azure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353312"/>
            <a:ext cx="3108960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7" name="Rectangle 6"/>
          <p:cNvSpPr/>
          <p:nvPr/>
        </p:nvSpPr>
        <p:spPr>
          <a:xfrm>
            <a:off x="548640" y="1435608"/>
            <a:ext cx="2743200" cy="219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800" b="1" i="0">
                <a:solidFill>
                  <a:srgbClr val="8A93A8"/>
                </a:solidFill>
                <a:latin typeface="Space Grotesk"/>
              </a:rPr>
              <a:t>SEVERITY VOLUME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737360"/>
            <a:ext cx="77724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576" tIns="36576" bIns="36576"/>
          <a:lstStyle/>
          <a:p>
            <a:pPr algn="l"/>
            <a:r>
              <a:rPr sz="819" b="0" i="0">
                <a:solidFill>
                  <a:srgbClr val="11206D"/>
                </a:solidFill>
                <a:latin typeface="Space Grotesk"/>
              </a:rPr>
              <a:t>High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80744" y="1812798"/>
            <a:ext cx="1399032" cy="105156"/>
          </a:xfrm>
          <a:prstGeom prst="roundRect">
            <a:avLst>
              <a:gd name="adj" fmla="val 50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10" name="Rounded Rectangle 9"/>
          <p:cNvSpPr/>
          <p:nvPr/>
        </p:nvSpPr>
        <p:spPr>
          <a:xfrm>
            <a:off x="1380744" y="1812798"/>
            <a:ext cx="743235" cy="105156"/>
          </a:xfrm>
          <a:prstGeom prst="roundRect">
            <a:avLst>
              <a:gd name="adj" fmla="val 50000"/>
            </a:avLst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11" name="Rectangle 10"/>
          <p:cNvSpPr/>
          <p:nvPr/>
        </p:nvSpPr>
        <p:spPr>
          <a:xfrm>
            <a:off x="2852928" y="1737360"/>
            <a:ext cx="475488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r"/>
            <a:r>
              <a:rPr sz="819" b="1" i="0">
                <a:solidFill>
                  <a:srgbClr val="11206D"/>
                </a:solidFill>
                <a:latin typeface="Space Grotesk"/>
              </a:rPr>
              <a:t>51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" y="2048255"/>
            <a:ext cx="77724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576" tIns="36576" bIns="36576"/>
          <a:lstStyle/>
          <a:p>
            <a:pPr algn="l"/>
            <a:r>
              <a:rPr sz="819" b="0" i="0">
                <a:solidFill>
                  <a:srgbClr val="11206D"/>
                </a:solidFill>
                <a:latin typeface="Space Grotesk"/>
              </a:rPr>
              <a:t>Medium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80744" y="2123694"/>
            <a:ext cx="1399032" cy="105156"/>
          </a:xfrm>
          <a:prstGeom prst="roundRect">
            <a:avLst>
              <a:gd name="adj" fmla="val 50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14" name="Rounded Rectangle 13"/>
          <p:cNvSpPr/>
          <p:nvPr/>
        </p:nvSpPr>
        <p:spPr>
          <a:xfrm>
            <a:off x="1380744" y="2123694"/>
            <a:ext cx="1399032" cy="105156"/>
          </a:xfrm>
          <a:prstGeom prst="roundRect">
            <a:avLst>
              <a:gd name="adj" fmla="val 50000"/>
            </a:avLst>
          </a:prstGeom>
          <a:solidFill>
            <a:srgbClr val="646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15" name="Rectangle 14"/>
          <p:cNvSpPr/>
          <p:nvPr/>
        </p:nvSpPr>
        <p:spPr>
          <a:xfrm>
            <a:off x="2852928" y="2048255"/>
            <a:ext cx="475488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r"/>
            <a:r>
              <a:rPr sz="819" b="1" i="0">
                <a:solidFill>
                  <a:srgbClr val="11206D"/>
                </a:solidFill>
                <a:latin typeface="Space Grotesk"/>
              </a:rPr>
              <a:t>96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2359152"/>
            <a:ext cx="77724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576" tIns="36576" bIns="36576"/>
          <a:lstStyle/>
          <a:p>
            <a:pPr algn="l"/>
            <a:r>
              <a:rPr sz="819" b="0" i="0">
                <a:solidFill>
                  <a:srgbClr val="11206D"/>
                </a:solidFill>
                <a:latin typeface="Space Grotesk"/>
              </a:rPr>
              <a:t>Low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80744" y="2434590"/>
            <a:ext cx="1399032" cy="105156"/>
          </a:xfrm>
          <a:prstGeom prst="roundRect">
            <a:avLst>
              <a:gd name="adj" fmla="val 50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18" name="Rounded Rectangle 17"/>
          <p:cNvSpPr/>
          <p:nvPr/>
        </p:nvSpPr>
        <p:spPr>
          <a:xfrm>
            <a:off x="1380744" y="2434590"/>
            <a:ext cx="247745" cy="105156"/>
          </a:xfrm>
          <a:prstGeom prst="roundRect">
            <a:avLst>
              <a:gd name="adj" fmla="val 50000"/>
            </a:avLst>
          </a:prstGeom>
          <a:solidFill>
            <a:srgbClr val="16A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19" name="Rectangle 18"/>
          <p:cNvSpPr/>
          <p:nvPr/>
        </p:nvSpPr>
        <p:spPr>
          <a:xfrm>
            <a:off x="2852928" y="2359152"/>
            <a:ext cx="475488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r"/>
            <a:r>
              <a:rPr sz="819" b="1" i="0">
                <a:solidFill>
                  <a:srgbClr val="11206D"/>
                </a:solidFill>
                <a:latin typeface="Space Grotesk"/>
              </a:rPr>
              <a:t>17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0352" y="2743200"/>
            <a:ext cx="2798064" cy="274320"/>
          </a:xfrm>
          <a:prstGeom prst="roundRect">
            <a:avLst>
              <a:gd name="adj" fmla="val 6000"/>
            </a:avLst>
          </a:prstGeom>
          <a:solidFill>
            <a:srgbClr val="E7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21" name="Rectangle 20"/>
          <p:cNvSpPr/>
          <p:nvPr/>
        </p:nvSpPr>
        <p:spPr>
          <a:xfrm>
            <a:off x="658368" y="2743200"/>
            <a:ext cx="2615184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73152" tIns="36576" bIns="36576"/>
          <a:lstStyle/>
          <a:p>
            <a:pPr algn="l"/>
            <a:r>
              <a:rPr sz="840" b="1" i="0">
                <a:solidFill>
                  <a:srgbClr val="0B7A42"/>
                </a:solidFill>
                <a:latin typeface="Space Grotesk"/>
              </a:rPr>
              <a:t>0 confirmed Critical findings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" y="3127248"/>
            <a:ext cx="2798064" cy="969264"/>
          </a:xfrm>
          <a:prstGeom prst="roundRect">
            <a:avLst>
              <a:gd name="adj" fmla="val 5000"/>
            </a:avLst>
          </a:prstGeom>
          <a:solidFill>
            <a:srgbClr val="EC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23" name="Oval 22"/>
          <p:cNvSpPr/>
          <p:nvPr/>
        </p:nvSpPr>
        <p:spPr>
          <a:xfrm>
            <a:off x="685800" y="3259836"/>
            <a:ext cx="100584" cy="100584"/>
          </a:xfrm>
          <a:prstGeom prst="ellipse">
            <a:avLst/>
          </a:prstGeom>
          <a:solidFill>
            <a:srgbClr val="4D4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</a:p>
        </p:txBody>
      </p:sp>
      <p:sp>
        <p:nvSpPr>
          <p:cNvPr id="24" name="Rectangle 23"/>
          <p:cNvSpPr/>
          <p:nvPr/>
        </p:nvSpPr>
        <p:spPr>
          <a:xfrm>
            <a:off x="877824" y="3163824"/>
            <a:ext cx="2304288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73152" tIns="36576" bIns="36576"/>
          <a:lstStyle/>
          <a:p>
            <a:pPr algn="l"/>
            <a:r>
              <a:rPr sz="900" b="1" i="0">
                <a:solidFill>
                  <a:srgbClr val="11206D"/>
                </a:solidFill>
                <a:latin typeface="Space Grotesk"/>
              </a:rPr>
              <a:t>Coverage interpretation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77824" y="3383280"/>
            <a:ext cx="2304288" cy="6675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800" b="0" i="0">
                <a:solidFill>
                  <a:srgbClr val="5A637D"/>
                </a:solidFill>
                <a:latin typeface="Space Grotesk"/>
              </a:rPr>
              <a:t>High severity touches 27 unique assets. Medium and Low each touch all 34.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712463" y="1353312"/>
            <a:ext cx="5065776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27" name="Rectangle 26"/>
          <p:cNvSpPr/>
          <p:nvPr/>
        </p:nvSpPr>
        <p:spPr>
          <a:xfrm>
            <a:off x="3895344" y="1435608"/>
            <a:ext cx="4700016" cy="219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800" b="1" i="0">
                <a:solidFill>
                  <a:srgbClr val="8A93A8"/>
                </a:solidFill>
                <a:latin typeface="Space Grotesk"/>
              </a:rPr>
              <a:t>TOP AI FINDINGS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95344" y="1700784"/>
            <a:ext cx="4279392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576" tIns="36576" bIns="36576"/>
          <a:lstStyle/>
          <a:p>
            <a:pPr algn="l"/>
            <a:r>
              <a:rPr sz="780" b="0" i="0">
                <a:solidFill>
                  <a:srgbClr val="11206D"/>
                </a:solidFill>
                <a:latin typeface="Space Grotesk"/>
              </a:rPr>
              <a:t>ML Workspace CMK Encrypted, southindia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74735" y="1700784"/>
            <a:ext cx="420624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r"/>
            <a:r>
              <a:rPr sz="819" b="1" i="0">
                <a:solidFill>
                  <a:srgbClr val="11206D"/>
                </a:solidFill>
                <a:latin typeface="Space Grotesk"/>
              </a:rPr>
              <a:t>22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95344" y="1892807"/>
            <a:ext cx="4700016" cy="86868"/>
          </a:xfrm>
          <a:prstGeom prst="roundRect">
            <a:avLst>
              <a:gd name="adj" fmla="val 50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31" name="Rounded Rectangle 30"/>
          <p:cNvSpPr/>
          <p:nvPr/>
        </p:nvSpPr>
        <p:spPr>
          <a:xfrm>
            <a:off x="3895344" y="1892807"/>
            <a:ext cx="4700016" cy="86868"/>
          </a:xfrm>
          <a:prstGeom prst="roundRect">
            <a:avLst>
              <a:gd name="adj" fmla="val 50000"/>
            </a:avLst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32" name="Rectangle 31"/>
          <p:cNvSpPr/>
          <p:nvPr/>
        </p:nvSpPr>
        <p:spPr>
          <a:xfrm>
            <a:off x="3895344" y="1979676"/>
            <a:ext cx="4279392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576" tIns="36576" bIns="36576"/>
          <a:lstStyle/>
          <a:p>
            <a:pPr algn="l"/>
            <a:r>
              <a:rPr sz="780" b="0" i="0">
                <a:solidFill>
                  <a:srgbClr val="11206D"/>
                </a:solidFill>
                <a:latin typeface="Space Grotesk"/>
              </a:rPr>
              <a:t>ML Workspace Public Access Disabled, southindia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74735" y="1979676"/>
            <a:ext cx="420624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r"/>
            <a:r>
              <a:rPr sz="819" b="1" i="0">
                <a:solidFill>
                  <a:srgbClr val="11206D"/>
                </a:solidFill>
                <a:latin typeface="Space Grotesk"/>
              </a:rPr>
              <a:t>22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895344" y="2171700"/>
            <a:ext cx="4700016" cy="86868"/>
          </a:xfrm>
          <a:prstGeom prst="roundRect">
            <a:avLst>
              <a:gd name="adj" fmla="val 50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35" name="Rounded Rectangle 34"/>
          <p:cNvSpPr/>
          <p:nvPr/>
        </p:nvSpPr>
        <p:spPr>
          <a:xfrm>
            <a:off x="3895344" y="2171700"/>
            <a:ext cx="4700016" cy="86868"/>
          </a:xfrm>
          <a:prstGeom prst="roundRect">
            <a:avLst>
              <a:gd name="adj" fmla="val 50000"/>
            </a:avLst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36" name="Rectangle 35"/>
          <p:cNvSpPr/>
          <p:nvPr/>
        </p:nvSpPr>
        <p:spPr>
          <a:xfrm>
            <a:off x="3895344" y="2258568"/>
            <a:ext cx="4279392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576" tIns="36576" bIns="36576"/>
          <a:lstStyle/>
          <a:p>
            <a:pPr algn="l"/>
            <a:r>
              <a:rPr sz="780" b="0" i="0">
                <a:solidFill>
                  <a:srgbClr val="11206D"/>
                </a:solidFill>
                <a:latin typeface="Space Grotesk"/>
              </a:rPr>
              <a:t>Monitor Resource SKU, southindia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74735" y="2258568"/>
            <a:ext cx="420624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r"/>
            <a:r>
              <a:rPr sz="819" b="1" i="0">
                <a:solidFill>
                  <a:srgbClr val="11206D"/>
                </a:solidFill>
                <a:latin typeface="Space Grotesk"/>
              </a:rPr>
              <a:t>22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895344" y="2450591"/>
            <a:ext cx="4700016" cy="86868"/>
          </a:xfrm>
          <a:prstGeom prst="roundRect">
            <a:avLst>
              <a:gd name="adj" fmla="val 50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39" name="Rounded Rectangle 38"/>
          <p:cNvSpPr/>
          <p:nvPr/>
        </p:nvSpPr>
        <p:spPr>
          <a:xfrm>
            <a:off x="3895344" y="2450591"/>
            <a:ext cx="4700016" cy="86868"/>
          </a:xfrm>
          <a:prstGeom prst="roundRect">
            <a:avLst>
              <a:gd name="adj" fmla="val 50000"/>
            </a:avLst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40" name="Rectangle 39"/>
          <p:cNvSpPr/>
          <p:nvPr/>
        </p:nvSpPr>
        <p:spPr>
          <a:xfrm>
            <a:off x="3895344" y="2537460"/>
            <a:ext cx="4279392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576" tIns="36576" bIns="36576"/>
          <a:lstStyle/>
          <a:p>
            <a:pPr algn="l"/>
            <a:r>
              <a:rPr sz="780" b="0" i="0">
                <a:solidFill>
                  <a:srgbClr val="11206D"/>
                </a:solidFill>
                <a:latin typeface="Space Grotesk"/>
              </a:rPr>
              <a:t>ML Workspace High Business Impact Enabled, southindia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74735" y="2537460"/>
            <a:ext cx="420624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r"/>
            <a:r>
              <a:rPr sz="819" b="1" i="0">
                <a:solidFill>
                  <a:srgbClr val="11206D"/>
                </a:solidFill>
                <a:latin typeface="Space Grotesk"/>
              </a:rPr>
              <a:t>22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895344" y="2729484"/>
            <a:ext cx="4700016" cy="86868"/>
          </a:xfrm>
          <a:prstGeom prst="roundRect">
            <a:avLst>
              <a:gd name="adj" fmla="val 50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43" name="Rounded Rectangle 42"/>
          <p:cNvSpPr/>
          <p:nvPr/>
        </p:nvSpPr>
        <p:spPr>
          <a:xfrm>
            <a:off x="3895344" y="2729484"/>
            <a:ext cx="4700016" cy="86868"/>
          </a:xfrm>
          <a:prstGeom prst="roundRect">
            <a:avLst>
              <a:gd name="adj" fmla="val 50000"/>
            </a:avLst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44" name="Rectangle 43"/>
          <p:cNvSpPr/>
          <p:nvPr/>
        </p:nvSpPr>
        <p:spPr>
          <a:xfrm>
            <a:off x="3895344" y="2816352"/>
            <a:ext cx="4279392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576" tIns="36576" bIns="36576"/>
          <a:lstStyle/>
          <a:p>
            <a:pPr algn="l"/>
            <a:r>
              <a:rPr sz="780" b="0" i="0">
                <a:solidFill>
                  <a:srgbClr val="11206D"/>
                </a:solidFill>
                <a:latin typeface="Space Grotesk"/>
              </a:rPr>
              <a:t>ML Workspace Has Tags, southindia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74735" y="2816352"/>
            <a:ext cx="420624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r"/>
            <a:r>
              <a:rPr sz="819" b="1" i="0">
                <a:solidFill>
                  <a:srgbClr val="11206D"/>
                </a:solidFill>
                <a:latin typeface="Space Grotesk"/>
              </a:rPr>
              <a:t>16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895344" y="3008376"/>
            <a:ext cx="4700016" cy="86868"/>
          </a:xfrm>
          <a:prstGeom prst="roundRect">
            <a:avLst>
              <a:gd name="adj" fmla="val 50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47" name="Rounded Rectangle 46"/>
          <p:cNvSpPr/>
          <p:nvPr/>
        </p:nvSpPr>
        <p:spPr>
          <a:xfrm>
            <a:off x="3895344" y="3008376"/>
            <a:ext cx="3418193" cy="86868"/>
          </a:xfrm>
          <a:prstGeom prst="roundRect">
            <a:avLst>
              <a:gd name="adj" fmla="val 50000"/>
            </a:avLst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48" name="Rectangle 47"/>
          <p:cNvSpPr/>
          <p:nvPr/>
        </p:nvSpPr>
        <p:spPr>
          <a:xfrm>
            <a:off x="3895344" y="3095244"/>
            <a:ext cx="4279392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576" tIns="36576" bIns="36576"/>
          <a:lstStyle/>
          <a:p>
            <a:pPr algn="l"/>
            <a:r>
              <a:rPr sz="780" b="0" i="0">
                <a:solidFill>
                  <a:srgbClr val="11206D"/>
                </a:solidFill>
                <a:latin typeface="Space Grotesk"/>
              </a:rPr>
              <a:t>ML Workspace Diagnostic Logs, southindia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174735" y="3095244"/>
            <a:ext cx="420624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r"/>
            <a:r>
              <a:rPr sz="819" b="1" i="0">
                <a:solidFill>
                  <a:srgbClr val="11206D"/>
                </a:solidFill>
                <a:latin typeface="Space Grotesk"/>
              </a:rPr>
              <a:t>14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895344" y="3287268"/>
            <a:ext cx="4700016" cy="86868"/>
          </a:xfrm>
          <a:prstGeom prst="roundRect">
            <a:avLst>
              <a:gd name="adj" fmla="val 50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51" name="Rounded Rectangle 50"/>
          <p:cNvSpPr/>
          <p:nvPr/>
        </p:nvSpPr>
        <p:spPr>
          <a:xfrm>
            <a:off x="3895344" y="3287268"/>
            <a:ext cx="2990919" cy="86868"/>
          </a:xfrm>
          <a:prstGeom prst="roundRect">
            <a:avLst>
              <a:gd name="adj" fmla="val 50000"/>
            </a:avLst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52" name="Rectangle 51"/>
          <p:cNvSpPr/>
          <p:nvPr/>
        </p:nvSpPr>
        <p:spPr>
          <a:xfrm>
            <a:off x="3895344" y="3374136"/>
            <a:ext cx="4279392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576" tIns="36576" bIns="36576"/>
          <a:lstStyle/>
          <a:p>
            <a:pPr algn="l"/>
            <a:r>
              <a:rPr sz="780" b="0" i="0">
                <a:solidFill>
                  <a:srgbClr val="11206D"/>
                </a:solidFill>
                <a:latin typeface="Space Grotesk"/>
              </a:rPr>
              <a:t>Databricks Managed Services CMK, centralindia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174735" y="3374136"/>
            <a:ext cx="420624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r"/>
            <a:r>
              <a:rPr sz="819" b="1" i="0">
                <a:solidFill>
                  <a:srgbClr val="11206D"/>
                </a:solidFill>
                <a:latin typeface="Space Grotesk"/>
              </a:rPr>
              <a:t>7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895344" y="3566160"/>
            <a:ext cx="4700016" cy="86868"/>
          </a:xfrm>
          <a:prstGeom prst="roundRect">
            <a:avLst>
              <a:gd name="adj" fmla="val 50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55" name="Rounded Rectangle 54"/>
          <p:cNvSpPr/>
          <p:nvPr/>
        </p:nvSpPr>
        <p:spPr>
          <a:xfrm>
            <a:off x="3895344" y="3566160"/>
            <a:ext cx="1495459" cy="86868"/>
          </a:xfrm>
          <a:prstGeom prst="roundRect">
            <a:avLst>
              <a:gd name="adj" fmla="val 50000"/>
            </a:avLst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56" name="Rectangle 55"/>
          <p:cNvSpPr/>
          <p:nvPr/>
        </p:nvSpPr>
        <p:spPr>
          <a:xfrm>
            <a:off x="3895344" y="3653027"/>
            <a:ext cx="4279392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576" tIns="36576" bIns="36576"/>
          <a:lstStyle/>
          <a:p>
            <a:pPr algn="l"/>
            <a:r>
              <a:rPr sz="780" b="0" i="0">
                <a:solidFill>
                  <a:srgbClr val="11206D"/>
                </a:solidFill>
                <a:latin typeface="Space Grotesk"/>
              </a:rPr>
              <a:t>Databricks Diagnostic Logs, centralindia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174735" y="3653027"/>
            <a:ext cx="420624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r"/>
            <a:r>
              <a:rPr sz="819" b="1" i="0">
                <a:solidFill>
                  <a:srgbClr val="11206D"/>
                </a:solidFill>
                <a:latin typeface="Space Grotesk"/>
              </a:rPr>
              <a:t>7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895344" y="3845052"/>
            <a:ext cx="4700016" cy="86868"/>
          </a:xfrm>
          <a:prstGeom prst="roundRect">
            <a:avLst>
              <a:gd name="adj" fmla="val 50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59" name="Rounded Rectangle 58"/>
          <p:cNvSpPr/>
          <p:nvPr/>
        </p:nvSpPr>
        <p:spPr>
          <a:xfrm>
            <a:off x="3895344" y="3845052"/>
            <a:ext cx="1495459" cy="86868"/>
          </a:xfrm>
          <a:prstGeom prst="roundRect">
            <a:avLst>
              <a:gd name="adj" fmla="val 50000"/>
            </a:avLst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60" name="Rectangle 59"/>
          <p:cNvSpPr/>
          <p:nvPr/>
        </p:nvSpPr>
        <p:spPr>
          <a:xfrm>
            <a:off x="3895344" y="3931920"/>
            <a:ext cx="4279392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576" tIns="36576" bIns="36576"/>
          <a:lstStyle/>
          <a:p>
            <a:pPr algn="l"/>
            <a:r>
              <a:rPr sz="780" b="0" i="0">
                <a:solidFill>
                  <a:srgbClr val="11206D"/>
                </a:solidFill>
                <a:latin typeface="Space Grotesk"/>
              </a:rPr>
              <a:t>Databricks Managed Disk CMK, centralindia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174735" y="3931920"/>
            <a:ext cx="420624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r"/>
            <a:r>
              <a:rPr sz="819" b="1" i="0">
                <a:solidFill>
                  <a:srgbClr val="11206D"/>
                </a:solidFill>
                <a:latin typeface="Space Grotesk"/>
              </a:rPr>
              <a:t>7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895344" y="4123944"/>
            <a:ext cx="4700016" cy="86868"/>
          </a:xfrm>
          <a:prstGeom prst="roundRect">
            <a:avLst>
              <a:gd name="adj" fmla="val 50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63" name="Rounded Rectangle 62"/>
          <p:cNvSpPr/>
          <p:nvPr/>
        </p:nvSpPr>
        <p:spPr>
          <a:xfrm>
            <a:off x="3895344" y="4123944"/>
            <a:ext cx="1495459" cy="86868"/>
          </a:xfrm>
          <a:prstGeom prst="roundRect">
            <a:avLst>
              <a:gd name="adj" fmla="val 50000"/>
            </a:avLst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64" name="Rectangle 63"/>
          <p:cNvSpPr/>
          <p:nvPr/>
        </p:nvSpPr>
        <p:spPr>
          <a:xfrm>
            <a:off x="3895344" y="4242816"/>
            <a:ext cx="1097280" cy="3291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73152" tIns="36576" bIns="36576"/>
          <a:lstStyle/>
          <a:p>
            <a:pPr algn="l"/>
            <a:r>
              <a:rPr sz="2000" b="1" i="0">
                <a:solidFill>
                  <a:srgbClr val="C80019"/>
                </a:solidFill>
                <a:latin typeface="Space Grotesk"/>
              </a:rPr>
              <a:t>89.6%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029200" y="4242816"/>
            <a:ext cx="3566160" cy="3291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73152" tIns="36576" bIns="36576"/>
          <a:lstStyle/>
          <a:p>
            <a:pPr algn="l"/>
            <a:r>
              <a:rPr sz="819" b="0" i="0">
                <a:solidFill>
                  <a:srgbClr val="11206D"/>
                </a:solidFill>
                <a:latin typeface="Space Grotesk"/>
              </a:rPr>
              <a:t>of all AI findings are Medium or High severity.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Space Grotesk"/>
              </a:rPr>
              <a:t>AI Exposure and Data Security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68096"/>
            <a:ext cx="786384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50" b="1" i="0">
                <a:solidFill>
                  <a:srgbClr val="0046FF"/>
                </a:solidFill>
                <a:latin typeface="Space Grotesk"/>
              </a:rPr>
              <a:t>PUBLIC ACCESS AND CONTROL PATTERNS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84124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19" b="0" i="0">
                <a:solidFill>
                  <a:srgbClr val="5A637D"/>
                </a:solidFill>
                <a:latin typeface="Space Grotesk"/>
              </a:rPr>
              <a:t>Public network access is the dominant exposure signal. Data-security controls affect the whole AI estate.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4791456"/>
            <a:ext cx="841248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60" b="0" i="1">
                <a:solidFill>
                  <a:srgbClr val="5A637D"/>
                </a:solidFill>
                <a:latin typeface="Space Grotesk"/>
              </a:rPr>
              <a:t>Source: confirmed AI asset inventory, active AI findings, Azure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353312"/>
            <a:ext cx="2020824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7" name="Rectangle 6"/>
          <p:cNvSpPr/>
          <p:nvPr/>
        </p:nvSpPr>
        <p:spPr>
          <a:xfrm>
            <a:off x="457200" y="1472184"/>
            <a:ext cx="50292" cy="585216"/>
          </a:xfrm>
          <a:prstGeom prst="rect">
            <a:avLst/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8" name="Rectangle 7"/>
          <p:cNvSpPr/>
          <p:nvPr/>
        </p:nvSpPr>
        <p:spPr>
          <a:xfrm>
            <a:off x="585216" y="1417320"/>
            <a:ext cx="1709928" cy="3474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73152" tIns="36576" bIns="36576"/>
          <a:lstStyle/>
          <a:p>
            <a:pPr algn="l"/>
            <a:r>
              <a:rPr sz="1700" b="1" i="0">
                <a:solidFill>
                  <a:srgbClr val="11206D"/>
                </a:solidFill>
                <a:latin typeface="Space Grotesk"/>
              </a:rPr>
              <a:t>24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6" y="1764792"/>
            <a:ext cx="1728216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660" b="1" i="0">
                <a:solidFill>
                  <a:srgbClr val="11206D"/>
                </a:solidFill>
                <a:latin typeface="Space Grotesk"/>
              </a:rPr>
              <a:t>PUBLIC NETWORK ACCESS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" y="1947672"/>
            <a:ext cx="1728216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650" b="0" i="0">
                <a:solidFill>
                  <a:srgbClr val="8A93A8"/>
                </a:solidFill>
                <a:latin typeface="Space Grotesk"/>
              </a:rPr>
              <a:t>24 confirmed findings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96312" y="1353312"/>
            <a:ext cx="2020824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12" name="Rectangle 11"/>
          <p:cNvSpPr/>
          <p:nvPr/>
        </p:nvSpPr>
        <p:spPr>
          <a:xfrm>
            <a:off x="2587752" y="1472184"/>
            <a:ext cx="50292" cy="585216"/>
          </a:xfrm>
          <a:prstGeom prst="rect">
            <a:avLst/>
          </a:prstGeom>
          <a:solidFill>
            <a:srgbClr val="16A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13" name="Rectangle 12"/>
          <p:cNvSpPr/>
          <p:nvPr/>
        </p:nvSpPr>
        <p:spPr>
          <a:xfrm>
            <a:off x="2715768" y="1417320"/>
            <a:ext cx="1709928" cy="3474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73152" tIns="36576" bIns="36576"/>
          <a:lstStyle/>
          <a:p>
            <a:pPr algn="l"/>
            <a:r>
              <a:rPr sz="1700" b="1" i="0">
                <a:solidFill>
                  <a:srgbClr val="11206D"/>
                </a:solidFill>
                <a:latin typeface="Space Grotesk"/>
              </a:rPr>
              <a:t>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15768" y="1764792"/>
            <a:ext cx="1728216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660" b="1" i="0">
                <a:solidFill>
                  <a:srgbClr val="11206D"/>
                </a:solidFill>
                <a:latin typeface="Space Grotesk"/>
              </a:rPr>
              <a:t>INTERNET EXPOSURE FINDINGS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15768" y="1947672"/>
            <a:ext cx="1728216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650" b="0" i="0">
                <a:solidFill>
                  <a:srgbClr val="8A93A8"/>
                </a:solidFill>
                <a:latin typeface="Space Grotesk"/>
              </a:rPr>
              <a:t>None separately confirmed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26864" y="1353312"/>
            <a:ext cx="2020824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17" name="Rectangle 16"/>
          <p:cNvSpPr/>
          <p:nvPr/>
        </p:nvSpPr>
        <p:spPr>
          <a:xfrm>
            <a:off x="4718304" y="1472184"/>
            <a:ext cx="50292" cy="585216"/>
          </a:xfrm>
          <a:prstGeom prst="rect">
            <a:avLst/>
          </a:prstGeom>
          <a:solidFill>
            <a:srgbClr val="16A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18" name="Rectangle 17"/>
          <p:cNvSpPr/>
          <p:nvPr/>
        </p:nvSpPr>
        <p:spPr>
          <a:xfrm>
            <a:off x="4846320" y="1417320"/>
            <a:ext cx="1709928" cy="3474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73152" tIns="36576" bIns="36576"/>
          <a:lstStyle/>
          <a:p>
            <a:pPr algn="l"/>
            <a:r>
              <a:rPr sz="1700" b="1" i="0">
                <a:solidFill>
                  <a:srgbClr val="11206D"/>
                </a:solidFill>
                <a:latin typeface="Space Grotesk"/>
              </a:rPr>
              <a:t>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46320" y="1764792"/>
            <a:ext cx="1728216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660" b="1" i="0">
                <a:solidFill>
                  <a:srgbClr val="11206D"/>
                </a:solidFill>
                <a:latin typeface="Space Grotesk"/>
              </a:rPr>
              <a:t>IAM AND IDENTITY FINDINGS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1947672"/>
            <a:ext cx="1728216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650" b="0" i="0">
                <a:solidFill>
                  <a:srgbClr val="8A93A8"/>
                </a:solidFill>
                <a:latin typeface="Space Grotesk"/>
              </a:rPr>
              <a:t>None confirmed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57416" y="1353312"/>
            <a:ext cx="2020824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22" name="Rectangle 21"/>
          <p:cNvSpPr/>
          <p:nvPr/>
        </p:nvSpPr>
        <p:spPr>
          <a:xfrm>
            <a:off x="6848856" y="1472184"/>
            <a:ext cx="50292" cy="585216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23" name="Rectangle 22"/>
          <p:cNvSpPr/>
          <p:nvPr/>
        </p:nvSpPr>
        <p:spPr>
          <a:xfrm>
            <a:off x="6976872" y="1417320"/>
            <a:ext cx="1709928" cy="3474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73152" tIns="36576" bIns="36576"/>
          <a:lstStyle/>
          <a:p>
            <a:pPr algn="l"/>
            <a:r>
              <a:rPr sz="1700" b="1" i="0">
                <a:solidFill>
                  <a:srgbClr val="11206D"/>
                </a:solidFill>
                <a:latin typeface="Space Grotesk"/>
              </a:rPr>
              <a:t>41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76872" y="1764792"/>
            <a:ext cx="1728216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660" b="1" i="0">
                <a:solidFill>
                  <a:srgbClr val="11206D"/>
                </a:solidFill>
                <a:latin typeface="Space Grotesk"/>
              </a:rPr>
              <a:t>DATA-SECURITY FINDINGS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76872" y="1947672"/>
            <a:ext cx="1728216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650" b="0" i="0">
                <a:solidFill>
                  <a:srgbClr val="8A93A8"/>
                </a:solidFill>
                <a:latin typeface="Space Grotesk"/>
              </a:rPr>
              <a:t>Across 34 unique assets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2340864"/>
            <a:ext cx="4480560" cy="23042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27" name="Rectangle 26"/>
          <p:cNvSpPr/>
          <p:nvPr/>
        </p:nvSpPr>
        <p:spPr>
          <a:xfrm>
            <a:off x="548640" y="2423160"/>
            <a:ext cx="4114800" cy="219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800" b="1" i="0">
                <a:solidFill>
                  <a:srgbClr val="8A93A8"/>
                </a:solidFill>
                <a:latin typeface="Space Grotesk"/>
              </a:rPr>
              <a:t>EXPOSURE INTERPRETATION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0352" y="2706624"/>
            <a:ext cx="4151376" cy="585216"/>
          </a:xfrm>
          <a:prstGeom prst="roundRect">
            <a:avLst>
              <a:gd name="adj" fmla="val 5000"/>
            </a:avLst>
          </a:prstGeom>
          <a:solidFill>
            <a:srgbClr val="FB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29" name="Oval 28"/>
          <p:cNvSpPr/>
          <p:nvPr/>
        </p:nvSpPr>
        <p:spPr>
          <a:xfrm>
            <a:off x="685800" y="2839212"/>
            <a:ext cx="100584" cy="100584"/>
          </a:xfrm>
          <a:prstGeom prst="ellipse">
            <a:avLst/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</a:p>
        </p:txBody>
      </p:sp>
      <p:sp>
        <p:nvSpPr>
          <p:cNvPr id="30" name="Rectangle 29"/>
          <p:cNvSpPr/>
          <p:nvPr/>
        </p:nvSpPr>
        <p:spPr>
          <a:xfrm>
            <a:off x="877824" y="2743200"/>
            <a:ext cx="365760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73152" tIns="36576" bIns="36576"/>
          <a:lstStyle/>
          <a:p>
            <a:pPr algn="l"/>
            <a:r>
              <a:rPr sz="900" b="1" i="0">
                <a:solidFill>
                  <a:srgbClr val="11206D"/>
                </a:solidFill>
                <a:latin typeface="Space Grotesk"/>
              </a:rPr>
              <a:t>Public endpoint enabled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7824" y="2962656"/>
            <a:ext cx="3657600" cy="2834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760" b="0" i="0">
                <a:solidFill>
                  <a:srgbClr val="5A637D"/>
                </a:solidFill>
                <a:latin typeface="Space Grotesk"/>
              </a:rPr>
              <a:t>24 unique AI assets have public network access enabled, based on confirmed ML Workspace findings.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30352" y="3346704"/>
            <a:ext cx="4151376" cy="585216"/>
          </a:xfrm>
          <a:prstGeom prst="roundRect">
            <a:avLst>
              <a:gd name="adj" fmla="val 5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33" name="Oval 32"/>
          <p:cNvSpPr/>
          <p:nvPr/>
        </p:nvSpPr>
        <p:spPr>
          <a:xfrm>
            <a:off x="685800" y="3479292"/>
            <a:ext cx="100584" cy="100584"/>
          </a:xfrm>
          <a:prstGeom prst="ellipse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</a:p>
        </p:txBody>
      </p:sp>
      <p:sp>
        <p:nvSpPr>
          <p:cNvPr id="34" name="Rectangle 33"/>
          <p:cNvSpPr/>
          <p:nvPr/>
        </p:nvSpPr>
        <p:spPr>
          <a:xfrm>
            <a:off x="877824" y="3383280"/>
            <a:ext cx="365760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73152" tIns="36576" bIns="36576"/>
          <a:lstStyle/>
          <a:p>
            <a:pPr algn="l"/>
            <a:r>
              <a:rPr sz="900" b="1" i="0">
                <a:solidFill>
                  <a:srgbClr val="11206D"/>
                </a:solidFill>
                <a:latin typeface="Space Grotesk"/>
              </a:rPr>
              <a:t>Public access is not Internet Exposure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77824" y="3602736"/>
            <a:ext cx="3657600" cy="2834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760" b="0" i="0">
                <a:solidFill>
                  <a:srgbClr val="5A637D"/>
                </a:solidFill>
                <a:latin typeface="Space Grotesk"/>
              </a:rPr>
              <a:t>No AI-specific finding named Internet Exposure was returned. Public network reachability is reported on its own.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30352" y="3986783"/>
            <a:ext cx="4151376" cy="585216"/>
          </a:xfrm>
          <a:prstGeom prst="roundRect">
            <a:avLst>
              <a:gd name="adj" fmla="val 5000"/>
            </a:avLst>
          </a:prstGeom>
          <a:solidFill>
            <a:srgbClr val="EC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37" name="Oval 36"/>
          <p:cNvSpPr/>
          <p:nvPr/>
        </p:nvSpPr>
        <p:spPr>
          <a:xfrm>
            <a:off x="685800" y="4119371"/>
            <a:ext cx="100584" cy="100584"/>
          </a:xfrm>
          <a:prstGeom prst="ellipse">
            <a:avLst/>
          </a:prstGeom>
          <a:solidFill>
            <a:srgbClr val="4D4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</a:p>
        </p:txBody>
      </p:sp>
      <p:sp>
        <p:nvSpPr>
          <p:cNvPr id="38" name="Rectangle 37"/>
          <p:cNvSpPr/>
          <p:nvPr/>
        </p:nvSpPr>
        <p:spPr>
          <a:xfrm>
            <a:off x="877824" y="4023359"/>
            <a:ext cx="365760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73152" tIns="36576" bIns="36576"/>
          <a:lstStyle/>
          <a:p>
            <a:pPr algn="l"/>
            <a:r>
              <a:rPr sz="900" b="1" i="0">
                <a:solidFill>
                  <a:srgbClr val="11206D"/>
                </a:solidFill>
                <a:latin typeface="Space Grotesk"/>
              </a:rPr>
              <a:t>Identity scope boundary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77824" y="4242816"/>
            <a:ext cx="3657600" cy="2834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760" b="0" i="0">
                <a:solidFill>
                  <a:srgbClr val="5A637D"/>
                </a:solidFill>
                <a:latin typeface="Space Grotesk"/>
              </a:rPr>
              <a:t>No confirmed AI IAM or identity posture findings came back from the available dataset.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0" y="2340864"/>
            <a:ext cx="3749039" cy="23042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41" name="Rectangle 40"/>
          <p:cNvSpPr/>
          <p:nvPr/>
        </p:nvSpPr>
        <p:spPr>
          <a:xfrm>
            <a:off x="5212080" y="2423160"/>
            <a:ext cx="3383279" cy="219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800" b="1" i="0">
                <a:solidFill>
                  <a:srgbClr val="8A93A8"/>
                </a:solidFill>
                <a:latin typeface="Space Grotesk"/>
              </a:rPr>
              <a:t>DATA SECURITY CONTROL PATTERNS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193792" y="2706624"/>
            <a:ext cx="3035808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576" tIns="36576" bIns="36576"/>
          <a:lstStyle/>
          <a:p>
            <a:pPr algn="l"/>
            <a:r>
              <a:rPr sz="780" b="0" i="0">
                <a:solidFill>
                  <a:srgbClr val="11206D"/>
                </a:solidFill>
                <a:latin typeface="Space Grotesk"/>
              </a:rPr>
              <a:t>ML Workspace CMK encryption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9600" y="2706624"/>
            <a:ext cx="384048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r"/>
            <a:r>
              <a:rPr sz="819" b="1" i="0">
                <a:solidFill>
                  <a:srgbClr val="11206D"/>
                </a:solidFill>
                <a:latin typeface="Space Grotesk"/>
              </a:rPr>
              <a:t>22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93792" y="2898648"/>
            <a:ext cx="3419856" cy="91440"/>
          </a:xfrm>
          <a:prstGeom prst="roundRect">
            <a:avLst>
              <a:gd name="adj" fmla="val 50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45" name="Rounded Rectangle 44"/>
          <p:cNvSpPr/>
          <p:nvPr/>
        </p:nvSpPr>
        <p:spPr>
          <a:xfrm>
            <a:off x="5193792" y="2898648"/>
            <a:ext cx="3419856" cy="91440"/>
          </a:xfrm>
          <a:prstGeom prst="roundRect">
            <a:avLst>
              <a:gd name="adj" fmla="val 50000"/>
            </a:avLst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46" name="Rectangle 45"/>
          <p:cNvSpPr/>
          <p:nvPr/>
        </p:nvSpPr>
        <p:spPr>
          <a:xfrm>
            <a:off x="5193792" y="3035808"/>
            <a:ext cx="3035808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576" tIns="36576" bIns="36576"/>
          <a:lstStyle/>
          <a:p>
            <a:pPr algn="l"/>
            <a:r>
              <a:rPr sz="780" b="0" i="0">
                <a:solidFill>
                  <a:srgbClr val="11206D"/>
                </a:solidFill>
                <a:latin typeface="Space Grotesk"/>
              </a:rPr>
              <a:t>Databricks Managed Services CMK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9600" y="3035808"/>
            <a:ext cx="384048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r"/>
            <a:r>
              <a:rPr sz="819" b="1" i="0">
                <a:solidFill>
                  <a:srgbClr val="11206D"/>
                </a:solidFill>
                <a:latin typeface="Space Grotesk"/>
              </a:rPr>
              <a:t>7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193792" y="3227832"/>
            <a:ext cx="3419856" cy="91440"/>
          </a:xfrm>
          <a:prstGeom prst="roundRect">
            <a:avLst>
              <a:gd name="adj" fmla="val 50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49" name="Rounded Rectangle 48"/>
          <p:cNvSpPr/>
          <p:nvPr/>
        </p:nvSpPr>
        <p:spPr>
          <a:xfrm>
            <a:off x="5193792" y="3227832"/>
            <a:ext cx="1088136" cy="91440"/>
          </a:xfrm>
          <a:prstGeom prst="roundRect">
            <a:avLst>
              <a:gd name="adj" fmla="val 50000"/>
            </a:avLst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50" name="Rectangle 49"/>
          <p:cNvSpPr/>
          <p:nvPr/>
        </p:nvSpPr>
        <p:spPr>
          <a:xfrm>
            <a:off x="5193792" y="3364991"/>
            <a:ext cx="3035808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576" tIns="36576" bIns="36576"/>
          <a:lstStyle/>
          <a:p>
            <a:pPr algn="l"/>
            <a:r>
              <a:rPr sz="780" b="0" i="0">
                <a:solidFill>
                  <a:srgbClr val="11206D"/>
                </a:solidFill>
                <a:latin typeface="Space Grotesk"/>
              </a:rPr>
              <a:t>Databricks Managed Disk CMK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29600" y="3364991"/>
            <a:ext cx="384048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r"/>
            <a:r>
              <a:rPr sz="819" b="1" i="0">
                <a:solidFill>
                  <a:srgbClr val="11206D"/>
                </a:solidFill>
                <a:latin typeface="Space Grotesk"/>
              </a:rPr>
              <a:t>7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193792" y="3557015"/>
            <a:ext cx="3419856" cy="91440"/>
          </a:xfrm>
          <a:prstGeom prst="roundRect">
            <a:avLst>
              <a:gd name="adj" fmla="val 50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53" name="Rounded Rectangle 52"/>
          <p:cNvSpPr/>
          <p:nvPr/>
        </p:nvSpPr>
        <p:spPr>
          <a:xfrm>
            <a:off x="5193792" y="3557015"/>
            <a:ext cx="1088136" cy="91440"/>
          </a:xfrm>
          <a:prstGeom prst="roundRect">
            <a:avLst>
              <a:gd name="adj" fmla="val 50000"/>
            </a:avLst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54" name="Rectangle 53"/>
          <p:cNvSpPr/>
          <p:nvPr/>
        </p:nvSpPr>
        <p:spPr>
          <a:xfrm>
            <a:off x="5193792" y="3694176"/>
            <a:ext cx="3035808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576" tIns="36576" bIns="36576"/>
          <a:lstStyle/>
          <a:p>
            <a:pPr algn="l"/>
            <a:r>
              <a:rPr sz="780" b="0" i="0">
                <a:solidFill>
                  <a:srgbClr val="11206D"/>
                </a:solidFill>
                <a:latin typeface="Space Grotesk"/>
              </a:rPr>
              <a:t>Diagnostic logging and monitoring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229600" y="3694176"/>
            <a:ext cx="384048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r"/>
            <a:r>
              <a:rPr sz="819" b="1" i="0">
                <a:solidFill>
                  <a:srgbClr val="11206D"/>
                </a:solidFill>
                <a:latin typeface="Space Grotesk"/>
              </a:rPr>
              <a:t>21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193792" y="3886200"/>
            <a:ext cx="3419856" cy="91440"/>
          </a:xfrm>
          <a:prstGeom prst="roundRect">
            <a:avLst>
              <a:gd name="adj" fmla="val 50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57" name="Rounded Rectangle 56"/>
          <p:cNvSpPr/>
          <p:nvPr/>
        </p:nvSpPr>
        <p:spPr>
          <a:xfrm>
            <a:off x="5193792" y="3886200"/>
            <a:ext cx="3264408" cy="91440"/>
          </a:xfrm>
          <a:prstGeom prst="roundRect">
            <a:avLst>
              <a:gd name="adj" fmla="val 50000"/>
            </a:avLst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58" name="Rounded Rectangle 57"/>
          <p:cNvSpPr/>
          <p:nvPr/>
        </p:nvSpPr>
        <p:spPr>
          <a:xfrm>
            <a:off x="5193792" y="4078224"/>
            <a:ext cx="3419856" cy="512064"/>
          </a:xfrm>
          <a:prstGeom prst="roundRect">
            <a:avLst>
              <a:gd name="adj" fmla="val 5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59" name="Rectangle 58"/>
          <p:cNvSpPr/>
          <p:nvPr/>
        </p:nvSpPr>
        <p:spPr>
          <a:xfrm>
            <a:off x="5340096" y="4078224"/>
            <a:ext cx="640080" cy="512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73152" tIns="36576" bIns="36576"/>
          <a:lstStyle/>
          <a:p>
            <a:pPr algn="l"/>
            <a:r>
              <a:rPr sz="2000" b="1" i="0">
                <a:solidFill>
                  <a:srgbClr val="0046FF"/>
                </a:solidFill>
                <a:latin typeface="Space Grotesk"/>
              </a:rPr>
              <a:t>34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998464" y="4078224"/>
            <a:ext cx="2487168" cy="512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73152" tIns="36576" bIns="36576"/>
          <a:lstStyle/>
          <a:p>
            <a:pPr algn="l"/>
            <a:r>
              <a:rPr sz="819" b="0" i="0">
                <a:solidFill>
                  <a:srgbClr val="11206D"/>
                </a:solidFill>
                <a:latin typeface="Space Grotesk"/>
              </a:rPr>
              <a:t>unique AI assets carry data-security findings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Space Grotesk"/>
              </a:rPr>
              <a:t>AI Platform Risk Profile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68096"/>
            <a:ext cx="786384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50" b="1" i="0">
                <a:solidFill>
                  <a:srgbClr val="0046FF"/>
                </a:solidFill>
                <a:latin typeface="Space Grotesk"/>
              </a:rPr>
              <a:t>AZURE ML AGAINST DATABRICKS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84124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19" b="0" i="0">
                <a:solidFill>
                  <a:srgbClr val="5A637D"/>
                </a:solidFill>
                <a:latin typeface="Space Grotesk"/>
              </a:rPr>
              <a:t>Azure Machine Learning is most of the AI estate and carries the whole confirmed High-affected asset population.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4791456"/>
            <a:ext cx="841248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60" b="0" i="1">
                <a:solidFill>
                  <a:srgbClr val="5A637D"/>
                </a:solidFill>
                <a:latin typeface="Space Grotesk"/>
              </a:rPr>
              <a:t>Source: confirmed AI asset inventory, active AI findings, Azure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353312"/>
            <a:ext cx="4206240" cy="26151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7" name="Rectangle 6"/>
          <p:cNvSpPr/>
          <p:nvPr/>
        </p:nvSpPr>
        <p:spPr>
          <a:xfrm>
            <a:off x="548640" y="1435608"/>
            <a:ext cx="3840479" cy="219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800" b="1" i="0">
                <a:solidFill>
                  <a:srgbClr val="8A93A8"/>
                </a:solidFill>
                <a:latin typeface="Space Grotesk"/>
              </a:rPr>
              <a:t>PLATFORM POSTURE COMPARISON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719072"/>
            <a:ext cx="50292" cy="237744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9" name="Rectangle 8"/>
          <p:cNvSpPr/>
          <p:nvPr/>
        </p:nvSpPr>
        <p:spPr>
          <a:xfrm>
            <a:off x="676656" y="1700784"/>
            <a:ext cx="363931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73152" tIns="36576" bIns="36576"/>
          <a:lstStyle/>
          <a:p>
            <a:pPr algn="l"/>
            <a:r>
              <a:rPr sz="1000" b="1" i="0">
                <a:solidFill>
                  <a:srgbClr val="11206D"/>
                </a:solidFill>
                <a:latin typeface="Space Grotesk"/>
              </a:rPr>
              <a:t>Azure Machine Learning Workspace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011679"/>
            <a:ext cx="1207008" cy="603504"/>
          </a:xfrm>
          <a:prstGeom prst="roundRect">
            <a:avLst>
              <a:gd name="adj" fmla="val 6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600" b="1" i="0">
                <a:solidFill>
                  <a:srgbClr val="0046FF"/>
                </a:solidFill>
                <a:latin typeface="Space Grotesk"/>
              </a:rPr>
              <a:t>27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A637D"/>
                </a:solidFill>
                <a:latin typeface="Space Grotesk"/>
              </a:rPr>
              <a:t>Unique assets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2011679"/>
            <a:ext cx="1207008" cy="603504"/>
          </a:xfrm>
          <a:prstGeom prst="roundRect">
            <a:avLst>
              <a:gd name="adj" fmla="val 6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600" b="1" i="0">
                <a:solidFill>
                  <a:srgbClr val="0046FF"/>
                </a:solidFill>
                <a:latin typeface="Space Grotesk"/>
              </a:rPr>
              <a:t>141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A637D"/>
                </a:solidFill>
                <a:latin typeface="Space Grotesk"/>
              </a:rPr>
              <a:t>Total findings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27248" y="2011679"/>
            <a:ext cx="1207008" cy="603504"/>
          </a:xfrm>
          <a:prstGeom prst="roundRect">
            <a:avLst>
              <a:gd name="adj" fmla="val 6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600" b="1" i="0">
                <a:solidFill>
                  <a:srgbClr val="0046FF"/>
                </a:solidFill>
                <a:latin typeface="Space Grotesk"/>
              </a:rPr>
              <a:t>27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A637D"/>
                </a:solidFill>
                <a:latin typeface="Space Grotesk"/>
              </a:rPr>
              <a:t>High-affected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" y="2816352"/>
            <a:ext cx="50292" cy="237744"/>
          </a:xfrm>
          <a:prstGeom prst="rect">
            <a:avLst/>
          </a:prstGeom>
          <a:solidFill>
            <a:srgbClr val="646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14" name="Rectangle 13"/>
          <p:cNvSpPr/>
          <p:nvPr/>
        </p:nvSpPr>
        <p:spPr>
          <a:xfrm>
            <a:off x="676656" y="2798064"/>
            <a:ext cx="363931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73152" tIns="36576" bIns="36576"/>
          <a:lstStyle/>
          <a:p>
            <a:pPr algn="l"/>
            <a:r>
              <a:rPr sz="1000" b="1" i="0">
                <a:solidFill>
                  <a:srgbClr val="11206D"/>
                </a:solidFill>
                <a:latin typeface="Space Grotesk"/>
              </a:rPr>
              <a:t>Azure Databricks Workspace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3108960"/>
            <a:ext cx="1207008" cy="603504"/>
          </a:xfrm>
          <a:prstGeom prst="roundRect">
            <a:avLst>
              <a:gd name="adj" fmla="val 6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600" b="1" i="0">
                <a:solidFill>
                  <a:srgbClr val="6464FF"/>
                </a:solidFill>
                <a:latin typeface="Space Grotesk"/>
              </a:rPr>
              <a:t>7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A637D"/>
                </a:solidFill>
                <a:latin typeface="Space Grotesk"/>
              </a:rPr>
              <a:t>Unique assets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0" y="3108960"/>
            <a:ext cx="1207008" cy="603504"/>
          </a:xfrm>
          <a:prstGeom prst="roundRect">
            <a:avLst>
              <a:gd name="adj" fmla="val 6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600" b="1" i="0">
                <a:solidFill>
                  <a:srgbClr val="6464FF"/>
                </a:solidFill>
                <a:latin typeface="Space Grotesk"/>
              </a:rPr>
              <a:t>23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A637D"/>
                </a:solidFill>
                <a:latin typeface="Space Grotesk"/>
              </a:rPr>
              <a:t>Total findings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27248" y="3108960"/>
            <a:ext cx="1207008" cy="603504"/>
          </a:xfrm>
          <a:prstGeom prst="roundRect">
            <a:avLst>
              <a:gd name="adj" fmla="val 6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600" b="1" i="0">
                <a:solidFill>
                  <a:srgbClr val="6464FF"/>
                </a:solidFill>
                <a:latin typeface="Space Grotesk"/>
              </a:rPr>
              <a:t>0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A637D"/>
                </a:solidFill>
                <a:latin typeface="Space Grotesk"/>
              </a:rPr>
              <a:t>High-affected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" y="3712464"/>
            <a:ext cx="3877056" cy="219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73152" tIns="36576" bIns="36576"/>
          <a:lstStyle/>
          <a:p>
            <a:pPr algn="l"/>
            <a:r>
              <a:rPr sz="800" b="0" i="1">
                <a:solidFill>
                  <a:srgbClr val="5A637D"/>
                </a:solidFill>
                <a:latin typeface="Space Grotesk"/>
              </a:rPr>
              <a:t>Estate split: Azure ML is 79.4% of assets, Databricks is 20.6%.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63440" y="1353312"/>
            <a:ext cx="4114800" cy="26151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20" name="Rectangle 19"/>
          <p:cNvSpPr/>
          <p:nvPr/>
        </p:nvSpPr>
        <p:spPr>
          <a:xfrm>
            <a:off x="4846320" y="1435608"/>
            <a:ext cx="3749039" cy="219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800" b="1" i="0">
                <a:solidFill>
                  <a:srgbClr val="8A93A8"/>
                </a:solidFill>
                <a:latin typeface="Space Grotesk"/>
              </a:rPr>
              <a:t>SECURITY-DOMAIN COVERAGE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28032" y="1719072"/>
            <a:ext cx="201168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576" tIns="36576" bIns="36576"/>
          <a:lstStyle/>
          <a:p>
            <a:pPr algn="l"/>
            <a:r>
              <a:rPr sz="780" b="0" i="0">
                <a:solidFill>
                  <a:srgbClr val="11206D"/>
                </a:solidFill>
                <a:latin typeface="Space Grotesk"/>
              </a:rPr>
              <a:t>Public and network exposure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12864" y="1794510"/>
            <a:ext cx="1243583" cy="105156"/>
          </a:xfrm>
          <a:prstGeom prst="roundRect">
            <a:avLst>
              <a:gd name="adj" fmla="val 50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23" name="Rounded Rectangle 22"/>
          <p:cNvSpPr/>
          <p:nvPr/>
        </p:nvSpPr>
        <p:spPr>
          <a:xfrm>
            <a:off x="6912864" y="1794510"/>
            <a:ext cx="877823" cy="105156"/>
          </a:xfrm>
          <a:prstGeom prst="roundRect">
            <a:avLst>
              <a:gd name="adj" fmla="val 50000"/>
            </a:avLst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24" name="Rectangle 23"/>
          <p:cNvSpPr/>
          <p:nvPr/>
        </p:nvSpPr>
        <p:spPr>
          <a:xfrm>
            <a:off x="8229600" y="1719072"/>
            <a:ext cx="384048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r"/>
            <a:r>
              <a:rPr sz="819" b="1" i="0">
                <a:solidFill>
                  <a:srgbClr val="11206D"/>
                </a:solidFill>
                <a:latin typeface="Space Grotesk"/>
              </a:rPr>
              <a:t>24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28032" y="2066543"/>
            <a:ext cx="201168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576" tIns="36576" bIns="36576"/>
          <a:lstStyle/>
          <a:p>
            <a:pPr algn="l"/>
            <a:r>
              <a:rPr sz="780" b="0" i="0">
                <a:solidFill>
                  <a:srgbClr val="11206D"/>
                </a:solidFill>
                <a:latin typeface="Space Grotesk"/>
              </a:rPr>
              <a:t>Data-security affected assets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12864" y="2141982"/>
            <a:ext cx="1243583" cy="105156"/>
          </a:xfrm>
          <a:prstGeom prst="roundRect">
            <a:avLst>
              <a:gd name="adj" fmla="val 50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27" name="Rounded Rectangle 26"/>
          <p:cNvSpPr/>
          <p:nvPr/>
        </p:nvSpPr>
        <p:spPr>
          <a:xfrm>
            <a:off x="6912864" y="2141982"/>
            <a:ext cx="1243583" cy="105156"/>
          </a:xfrm>
          <a:prstGeom prst="roundRect">
            <a:avLst>
              <a:gd name="adj" fmla="val 50000"/>
            </a:avLst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28" name="Rectangle 27"/>
          <p:cNvSpPr/>
          <p:nvPr/>
        </p:nvSpPr>
        <p:spPr>
          <a:xfrm>
            <a:off x="8229600" y="2066543"/>
            <a:ext cx="384048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r"/>
            <a:r>
              <a:rPr sz="819" b="1" i="0">
                <a:solidFill>
                  <a:srgbClr val="11206D"/>
                </a:solidFill>
                <a:latin typeface="Space Grotesk"/>
              </a:rPr>
              <a:t>34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28032" y="2414015"/>
            <a:ext cx="201168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576" tIns="36576" bIns="36576"/>
          <a:lstStyle/>
          <a:p>
            <a:pPr algn="l"/>
            <a:r>
              <a:rPr sz="780" b="0" i="0">
                <a:solidFill>
                  <a:srgbClr val="11206D"/>
                </a:solidFill>
                <a:latin typeface="Space Grotesk"/>
              </a:rPr>
              <a:t>High-affected AI assets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12864" y="2489453"/>
            <a:ext cx="1243583" cy="105156"/>
          </a:xfrm>
          <a:prstGeom prst="roundRect">
            <a:avLst>
              <a:gd name="adj" fmla="val 50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31" name="Rounded Rectangle 30"/>
          <p:cNvSpPr/>
          <p:nvPr/>
        </p:nvSpPr>
        <p:spPr>
          <a:xfrm>
            <a:off x="6912864" y="2489453"/>
            <a:ext cx="987551" cy="105156"/>
          </a:xfrm>
          <a:prstGeom prst="roundRect">
            <a:avLst>
              <a:gd name="adj" fmla="val 50000"/>
            </a:avLst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32" name="Rectangle 31"/>
          <p:cNvSpPr/>
          <p:nvPr/>
        </p:nvSpPr>
        <p:spPr>
          <a:xfrm>
            <a:off x="8229600" y="2414015"/>
            <a:ext cx="384048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r"/>
            <a:r>
              <a:rPr sz="819" b="1" i="0">
                <a:solidFill>
                  <a:srgbClr val="11206D"/>
                </a:solidFill>
                <a:latin typeface="Space Grotesk"/>
              </a:rPr>
              <a:t>27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28032" y="2761488"/>
            <a:ext cx="201168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576" tIns="36576" bIns="36576"/>
          <a:lstStyle/>
          <a:p>
            <a:pPr algn="l"/>
            <a:r>
              <a:rPr sz="780" b="0" i="0">
                <a:solidFill>
                  <a:srgbClr val="11206D"/>
                </a:solidFill>
                <a:latin typeface="Space Grotesk"/>
              </a:rPr>
              <a:t>Medium-affected AI assets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912864" y="2836926"/>
            <a:ext cx="1243583" cy="105156"/>
          </a:xfrm>
          <a:prstGeom prst="roundRect">
            <a:avLst>
              <a:gd name="adj" fmla="val 50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35" name="Rounded Rectangle 34"/>
          <p:cNvSpPr/>
          <p:nvPr/>
        </p:nvSpPr>
        <p:spPr>
          <a:xfrm>
            <a:off x="6912864" y="2836926"/>
            <a:ext cx="1243583" cy="105156"/>
          </a:xfrm>
          <a:prstGeom prst="roundRect">
            <a:avLst>
              <a:gd name="adj" fmla="val 50000"/>
            </a:avLst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36" name="Rectangle 35"/>
          <p:cNvSpPr/>
          <p:nvPr/>
        </p:nvSpPr>
        <p:spPr>
          <a:xfrm>
            <a:off x="8229600" y="2761488"/>
            <a:ext cx="384048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r"/>
            <a:r>
              <a:rPr sz="819" b="1" i="0">
                <a:solidFill>
                  <a:srgbClr val="11206D"/>
                </a:solidFill>
                <a:latin typeface="Space Grotesk"/>
              </a:rPr>
              <a:t>34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828032" y="3108960"/>
            <a:ext cx="201168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576" tIns="36576" bIns="36576"/>
          <a:lstStyle/>
          <a:p>
            <a:pPr algn="l"/>
            <a:r>
              <a:rPr sz="780" b="0" i="0">
                <a:solidFill>
                  <a:srgbClr val="11206D"/>
                </a:solidFill>
                <a:latin typeface="Space Grotesk"/>
              </a:rPr>
              <a:t>Low-affected AI assets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912864" y="3184398"/>
            <a:ext cx="1243583" cy="105156"/>
          </a:xfrm>
          <a:prstGeom prst="roundRect">
            <a:avLst>
              <a:gd name="adj" fmla="val 50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39" name="Rounded Rectangle 38"/>
          <p:cNvSpPr/>
          <p:nvPr/>
        </p:nvSpPr>
        <p:spPr>
          <a:xfrm>
            <a:off x="6912864" y="3184398"/>
            <a:ext cx="1243583" cy="105156"/>
          </a:xfrm>
          <a:prstGeom prst="roundRect">
            <a:avLst>
              <a:gd name="adj" fmla="val 50000"/>
            </a:avLst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40" name="Rectangle 39"/>
          <p:cNvSpPr/>
          <p:nvPr/>
        </p:nvSpPr>
        <p:spPr>
          <a:xfrm>
            <a:off x="8229600" y="3108960"/>
            <a:ext cx="384048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r"/>
            <a:r>
              <a:rPr sz="819" b="1" i="0">
                <a:solidFill>
                  <a:srgbClr val="11206D"/>
                </a:solidFill>
                <a:latin typeface="Space Grotesk"/>
              </a:rPr>
              <a:t>34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828032" y="3456432"/>
            <a:ext cx="201168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576" tIns="36576" bIns="36576"/>
          <a:lstStyle/>
          <a:p>
            <a:pPr algn="l"/>
            <a:r>
              <a:rPr sz="780" b="0" i="0">
                <a:solidFill>
                  <a:srgbClr val="11206D"/>
                </a:solidFill>
                <a:latin typeface="Space Grotesk"/>
              </a:rPr>
              <a:t>IAM and identity affected assets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912864" y="3531870"/>
            <a:ext cx="1243583" cy="105156"/>
          </a:xfrm>
          <a:prstGeom prst="roundRect">
            <a:avLst>
              <a:gd name="adj" fmla="val 50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43" name="Rounded Rectangle 42"/>
          <p:cNvSpPr/>
          <p:nvPr/>
        </p:nvSpPr>
        <p:spPr>
          <a:xfrm>
            <a:off x="6912864" y="3531870"/>
            <a:ext cx="64008" cy="105156"/>
          </a:xfrm>
          <a:prstGeom prst="roundRect">
            <a:avLst>
              <a:gd name="adj" fmla="val 50000"/>
            </a:avLst>
          </a:prstGeom>
          <a:solidFill>
            <a:srgbClr val="16A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44" name="Rectangle 43"/>
          <p:cNvSpPr/>
          <p:nvPr/>
        </p:nvSpPr>
        <p:spPr>
          <a:xfrm>
            <a:off x="8229600" y="3456432"/>
            <a:ext cx="384048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r"/>
            <a:r>
              <a:rPr sz="819" b="1" i="0">
                <a:solidFill>
                  <a:srgbClr val="11206D"/>
                </a:solidFill>
                <a:latin typeface="Space Grotesk"/>
              </a:rPr>
              <a:t>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65760" y="4059936"/>
            <a:ext cx="8412480" cy="585216"/>
          </a:xfrm>
          <a:prstGeom prst="roundRect">
            <a:avLst>
              <a:gd name="adj" fmla="val 5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46" name="Oval 45"/>
          <p:cNvSpPr/>
          <p:nvPr/>
        </p:nvSpPr>
        <p:spPr>
          <a:xfrm>
            <a:off x="521208" y="4192524"/>
            <a:ext cx="100584" cy="100584"/>
          </a:xfrm>
          <a:prstGeom prst="ellipse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</a:p>
        </p:txBody>
      </p:sp>
      <p:sp>
        <p:nvSpPr>
          <p:cNvPr id="47" name="Rectangle 46"/>
          <p:cNvSpPr/>
          <p:nvPr/>
        </p:nvSpPr>
        <p:spPr>
          <a:xfrm>
            <a:off x="713232" y="4096512"/>
            <a:ext cx="7918704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73152" tIns="36576" bIns="36576"/>
          <a:lstStyle/>
          <a:p>
            <a:pPr algn="l"/>
            <a:r>
              <a:rPr sz="900" b="1" i="0">
                <a:solidFill>
                  <a:srgbClr val="11206D"/>
                </a:solidFill>
                <a:latin typeface="Space Grotesk"/>
              </a:rPr>
              <a:t>Priority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13232" y="4315968"/>
            <a:ext cx="7918704" cy="2834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819" b="0" i="0">
                <a:solidFill>
                  <a:srgbClr val="5A637D"/>
                </a:solidFill>
                <a:latin typeface="Space Grotesk"/>
              </a:rPr>
              <a:t>Reduce public network access first, then strengthen encryption and logging controls on the Azure ML workspaces.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Space Grotesk"/>
              </a:rPr>
              <a:t>AI Account and Regional Concentration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68096"/>
            <a:ext cx="786384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50" b="1" i="0">
                <a:solidFill>
                  <a:srgbClr val="0046FF"/>
                </a:solidFill>
                <a:latin typeface="Space Grotesk"/>
              </a:rPr>
              <a:t>WHERE THE AI FINDINGS CLUSTER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84124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19" b="0" i="0">
                <a:solidFill>
                  <a:srgbClr val="5A637D"/>
                </a:solidFill>
                <a:latin typeface="Space Grotesk"/>
              </a:rPr>
              <a:t>AI finding volume sits mostly in one account. Asset inventory clusters in southindia.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4791456"/>
            <a:ext cx="841248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60" b="0" i="1">
                <a:solidFill>
                  <a:srgbClr val="5A637D"/>
                </a:solidFill>
                <a:latin typeface="Space Grotesk"/>
              </a:rPr>
              <a:t>Source: confirmed AI asset inventory, active AI findings, Azure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353312"/>
            <a:ext cx="4443984" cy="2834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7" name="Rectangle 6"/>
          <p:cNvSpPr/>
          <p:nvPr/>
        </p:nvSpPr>
        <p:spPr>
          <a:xfrm>
            <a:off x="548640" y="1435608"/>
            <a:ext cx="4078224" cy="219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800" b="1" i="0">
                <a:solidFill>
                  <a:srgbClr val="8A93A8"/>
                </a:solidFill>
                <a:latin typeface="Space Grotesk"/>
              </a:rPr>
              <a:t>AI FINDING-COUNT DISTRIBUTION BY ACCOUNT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719072"/>
            <a:ext cx="3730752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576" tIns="36576" bIns="36576"/>
          <a:lstStyle/>
          <a:p>
            <a:pPr algn="l"/>
            <a:r>
              <a:rPr sz="780" b="0" i="0">
                <a:solidFill>
                  <a:srgbClr val="11206D"/>
                </a:solidFill>
                <a:latin typeface="Space Grotesk"/>
              </a:rPr>
              <a:t>a92dc17c-b0fa-4467-8a8e-f22fb83e00b6</a:t>
            </a:r>
          </a:p>
        </p:txBody>
      </p:sp>
      <p:sp>
        <p:nvSpPr>
          <p:cNvPr id="9" name="Rectangle 8"/>
          <p:cNvSpPr/>
          <p:nvPr/>
        </p:nvSpPr>
        <p:spPr>
          <a:xfrm>
            <a:off x="4261104" y="1719072"/>
            <a:ext cx="384048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r"/>
            <a:r>
              <a:rPr sz="819" b="1" i="0">
                <a:solidFill>
                  <a:srgbClr val="11206D"/>
                </a:solidFill>
                <a:latin typeface="Space Grotesk"/>
              </a:rPr>
              <a:t>129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1911095"/>
            <a:ext cx="4114800" cy="91440"/>
          </a:xfrm>
          <a:prstGeom prst="roundRect">
            <a:avLst>
              <a:gd name="adj" fmla="val 50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11" name="Rounded Rectangle 10"/>
          <p:cNvSpPr/>
          <p:nvPr/>
        </p:nvSpPr>
        <p:spPr>
          <a:xfrm>
            <a:off x="530352" y="1911095"/>
            <a:ext cx="4114800" cy="91440"/>
          </a:xfrm>
          <a:prstGeom prst="roundRect">
            <a:avLst>
              <a:gd name="adj" fmla="val 50000"/>
            </a:avLst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12" name="Rectangle 11"/>
          <p:cNvSpPr/>
          <p:nvPr/>
        </p:nvSpPr>
        <p:spPr>
          <a:xfrm>
            <a:off x="530352" y="2048255"/>
            <a:ext cx="3730752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576" tIns="36576" bIns="36576"/>
          <a:lstStyle/>
          <a:p>
            <a:pPr algn="l"/>
            <a:r>
              <a:rPr sz="780" b="0" i="0">
                <a:solidFill>
                  <a:srgbClr val="11206D"/>
                </a:solidFill>
                <a:latin typeface="Space Grotesk"/>
              </a:rPr>
              <a:t>f794fc5a-2254-4f9f-9d2d-15df759d9c81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61104" y="2048255"/>
            <a:ext cx="384048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r"/>
            <a:r>
              <a:rPr sz="819" b="1" i="0">
                <a:solidFill>
                  <a:srgbClr val="11206D"/>
                </a:solidFill>
                <a:latin typeface="Space Grotesk"/>
              </a:rPr>
              <a:t>16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" y="2240279"/>
            <a:ext cx="4114800" cy="91440"/>
          </a:xfrm>
          <a:prstGeom prst="roundRect">
            <a:avLst>
              <a:gd name="adj" fmla="val 50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15" name="Rounded Rectangle 14"/>
          <p:cNvSpPr/>
          <p:nvPr/>
        </p:nvSpPr>
        <p:spPr>
          <a:xfrm>
            <a:off x="530352" y="2240279"/>
            <a:ext cx="510362" cy="91440"/>
          </a:xfrm>
          <a:prstGeom prst="roundRect">
            <a:avLst>
              <a:gd name="adj" fmla="val 50000"/>
            </a:avLst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16" name="Rectangle 15"/>
          <p:cNvSpPr/>
          <p:nvPr/>
        </p:nvSpPr>
        <p:spPr>
          <a:xfrm>
            <a:off x="530352" y="2377439"/>
            <a:ext cx="3730752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576" tIns="36576" bIns="36576"/>
          <a:lstStyle/>
          <a:p>
            <a:pPr algn="l"/>
            <a:r>
              <a:rPr sz="780" b="0" i="0">
                <a:solidFill>
                  <a:srgbClr val="11206D"/>
                </a:solidFill>
                <a:latin typeface="Space Grotesk"/>
              </a:rPr>
              <a:t>39d61d1c-1c17-45dd-a5e4-e413978b6ce5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61104" y="2377439"/>
            <a:ext cx="384048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r"/>
            <a:r>
              <a:rPr sz="819" b="1" i="0">
                <a:solidFill>
                  <a:srgbClr val="11206D"/>
                </a:solidFill>
                <a:latin typeface="Space Grotesk"/>
              </a:rPr>
              <a:t>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0352" y="2569463"/>
            <a:ext cx="4114800" cy="91440"/>
          </a:xfrm>
          <a:prstGeom prst="roundRect">
            <a:avLst>
              <a:gd name="adj" fmla="val 50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19" name="Rounded Rectangle 18"/>
          <p:cNvSpPr/>
          <p:nvPr/>
        </p:nvSpPr>
        <p:spPr>
          <a:xfrm>
            <a:off x="530352" y="2569463"/>
            <a:ext cx="255181" cy="91440"/>
          </a:xfrm>
          <a:prstGeom prst="roundRect">
            <a:avLst>
              <a:gd name="adj" fmla="val 50000"/>
            </a:avLst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20" name="Rectangle 19"/>
          <p:cNvSpPr/>
          <p:nvPr/>
        </p:nvSpPr>
        <p:spPr>
          <a:xfrm>
            <a:off x="530352" y="2706624"/>
            <a:ext cx="3730752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576" tIns="36576" bIns="36576"/>
          <a:lstStyle/>
          <a:p>
            <a:pPr algn="l"/>
            <a:r>
              <a:rPr sz="780" b="0" i="0">
                <a:solidFill>
                  <a:srgbClr val="11206D"/>
                </a:solidFill>
                <a:latin typeface="Space Grotesk"/>
              </a:rPr>
              <a:t>8fb6b24d-d917-4b1c-9b70-9902d901057c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61104" y="2706624"/>
            <a:ext cx="384048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r"/>
            <a:r>
              <a:rPr sz="819" b="1" i="0">
                <a:solidFill>
                  <a:srgbClr val="11206D"/>
                </a:solidFill>
                <a:latin typeface="Space Grotesk"/>
              </a:rP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" y="2898648"/>
            <a:ext cx="4114800" cy="91440"/>
          </a:xfrm>
          <a:prstGeom prst="roundRect">
            <a:avLst>
              <a:gd name="adj" fmla="val 50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23" name="Rounded Rectangle 22"/>
          <p:cNvSpPr/>
          <p:nvPr/>
        </p:nvSpPr>
        <p:spPr>
          <a:xfrm>
            <a:off x="530352" y="2898648"/>
            <a:ext cx="127590" cy="91440"/>
          </a:xfrm>
          <a:prstGeom prst="roundRect">
            <a:avLst>
              <a:gd name="adj" fmla="val 50000"/>
            </a:avLst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24" name="Rectangle 23"/>
          <p:cNvSpPr/>
          <p:nvPr/>
        </p:nvSpPr>
        <p:spPr>
          <a:xfrm>
            <a:off x="530352" y="3035808"/>
            <a:ext cx="3730752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576" tIns="36576" bIns="36576"/>
          <a:lstStyle/>
          <a:p>
            <a:pPr algn="l"/>
            <a:r>
              <a:rPr sz="780" b="0" i="0">
                <a:solidFill>
                  <a:srgbClr val="11206D"/>
                </a:solidFill>
                <a:latin typeface="Space Grotesk"/>
              </a:rPr>
              <a:t>9ed1625e-4449-4bbd-8be0-412ab1422640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61104" y="3035808"/>
            <a:ext cx="384048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r"/>
            <a:r>
              <a:rPr sz="819" b="1" i="0">
                <a:solidFill>
                  <a:srgbClr val="11206D"/>
                </a:solidFill>
                <a:latin typeface="Space Grotesk"/>
              </a:rP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0352" y="3227832"/>
            <a:ext cx="4114800" cy="91440"/>
          </a:xfrm>
          <a:prstGeom prst="roundRect">
            <a:avLst>
              <a:gd name="adj" fmla="val 50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27" name="Rounded Rectangle 26"/>
          <p:cNvSpPr/>
          <p:nvPr/>
        </p:nvSpPr>
        <p:spPr>
          <a:xfrm>
            <a:off x="530352" y="3227832"/>
            <a:ext cx="127590" cy="91440"/>
          </a:xfrm>
          <a:prstGeom prst="roundRect">
            <a:avLst>
              <a:gd name="adj" fmla="val 50000"/>
            </a:avLst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28" name="Rectangle 27"/>
          <p:cNvSpPr/>
          <p:nvPr/>
        </p:nvSpPr>
        <p:spPr>
          <a:xfrm>
            <a:off x="530352" y="3364991"/>
            <a:ext cx="3730752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576" tIns="36576" bIns="36576"/>
          <a:lstStyle/>
          <a:p>
            <a:pPr algn="l"/>
            <a:r>
              <a:rPr sz="780" b="0" i="0">
                <a:solidFill>
                  <a:srgbClr val="11206D"/>
                </a:solidFill>
                <a:latin typeface="Space Grotesk"/>
              </a:rPr>
              <a:t>7ed6f55e-4387-4290-a46e-4a9cd4b4e7f4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61104" y="3364991"/>
            <a:ext cx="384048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r"/>
            <a:r>
              <a:rPr sz="819" b="1" i="0">
                <a:solidFill>
                  <a:srgbClr val="11206D"/>
                </a:solidFill>
                <a:latin typeface="Space Grotesk"/>
              </a:rPr>
              <a:t>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0352" y="3557015"/>
            <a:ext cx="4114800" cy="91440"/>
          </a:xfrm>
          <a:prstGeom prst="roundRect">
            <a:avLst>
              <a:gd name="adj" fmla="val 50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31" name="Rounded Rectangle 30"/>
          <p:cNvSpPr/>
          <p:nvPr/>
        </p:nvSpPr>
        <p:spPr>
          <a:xfrm>
            <a:off x="530352" y="3557015"/>
            <a:ext cx="95693" cy="91440"/>
          </a:xfrm>
          <a:prstGeom prst="roundRect">
            <a:avLst>
              <a:gd name="adj" fmla="val 50000"/>
            </a:avLst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32" name="Rectangle 31"/>
          <p:cNvSpPr/>
          <p:nvPr/>
        </p:nvSpPr>
        <p:spPr>
          <a:xfrm>
            <a:off x="530352" y="3749039"/>
            <a:ext cx="41148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73152" tIns="36576" bIns="36576"/>
          <a:lstStyle/>
          <a:p>
            <a:pPr algn="l"/>
            <a:r>
              <a:rPr sz="800" b="0" i="1">
                <a:solidFill>
                  <a:srgbClr val="5A637D"/>
                </a:solidFill>
                <a:latin typeface="Space Grotesk"/>
              </a:rPr>
              <a:t>The top account contributes 129 of 164 active AI findings, or 78.7%.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992624" y="1353312"/>
            <a:ext cx="3785615" cy="1463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34" name="Rectangle 33"/>
          <p:cNvSpPr/>
          <p:nvPr/>
        </p:nvSpPr>
        <p:spPr>
          <a:xfrm>
            <a:off x="5175504" y="1435608"/>
            <a:ext cx="3419856" cy="219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800" b="1" i="0">
                <a:solidFill>
                  <a:srgbClr val="8A93A8"/>
                </a:solidFill>
                <a:latin typeface="Space Grotesk"/>
              </a:rPr>
              <a:t>UNIQUE AI ASSETS BY REGION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157216" y="1737360"/>
            <a:ext cx="118872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576" tIns="36576" bIns="36576"/>
          <a:lstStyle/>
          <a:p>
            <a:pPr algn="l"/>
            <a:r>
              <a:rPr sz="800" b="0" i="0">
                <a:solidFill>
                  <a:srgbClr val="11206D"/>
                </a:solidFill>
                <a:latin typeface="Space Grotesk"/>
              </a:rPr>
              <a:t>southindia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19088" y="1812798"/>
            <a:ext cx="1737359" cy="105156"/>
          </a:xfrm>
          <a:prstGeom prst="roundRect">
            <a:avLst>
              <a:gd name="adj" fmla="val 50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37" name="Rounded Rectangle 36"/>
          <p:cNvSpPr/>
          <p:nvPr/>
        </p:nvSpPr>
        <p:spPr>
          <a:xfrm>
            <a:off x="6419088" y="1812798"/>
            <a:ext cx="1737359" cy="105156"/>
          </a:xfrm>
          <a:prstGeom prst="roundRect">
            <a:avLst>
              <a:gd name="adj" fmla="val 50000"/>
            </a:avLst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38" name="Rectangle 37"/>
          <p:cNvSpPr/>
          <p:nvPr/>
        </p:nvSpPr>
        <p:spPr>
          <a:xfrm>
            <a:off x="8229600" y="1737360"/>
            <a:ext cx="384048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r"/>
            <a:r>
              <a:rPr sz="819" b="1" i="0">
                <a:solidFill>
                  <a:srgbClr val="11206D"/>
                </a:solidFill>
                <a:latin typeface="Space Grotesk"/>
              </a:rPr>
              <a:t>22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157216" y="2048255"/>
            <a:ext cx="118872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576" tIns="36576" bIns="36576"/>
          <a:lstStyle/>
          <a:p>
            <a:pPr algn="l"/>
            <a:r>
              <a:rPr sz="800" b="0" i="0">
                <a:solidFill>
                  <a:srgbClr val="11206D"/>
                </a:solidFill>
                <a:latin typeface="Space Grotesk"/>
              </a:rPr>
              <a:t>centralindia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19088" y="2123694"/>
            <a:ext cx="1737359" cy="105156"/>
          </a:xfrm>
          <a:prstGeom prst="roundRect">
            <a:avLst>
              <a:gd name="adj" fmla="val 50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41" name="Rounded Rectangle 40"/>
          <p:cNvSpPr/>
          <p:nvPr/>
        </p:nvSpPr>
        <p:spPr>
          <a:xfrm>
            <a:off x="6419088" y="2123694"/>
            <a:ext cx="789709" cy="105156"/>
          </a:xfrm>
          <a:prstGeom prst="roundRect">
            <a:avLst>
              <a:gd name="adj" fmla="val 50000"/>
            </a:avLst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42" name="Rectangle 41"/>
          <p:cNvSpPr/>
          <p:nvPr/>
        </p:nvSpPr>
        <p:spPr>
          <a:xfrm>
            <a:off x="8229600" y="2048255"/>
            <a:ext cx="384048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r"/>
            <a:r>
              <a:rPr sz="819" b="1" i="0">
                <a:solidFill>
                  <a:srgbClr val="11206D"/>
                </a:solidFill>
                <a:latin typeface="Space Grotesk"/>
              </a:rPr>
              <a:t>10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157216" y="2359152"/>
            <a:ext cx="118872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576" tIns="36576" bIns="36576"/>
          <a:lstStyle/>
          <a:p>
            <a:pPr algn="l"/>
            <a:r>
              <a:rPr sz="800" b="0" i="0">
                <a:solidFill>
                  <a:srgbClr val="11206D"/>
                </a:solidFill>
                <a:latin typeface="Space Grotesk"/>
              </a:rPr>
              <a:t>eastus2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19088" y="2434590"/>
            <a:ext cx="1737359" cy="105156"/>
          </a:xfrm>
          <a:prstGeom prst="roundRect">
            <a:avLst>
              <a:gd name="adj" fmla="val 50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45" name="Rounded Rectangle 44"/>
          <p:cNvSpPr/>
          <p:nvPr/>
        </p:nvSpPr>
        <p:spPr>
          <a:xfrm>
            <a:off x="6419088" y="2434590"/>
            <a:ext cx="157941" cy="105156"/>
          </a:xfrm>
          <a:prstGeom prst="roundRect">
            <a:avLst>
              <a:gd name="adj" fmla="val 50000"/>
            </a:avLst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46" name="Rectangle 45"/>
          <p:cNvSpPr/>
          <p:nvPr/>
        </p:nvSpPr>
        <p:spPr>
          <a:xfrm>
            <a:off x="8229600" y="2359152"/>
            <a:ext cx="384048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r"/>
            <a:r>
              <a:rPr sz="819" b="1" i="0">
                <a:solidFill>
                  <a:srgbClr val="11206D"/>
                </a:solidFill>
                <a:latin typeface="Space Grotesk"/>
              </a:rPr>
              <a:t>2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992624" y="2962656"/>
            <a:ext cx="3785615" cy="603504"/>
          </a:xfrm>
          <a:prstGeom prst="roundRect">
            <a:avLst>
              <a:gd name="adj" fmla="val 5000"/>
            </a:avLst>
          </a:prstGeom>
          <a:solidFill>
            <a:srgbClr val="EC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48" name="Oval 47"/>
          <p:cNvSpPr/>
          <p:nvPr/>
        </p:nvSpPr>
        <p:spPr>
          <a:xfrm>
            <a:off x="5148072" y="3095244"/>
            <a:ext cx="100584" cy="100584"/>
          </a:xfrm>
          <a:prstGeom prst="ellipse">
            <a:avLst/>
          </a:prstGeom>
          <a:solidFill>
            <a:srgbClr val="646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</a:p>
        </p:txBody>
      </p:sp>
      <p:sp>
        <p:nvSpPr>
          <p:cNvPr id="49" name="Rectangle 48"/>
          <p:cNvSpPr/>
          <p:nvPr/>
        </p:nvSpPr>
        <p:spPr>
          <a:xfrm>
            <a:off x="5340096" y="2999232"/>
            <a:ext cx="3291839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73152" tIns="36576" bIns="36576"/>
          <a:lstStyle/>
          <a:p>
            <a:pPr algn="l"/>
            <a:r>
              <a:rPr sz="900" b="1" i="0">
                <a:solidFill>
                  <a:srgbClr val="11206D"/>
                </a:solidFill>
                <a:latin typeface="Space Grotesk"/>
              </a:rPr>
              <a:t>Regional concentration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340096" y="3218688"/>
            <a:ext cx="3291839" cy="30175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800" b="0" i="0">
                <a:solidFill>
                  <a:srgbClr val="5A637D"/>
                </a:solidFill>
                <a:latin typeface="Space Grotesk"/>
              </a:rPr>
              <a:t>22 of 34 assets, or 64.7%, sit in southindia.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992624" y="3639312"/>
            <a:ext cx="3785615" cy="786384"/>
          </a:xfrm>
          <a:prstGeom prst="roundRect">
            <a:avLst>
              <a:gd name="adj" fmla="val 5000"/>
            </a:avLst>
          </a:prstGeom>
          <a:solidFill>
            <a:srgbClr val="FB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52" name="Oval 51"/>
          <p:cNvSpPr/>
          <p:nvPr/>
        </p:nvSpPr>
        <p:spPr>
          <a:xfrm>
            <a:off x="5148072" y="3771900"/>
            <a:ext cx="100584" cy="100584"/>
          </a:xfrm>
          <a:prstGeom prst="ellipse">
            <a:avLst/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</a:p>
        </p:txBody>
      </p:sp>
      <p:sp>
        <p:nvSpPr>
          <p:cNvPr id="53" name="Rectangle 52"/>
          <p:cNvSpPr/>
          <p:nvPr/>
        </p:nvSpPr>
        <p:spPr>
          <a:xfrm>
            <a:off x="5340096" y="3675887"/>
            <a:ext cx="3291839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73152" tIns="36576" bIns="36576"/>
          <a:lstStyle/>
          <a:p>
            <a:pPr algn="l"/>
            <a:r>
              <a:rPr sz="900" b="1" i="0">
                <a:solidFill>
                  <a:srgbClr val="11206D"/>
                </a:solidFill>
                <a:latin typeface="Space Grotesk"/>
              </a:rPr>
              <a:t>Account inventory boundary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340096" y="3895344"/>
            <a:ext cx="3291839" cy="4846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780" b="0" i="0">
                <a:solidFill>
                  <a:srgbClr val="5A637D"/>
                </a:solidFill>
                <a:latin typeface="Space Grotesk"/>
              </a:rPr>
              <a:t>Unique AI asset counts by account, subscription or project could not be validated from the inventory output. The account view here is finding-count distribution only.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Space Grotesk"/>
              </a:rPr>
              <a:t>AI Data Validation and Reporting Boundaries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68096"/>
            <a:ext cx="786384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50" b="1" i="0">
                <a:solidFill>
                  <a:srgbClr val="0046FF"/>
                </a:solidFill>
                <a:latin typeface="Space Grotesk"/>
              </a:rPr>
              <a:t>WHAT THE COUNTS DO AND DO NOT SAY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84124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19" b="0" i="0">
                <a:solidFill>
                  <a:srgbClr val="5A637D"/>
                </a:solidFill>
                <a:latin typeface="Space Grotesk"/>
              </a:rPr>
              <a:t>Every count below keeps the source-data boundary. No account-level asset relationship is inferred.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4791456"/>
            <a:ext cx="841248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60" b="0" i="1">
                <a:solidFill>
                  <a:srgbClr val="5A637D"/>
                </a:solidFill>
                <a:latin typeface="Space Grotesk"/>
              </a:rPr>
              <a:t>Source: confirmed AI asset inventory, active AI findings, Azure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353312"/>
            <a:ext cx="4663440" cy="26151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7" name="Rectangle 6"/>
          <p:cNvSpPr/>
          <p:nvPr/>
        </p:nvSpPr>
        <p:spPr>
          <a:xfrm>
            <a:off x="548640" y="1435608"/>
            <a:ext cx="4297679" cy="219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800" b="1" i="0">
                <a:solidFill>
                  <a:srgbClr val="8A93A8"/>
                </a:solidFill>
                <a:latin typeface="Space Grotesk"/>
              </a:rPr>
              <a:t>VALIDATION NOTES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1719072"/>
            <a:ext cx="4334256" cy="329184"/>
          </a:xfrm>
          <a:prstGeom prst="roundRect">
            <a:avLst>
              <a:gd name="adj" fmla="val 4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9" name="Rectangle 8"/>
          <p:cNvSpPr/>
          <p:nvPr/>
        </p:nvSpPr>
        <p:spPr>
          <a:xfrm>
            <a:off x="576072" y="1746504"/>
            <a:ext cx="45720" cy="274320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10" name="Rectangle 9"/>
          <p:cNvSpPr/>
          <p:nvPr/>
        </p:nvSpPr>
        <p:spPr>
          <a:xfrm>
            <a:off x="713232" y="1728216"/>
            <a:ext cx="4078224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18288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19" b="1" i="0">
                <a:solidFill>
                  <a:srgbClr val="11206D"/>
                </a:solidFill>
                <a:latin typeface="Space Grotesk"/>
              </a:rPr>
              <a:t>Inventory basis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A637D"/>
                </a:solidFill>
                <a:latin typeface="Space Grotesk"/>
              </a:rPr>
              <a:t>34 unique AI asset IDs in the confirmed inventory output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2084831"/>
            <a:ext cx="4334256" cy="329184"/>
          </a:xfrm>
          <a:prstGeom prst="roundRect">
            <a:avLst>
              <a:gd name="adj" fmla="val 4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12" name="Rectangle 11"/>
          <p:cNvSpPr/>
          <p:nvPr/>
        </p:nvSpPr>
        <p:spPr>
          <a:xfrm>
            <a:off x="576072" y="2112263"/>
            <a:ext cx="45720" cy="274320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13" name="Rectangle 12"/>
          <p:cNvSpPr/>
          <p:nvPr/>
        </p:nvSpPr>
        <p:spPr>
          <a:xfrm>
            <a:off x="713232" y="2093975"/>
            <a:ext cx="4078224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18288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19" b="1" i="0">
                <a:solidFill>
                  <a:srgbClr val="11206D"/>
                </a:solidFill>
                <a:latin typeface="Space Grotesk"/>
              </a:rPr>
              <a:t>Account limitation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A637D"/>
                </a:solidFill>
                <a:latin typeface="Space Grotesk"/>
              </a:rPr>
              <a:t>Account, subscription and project were absent from the inventory output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" y="2450591"/>
            <a:ext cx="4334256" cy="329184"/>
          </a:xfrm>
          <a:prstGeom prst="roundRect">
            <a:avLst>
              <a:gd name="adj" fmla="val 4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15" name="Rectangle 14"/>
          <p:cNvSpPr/>
          <p:nvPr/>
        </p:nvSpPr>
        <p:spPr>
          <a:xfrm>
            <a:off x="576072" y="2478023"/>
            <a:ext cx="45720" cy="274320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16" name="Rectangle 15"/>
          <p:cNvSpPr/>
          <p:nvPr/>
        </p:nvSpPr>
        <p:spPr>
          <a:xfrm>
            <a:off x="713232" y="2459735"/>
            <a:ext cx="4078224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18288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19" b="1" i="0">
                <a:solidFill>
                  <a:srgbClr val="11206D"/>
                </a:solidFill>
                <a:latin typeface="Space Grotesk"/>
              </a:rPr>
              <a:t>Account view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A637D"/>
                </a:solidFill>
                <a:latin typeface="Space Grotesk"/>
              </a:rPr>
              <a:t>The account distribution here is active AI finding-count distribution only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" y="2816352"/>
            <a:ext cx="4334256" cy="329184"/>
          </a:xfrm>
          <a:prstGeom prst="roundRect">
            <a:avLst>
              <a:gd name="adj" fmla="val 4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18" name="Rectangle 17"/>
          <p:cNvSpPr/>
          <p:nvPr/>
        </p:nvSpPr>
        <p:spPr>
          <a:xfrm>
            <a:off x="576072" y="2843784"/>
            <a:ext cx="45720" cy="274320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19" name="Rectangle 18"/>
          <p:cNvSpPr/>
          <p:nvPr/>
        </p:nvSpPr>
        <p:spPr>
          <a:xfrm>
            <a:off x="713232" y="2825496"/>
            <a:ext cx="4078224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18288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19" b="1" i="0">
                <a:solidFill>
                  <a:srgbClr val="11206D"/>
                </a:solidFill>
                <a:latin typeface="Space Grotesk"/>
              </a:rPr>
              <a:t>Public endpoint basis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A637D"/>
                </a:solidFill>
                <a:latin typeface="Space Grotesk"/>
              </a:rPr>
              <a:t>24 public-network-access assets come from confirmed ML Workspace findings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0352" y="3182112"/>
            <a:ext cx="4334256" cy="329184"/>
          </a:xfrm>
          <a:prstGeom prst="roundRect">
            <a:avLst>
              <a:gd name="adj" fmla="val 4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21" name="Rectangle 20"/>
          <p:cNvSpPr/>
          <p:nvPr/>
        </p:nvSpPr>
        <p:spPr>
          <a:xfrm>
            <a:off x="576072" y="3209544"/>
            <a:ext cx="45720" cy="274320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22" name="Rectangle 21"/>
          <p:cNvSpPr/>
          <p:nvPr/>
        </p:nvSpPr>
        <p:spPr>
          <a:xfrm>
            <a:off x="713232" y="3191256"/>
            <a:ext cx="4078224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18288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19" b="1" i="0">
                <a:solidFill>
                  <a:srgbClr val="11206D"/>
                </a:solidFill>
                <a:latin typeface="Space Grotesk"/>
              </a:rPr>
              <a:t>Internet exposure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A637D"/>
                </a:solidFill>
                <a:latin typeface="Space Grotesk"/>
              </a:rPr>
              <a:t>No separate AI-specific Internet Exposure findings were returned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0352" y="3547872"/>
            <a:ext cx="4334256" cy="329184"/>
          </a:xfrm>
          <a:prstGeom prst="roundRect">
            <a:avLst>
              <a:gd name="adj" fmla="val 4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24" name="Rectangle 23"/>
          <p:cNvSpPr/>
          <p:nvPr/>
        </p:nvSpPr>
        <p:spPr>
          <a:xfrm>
            <a:off x="576072" y="3575303"/>
            <a:ext cx="45720" cy="274320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25" name="Rectangle 24"/>
          <p:cNvSpPr/>
          <p:nvPr/>
        </p:nvSpPr>
        <p:spPr>
          <a:xfrm>
            <a:off x="713232" y="3557015"/>
            <a:ext cx="4078224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18288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19" b="1" i="0">
                <a:solidFill>
                  <a:srgbClr val="11206D"/>
                </a:solidFill>
                <a:latin typeface="Space Grotesk"/>
              </a:rPr>
              <a:t>Identity scope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A637D"/>
                </a:solidFill>
                <a:latin typeface="Space Grotesk"/>
              </a:rPr>
              <a:t>No confirmed AI IAM or identity findings were returned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212080" y="1353312"/>
            <a:ext cx="3566160" cy="26151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27" name="Rectangle 26"/>
          <p:cNvSpPr/>
          <p:nvPr/>
        </p:nvSpPr>
        <p:spPr>
          <a:xfrm>
            <a:off x="5394960" y="1435608"/>
            <a:ext cx="3200400" cy="219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800" b="1" i="0">
                <a:solidFill>
                  <a:srgbClr val="8A93A8"/>
                </a:solidFill>
                <a:latin typeface="Space Grotesk"/>
              </a:rPr>
              <a:t>KEY COUNT-BASED HIGHLIGHTS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76672" y="1719072"/>
            <a:ext cx="566928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r"/>
            <a:r>
              <a:rPr sz="1300" b="1" i="0">
                <a:solidFill>
                  <a:srgbClr val="0046FF"/>
                </a:solidFill>
                <a:latin typeface="Space Grotesk"/>
              </a:rPr>
              <a:t>34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16752" y="1719072"/>
            <a:ext cx="2596896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73152" tIns="36576" bIns="36576"/>
          <a:lstStyle/>
          <a:p>
            <a:pPr algn="l"/>
            <a:r>
              <a:rPr sz="800" b="0" i="0">
                <a:solidFill>
                  <a:srgbClr val="11206D"/>
                </a:solidFill>
                <a:latin typeface="Space Grotesk"/>
              </a:rPr>
              <a:t>Total AI and ML assets discovered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76672" y="2029967"/>
            <a:ext cx="566928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r"/>
            <a:r>
              <a:rPr sz="1300" b="1" i="0">
                <a:solidFill>
                  <a:srgbClr val="0046FF"/>
                </a:solidFill>
                <a:latin typeface="Space Grotesk"/>
              </a:rPr>
              <a:t>27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16752" y="2029967"/>
            <a:ext cx="2596896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73152" tIns="36576" bIns="36576"/>
          <a:lstStyle/>
          <a:p>
            <a:pPr algn="l"/>
            <a:r>
              <a:rPr sz="800" b="0" i="0">
                <a:solidFill>
                  <a:srgbClr val="11206D"/>
                </a:solidFill>
                <a:latin typeface="Space Grotesk"/>
              </a:rPr>
              <a:t>Azure Machine Learning workspaces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76672" y="2340864"/>
            <a:ext cx="566928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r"/>
            <a:r>
              <a:rPr sz="1300" b="1" i="0">
                <a:solidFill>
                  <a:srgbClr val="6464FF"/>
                </a:solidFill>
                <a:latin typeface="Space Grotesk"/>
              </a:rPr>
              <a:t>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16752" y="2340864"/>
            <a:ext cx="2596896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73152" tIns="36576" bIns="36576"/>
          <a:lstStyle/>
          <a:p>
            <a:pPr algn="l"/>
            <a:r>
              <a:rPr sz="800" b="0" i="0">
                <a:solidFill>
                  <a:srgbClr val="11206D"/>
                </a:solidFill>
                <a:latin typeface="Space Grotesk"/>
              </a:rPr>
              <a:t>Azure Databricks workspaces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76672" y="2651760"/>
            <a:ext cx="566928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r"/>
            <a:r>
              <a:rPr sz="1300" b="1" i="0">
                <a:solidFill>
                  <a:srgbClr val="C80019"/>
                </a:solidFill>
                <a:latin typeface="Space Grotesk"/>
              </a:rPr>
              <a:t>27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16752" y="2651760"/>
            <a:ext cx="2596896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73152" tIns="36576" bIns="36576"/>
          <a:lstStyle/>
          <a:p>
            <a:pPr algn="l"/>
            <a:r>
              <a:rPr sz="800" b="0" i="0">
                <a:solidFill>
                  <a:srgbClr val="11206D"/>
                </a:solidFill>
                <a:latin typeface="Space Grotesk"/>
              </a:rPr>
              <a:t>AI assets with High findings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76672" y="2962656"/>
            <a:ext cx="566928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r"/>
            <a:r>
              <a:rPr sz="1300" b="1" i="0">
                <a:solidFill>
                  <a:srgbClr val="C80019"/>
                </a:solidFill>
                <a:latin typeface="Space Grotesk"/>
              </a:rPr>
              <a:t>24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16752" y="2962656"/>
            <a:ext cx="2596896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73152" tIns="36576" bIns="36576"/>
          <a:lstStyle/>
          <a:p>
            <a:pPr algn="l"/>
            <a:r>
              <a:rPr sz="800" b="0" i="0">
                <a:solidFill>
                  <a:srgbClr val="11206D"/>
                </a:solidFill>
                <a:latin typeface="Space Grotesk"/>
              </a:rPr>
              <a:t>AI assets with public network access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76672" y="3273552"/>
            <a:ext cx="566928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r"/>
            <a:r>
              <a:rPr sz="1300" b="1" i="0">
                <a:solidFill>
                  <a:srgbClr val="16A55C"/>
                </a:solidFill>
                <a:latin typeface="Space Grotesk"/>
              </a:rPr>
              <a:t>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16752" y="3273552"/>
            <a:ext cx="2596896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73152" tIns="36576" bIns="36576"/>
          <a:lstStyle/>
          <a:p>
            <a:pPr algn="l"/>
            <a:r>
              <a:rPr sz="800" b="0" i="0">
                <a:solidFill>
                  <a:srgbClr val="11206D"/>
                </a:solidFill>
                <a:latin typeface="Space Grotesk"/>
              </a:rPr>
              <a:t>Critical AI findings confirmed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376672" y="3584448"/>
            <a:ext cx="566928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r"/>
            <a:r>
              <a:rPr sz="1300" b="1" i="0">
                <a:solidFill>
                  <a:srgbClr val="16A55C"/>
                </a:solidFill>
                <a:latin typeface="Space Grotesk"/>
              </a:rPr>
              <a:t>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16752" y="3584448"/>
            <a:ext cx="2596896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73152" tIns="36576" bIns="36576"/>
          <a:lstStyle/>
          <a:p>
            <a:pPr algn="l"/>
            <a:r>
              <a:rPr sz="800" b="0" i="0">
                <a:solidFill>
                  <a:srgbClr val="11206D"/>
                </a:solidFill>
                <a:latin typeface="Space Grotesk"/>
              </a:rPr>
              <a:t>AI IAM and identity findings confirmed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65760" y="4078224"/>
            <a:ext cx="8412480" cy="566928"/>
          </a:xfrm>
          <a:prstGeom prst="roundRect">
            <a:avLst>
              <a:gd name="adj" fmla="val 5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43" name="Oval 42"/>
          <p:cNvSpPr/>
          <p:nvPr/>
        </p:nvSpPr>
        <p:spPr>
          <a:xfrm>
            <a:off x="521208" y="4210812"/>
            <a:ext cx="100584" cy="100584"/>
          </a:xfrm>
          <a:prstGeom prst="ellipse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</a:p>
        </p:txBody>
      </p:sp>
      <p:sp>
        <p:nvSpPr>
          <p:cNvPr id="44" name="Rectangle 43"/>
          <p:cNvSpPr/>
          <p:nvPr/>
        </p:nvSpPr>
        <p:spPr>
          <a:xfrm>
            <a:off x="713232" y="4114800"/>
            <a:ext cx="7918704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73152" tIns="36576" bIns="36576"/>
          <a:lstStyle/>
          <a:p>
            <a:pPr algn="l"/>
            <a:r>
              <a:rPr sz="900" b="1" i="0">
                <a:solidFill>
                  <a:srgbClr val="11206D"/>
                </a:solidFill>
                <a:latin typeface="Space Grotesk"/>
              </a:rPr>
              <a:t>Reporting principle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3232" y="4334256"/>
            <a:ext cx="7918704" cy="2651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819" b="0" i="0">
                <a:solidFill>
                  <a:srgbClr val="5A637D"/>
                </a:solidFill>
                <a:latin typeface="Space Grotesk"/>
              </a:rPr>
              <a:t>Only confirmed tenant data appears here. Unsupported values stay unreported.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Space Grotesk"/>
              </a:rPr>
              <a:t>AI Toxic Combinations, Executive 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68096"/>
            <a:ext cx="786384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50" b="1" i="0">
                <a:solidFill>
                  <a:srgbClr val="0046FF"/>
                </a:solidFill>
                <a:latin typeface="Space Grotesk"/>
              </a:rPr>
              <a:t>SAME-ASSET RISK COMBINATIONS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84124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19" b="0" i="0">
                <a:solidFill>
                  <a:srgbClr val="5A637D"/>
                </a:solidFill>
                <a:latin typeface="Space Grotesk"/>
              </a:rPr>
              <a:t>Five high-confidence combinations are confirmed. No complete multi-hop path to identity, data, models or storage was proven.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4791456"/>
            <a:ext cx="841248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60" b="0" i="1">
                <a:solidFill>
                  <a:srgbClr val="5A637D"/>
                </a:solidFill>
                <a:latin typeface="Space Grotesk"/>
              </a:rPr>
              <a:t>Source: confirmed AI toxic-combination analysis, same-asset finding relationships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335024"/>
            <a:ext cx="1594713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7" name="Rectangle 6"/>
          <p:cNvSpPr/>
          <p:nvPr/>
        </p:nvSpPr>
        <p:spPr>
          <a:xfrm>
            <a:off x="457200" y="1453895"/>
            <a:ext cx="50292" cy="548640"/>
          </a:xfrm>
          <a:prstGeom prst="rect">
            <a:avLst/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8" name="Rectangle 7"/>
          <p:cNvSpPr/>
          <p:nvPr/>
        </p:nvSpPr>
        <p:spPr>
          <a:xfrm>
            <a:off x="585216" y="1399032"/>
            <a:ext cx="1283817" cy="3474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73152" tIns="36576" bIns="36576"/>
          <a:lstStyle/>
          <a:p>
            <a:pPr algn="l"/>
            <a:r>
              <a:rPr sz="1600" b="1" i="0">
                <a:solidFill>
                  <a:srgbClr val="11206D"/>
                </a:solidFill>
                <a:latin typeface="Space Grotesk"/>
              </a:rP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6" y="1746504"/>
            <a:ext cx="1302105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660" b="1" i="0">
                <a:solidFill>
                  <a:srgbClr val="11206D"/>
                </a:solidFill>
                <a:latin typeface="Space Grotesk"/>
              </a:rPr>
              <a:t>TOXIC COMBINATIONS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" y="1929384"/>
            <a:ext cx="1302105" cy="1463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650" b="0" i="0">
                <a:solidFill>
                  <a:srgbClr val="8A93A8"/>
                </a:solidFill>
                <a:latin typeface="Space Grotesk"/>
              </a:rPr>
              <a:t>All include High controls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70201" y="1335024"/>
            <a:ext cx="1594713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12" name="Rectangle 11"/>
          <p:cNvSpPr/>
          <p:nvPr/>
        </p:nvSpPr>
        <p:spPr>
          <a:xfrm>
            <a:off x="2161641" y="1453895"/>
            <a:ext cx="50292" cy="548640"/>
          </a:xfrm>
          <a:prstGeom prst="rect">
            <a:avLst/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13" name="Rectangle 12"/>
          <p:cNvSpPr/>
          <p:nvPr/>
        </p:nvSpPr>
        <p:spPr>
          <a:xfrm>
            <a:off x="2289657" y="1399032"/>
            <a:ext cx="1283817" cy="3474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73152" tIns="36576" bIns="36576"/>
          <a:lstStyle/>
          <a:p>
            <a:pPr algn="l"/>
            <a:r>
              <a:rPr sz="1600" b="1" i="0">
                <a:solidFill>
                  <a:srgbClr val="11206D"/>
                </a:solidFill>
                <a:latin typeface="Space Grotesk"/>
              </a:rPr>
              <a:t>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9657" y="1746504"/>
            <a:ext cx="1302105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660" b="1" i="0">
                <a:solidFill>
                  <a:srgbClr val="11206D"/>
                </a:solidFill>
                <a:latin typeface="Space Grotesk"/>
              </a:rPr>
              <a:t>START AT PUBLIC ACCESS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9657" y="1929384"/>
            <a:ext cx="1302105" cy="1463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650" b="0" i="0">
                <a:solidFill>
                  <a:srgbClr val="8A93A8"/>
                </a:solidFill>
                <a:latin typeface="Space Grotesk"/>
              </a:rPr>
              <a:t>Azure ML workspace exposure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74643" y="1335024"/>
            <a:ext cx="1594713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17" name="Rectangle 16"/>
          <p:cNvSpPr/>
          <p:nvPr/>
        </p:nvSpPr>
        <p:spPr>
          <a:xfrm>
            <a:off x="3866083" y="1453895"/>
            <a:ext cx="50292" cy="548640"/>
          </a:xfrm>
          <a:prstGeom prst="rect">
            <a:avLst/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18" name="Rectangle 17"/>
          <p:cNvSpPr/>
          <p:nvPr/>
        </p:nvSpPr>
        <p:spPr>
          <a:xfrm>
            <a:off x="3994099" y="1399032"/>
            <a:ext cx="1283817" cy="3474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73152" tIns="36576" bIns="36576"/>
          <a:lstStyle/>
          <a:p>
            <a:pPr algn="l"/>
            <a:r>
              <a:rPr sz="1600" b="1" i="0">
                <a:solidFill>
                  <a:srgbClr val="11206D"/>
                </a:solidFill>
                <a:latin typeface="Space Grotesk"/>
              </a:rPr>
              <a:t>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94099" y="1746504"/>
            <a:ext cx="1302105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660" b="1" i="0">
                <a:solidFill>
                  <a:srgbClr val="11206D"/>
                </a:solidFill>
                <a:latin typeface="Space Grotesk"/>
              </a:rPr>
              <a:t>HIGH-RISK COMBINATIONS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94099" y="1929384"/>
            <a:ext cx="1302105" cy="1463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650" b="0" i="0">
                <a:solidFill>
                  <a:srgbClr val="8A93A8"/>
                </a:solidFill>
                <a:latin typeface="Space Grotesk"/>
              </a:rPr>
              <a:t>High findings involved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79084" y="1335024"/>
            <a:ext cx="1594713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22" name="Rectangle 21"/>
          <p:cNvSpPr/>
          <p:nvPr/>
        </p:nvSpPr>
        <p:spPr>
          <a:xfrm>
            <a:off x="5570524" y="1453895"/>
            <a:ext cx="50292" cy="548640"/>
          </a:xfrm>
          <a:prstGeom prst="rect">
            <a:avLst/>
          </a:prstGeom>
          <a:solidFill>
            <a:srgbClr val="16A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23" name="Rectangle 22"/>
          <p:cNvSpPr/>
          <p:nvPr/>
        </p:nvSpPr>
        <p:spPr>
          <a:xfrm>
            <a:off x="5698540" y="1399032"/>
            <a:ext cx="1283817" cy="3474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73152" tIns="36576" bIns="36576"/>
          <a:lstStyle/>
          <a:p>
            <a:pPr algn="l"/>
            <a:r>
              <a:rPr sz="1600" b="1" i="0">
                <a:solidFill>
                  <a:srgbClr val="11206D"/>
                </a:solidFill>
                <a:latin typeface="Space Grotesk"/>
              </a:rPr>
              <a:t>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98540" y="1746504"/>
            <a:ext cx="1302105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660" b="1" i="0">
                <a:solidFill>
                  <a:srgbClr val="11206D"/>
                </a:solidFill>
                <a:latin typeface="Space Grotesk"/>
              </a:rPr>
              <a:t>MULTI-HOP PATHS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98540" y="1929384"/>
            <a:ext cx="1302105" cy="1463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650" b="0" i="0">
                <a:solidFill>
                  <a:srgbClr val="8A93A8"/>
                </a:solidFill>
                <a:latin typeface="Space Grotesk"/>
              </a:rPr>
              <a:t>No downstream target proven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83526" y="1335024"/>
            <a:ext cx="1594713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27" name="Rectangle 26"/>
          <p:cNvSpPr/>
          <p:nvPr/>
        </p:nvSpPr>
        <p:spPr>
          <a:xfrm>
            <a:off x="7274966" y="1453895"/>
            <a:ext cx="50292" cy="548640"/>
          </a:xfrm>
          <a:prstGeom prst="rect">
            <a:avLst/>
          </a:prstGeom>
          <a:solidFill>
            <a:srgbClr val="16A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28" name="Rectangle 27"/>
          <p:cNvSpPr/>
          <p:nvPr/>
        </p:nvSpPr>
        <p:spPr>
          <a:xfrm>
            <a:off x="7402982" y="1399032"/>
            <a:ext cx="1283817" cy="3474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73152" tIns="36576" bIns="36576"/>
          <a:lstStyle/>
          <a:p>
            <a:pPr algn="l"/>
            <a:r>
              <a:rPr sz="1600" b="1" i="0">
                <a:solidFill>
                  <a:srgbClr val="11206D"/>
                </a:solidFill>
                <a:latin typeface="Space Grotesk"/>
              </a:rPr>
              <a:t>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02982" y="1746504"/>
            <a:ext cx="1302105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660" b="1" i="0">
                <a:solidFill>
                  <a:srgbClr val="11206D"/>
                </a:solidFill>
                <a:latin typeface="Space Grotesk"/>
              </a:rPr>
              <a:t>PRIVILEGED IDENTITY PATHS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02982" y="1929384"/>
            <a:ext cx="1302105" cy="1463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650" b="0" i="0">
                <a:solidFill>
                  <a:srgbClr val="8A93A8"/>
                </a:solidFill>
                <a:latin typeface="Space Grotesk"/>
              </a:rPr>
              <a:t>No privileged role confirmed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65760" y="2249424"/>
          <a:ext cx="8412480" cy="1664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4160520"/>
                <a:gridCol w="1005840"/>
                <a:gridCol w="868680"/>
              </a:tblGrid>
              <a:tr h="246888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Space Grotesk"/>
                        </a:rPr>
                        <a:t>PRIMARY AI ASSET</a:t>
                      </a:r>
                    </a:p>
                  </a:txBody>
                  <a:tcPr marL="73152" marR="54864" marT="27432" marB="27432" anchor="ctr">
                    <a:solidFill>
                      <a:srgbClr val="11206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Space Grotesk"/>
                        </a:rPr>
                        <a:t>CONFIRMED WEAKNESS STACK</a:t>
                      </a:r>
                    </a:p>
                  </a:txBody>
                  <a:tcPr marL="73152" marR="54864" marT="27432" marB="27432" anchor="ctr">
                    <a:solidFill>
                      <a:srgbClr val="11206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Space Grotesk"/>
                        </a:rPr>
                        <a:t>RISK</a:t>
                      </a:r>
                    </a:p>
                  </a:txBody>
                  <a:tcPr marL="73152" marR="54864" marT="27432" marB="27432" anchor="ctr">
                    <a:solidFill>
                      <a:srgbClr val="11206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Space Grotesk"/>
                        </a:rPr>
                        <a:t>HOPS</a:t>
                      </a:r>
                    </a:p>
                  </a:txBody>
                  <a:tcPr marL="73152" marR="54864" marT="27432" marB="27432" anchor="ctr">
                    <a:solidFill>
                      <a:srgbClr val="11206D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1206D"/>
                          </a:solidFill>
                          <a:latin typeface="Space Grotesk"/>
                        </a:rPr>
                        <a:t>whatsapp-chat</a:t>
                      </a:r>
                    </a:p>
                  </a:txBody>
                  <a:tcPr marL="73152" marR="54864" marT="27432" marB="27432" anchor="ctr">
                    <a:lnL w="9525" cap="flat" cmpd="sng" algn="ctr">
                      <a:solidFill>
                        <a:srgbClr val="C4CCDE"/>
                      </a:solidFill>
                    </a:lnL>
                    <a:lnR w="9525" cap="flat" cmpd="sng" algn="ctr">
                      <a:solidFill>
                        <a:srgbClr val="C4CCDE"/>
                      </a:solidFill>
                    </a:lnR>
                    <a:lnT w="9525" cap="flat" cmpd="sng" algn="ctr">
                      <a:solidFill>
                        <a:srgbClr val="C4CCDE"/>
                      </a:solidFill>
                    </a:lnT>
                    <a:lnB w="9525" cap="flat" cmpd="sng" algn="ctr">
                      <a:solidFill>
                        <a:srgbClr val="C4CCDE"/>
                      </a:solidFill>
                    </a:lnB>
                    <a:solidFill>
                      <a:srgbClr val="ECE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1206D"/>
                          </a:solidFill>
                          <a:latin typeface="Space Grotesk"/>
                        </a:rPr>
                        <a:t>Public access, no CMK, no diagnostics</a:t>
                      </a:r>
                    </a:p>
                  </a:txBody>
                  <a:tcPr marL="73152" marR="54864" marT="27432" marB="27432" anchor="ctr">
                    <a:lnL w="9525" cap="flat" cmpd="sng" algn="ctr">
                      <a:solidFill>
                        <a:srgbClr val="C4CCDE"/>
                      </a:solidFill>
                    </a:lnL>
                    <a:lnR w="9525" cap="flat" cmpd="sng" algn="ctr">
                      <a:solidFill>
                        <a:srgbClr val="C4CCDE"/>
                      </a:solidFill>
                    </a:lnR>
                    <a:lnT w="9525" cap="flat" cmpd="sng" algn="ctr">
                      <a:solidFill>
                        <a:srgbClr val="C4CCDE"/>
                      </a:solidFill>
                    </a:lnT>
                    <a:lnB w="9525" cap="flat" cmpd="sng" algn="ctr">
                      <a:solidFill>
                        <a:srgbClr val="C4CC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1">
                          <a:solidFill>
                            <a:srgbClr val="4D4DD9"/>
                          </a:solidFill>
                          <a:latin typeface="Space Grotesk"/>
                        </a:rPr>
                        <a:t>HIGH</a:t>
                      </a:r>
                    </a:p>
                  </a:txBody>
                  <a:tcPr marL="73152" marR="54864" marT="27432" marB="27432" anchor="ctr">
                    <a:lnL w="9525" cap="flat" cmpd="sng" algn="ctr">
                      <a:solidFill>
                        <a:srgbClr val="C4CCDE"/>
                      </a:solidFill>
                    </a:lnL>
                    <a:lnR w="9525" cap="flat" cmpd="sng" algn="ctr">
                      <a:solidFill>
                        <a:srgbClr val="C4CCDE"/>
                      </a:solidFill>
                    </a:lnR>
                    <a:lnT w="9525" cap="flat" cmpd="sng" algn="ctr">
                      <a:solidFill>
                        <a:srgbClr val="C4CCDE"/>
                      </a:solidFill>
                    </a:lnT>
                    <a:lnB w="9525" cap="flat" cmpd="sng" algn="ctr">
                      <a:solidFill>
                        <a:srgbClr val="C4CCDE"/>
                      </a:solidFill>
                    </a:lnB>
                    <a:solidFill>
                      <a:srgbClr val="ECE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1206D"/>
                          </a:solidFill>
                          <a:latin typeface="Space Grotesk"/>
                        </a:rPr>
                        <a:t>1</a:t>
                      </a:r>
                    </a:p>
                  </a:txBody>
                  <a:tcPr marL="73152" marR="54864" marT="27432" marB="27432" anchor="ctr">
                    <a:lnL w="9525" cap="flat" cmpd="sng" algn="ctr">
                      <a:solidFill>
                        <a:srgbClr val="C4CCDE"/>
                      </a:solidFill>
                    </a:lnL>
                    <a:lnR w="9525" cap="flat" cmpd="sng" algn="ctr">
                      <a:solidFill>
                        <a:srgbClr val="C4CCDE"/>
                      </a:solidFill>
                    </a:lnR>
                    <a:lnT w="9525" cap="flat" cmpd="sng" algn="ctr">
                      <a:solidFill>
                        <a:srgbClr val="C4CCDE"/>
                      </a:solidFill>
                    </a:lnT>
                    <a:lnB w="9525" cap="flat" cmpd="sng" algn="ctr">
                      <a:solidFill>
                        <a:srgbClr val="C4CC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1206D"/>
                          </a:solidFill>
                          <a:latin typeface="Space Grotesk"/>
                        </a:rPr>
                        <a:t>6eskai-innov8</a:t>
                      </a:r>
                    </a:p>
                  </a:txBody>
                  <a:tcPr marL="73152" marR="54864" marT="27432" marB="27432" anchor="ctr">
                    <a:lnL w="9525" cap="flat" cmpd="sng" algn="ctr">
                      <a:solidFill>
                        <a:srgbClr val="C4CCDE"/>
                      </a:solidFill>
                    </a:lnL>
                    <a:lnR w="9525" cap="flat" cmpd="sng" algn="ctr">
                      <a:solidFill>
                        <a:srgbClr val="C4CCDE"/>
                      </a:solidFill>
                    </a:lnR>
                    <a:lnT w="9525" cap="flat" cmpd="sng" algn="ctr">
                      <a:solidFill>
                        <a:srgbClr val="C4CCDE"/>
                      </a:solidFill>
                    </a:lnT>
                    <a:lnB w="9525" cap="flat" cmpd="sng" algn="ctr">
                      <a:solidFill>
                        <a:srgbClr val="C4CCDE"/>
                      </a:solidFill>
                    </a:lnB>
                    <a:solidFill>
                      <a:srgbClr val="ECE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1206D"/>
                          </a:solidFill>
                          <a:latin typeface="Space Grotesk"/>
                        </a:rPr>
                        <a:t>Public access, no CMK, HBI disabled, Basic SKU</a:t>
                      </a:r>
                    </a:p>
                  </a:txBody>
                  <a:tcPr marL="73152" marR="54864" marT="27432" marB="27432" anchor="ctr">
                    <a:lnL w="9525" cap="flat" cmpd="sng" algn="ctr">
                      <a:solidFill>
                        <a:srgbClr val="C4CCDE"/>
                      </a:solidFill>
                    </a:lnL>
                    <a:lnR w="9525" cap="flat" cmpd="sng" algn="ctr">
                      <a:solidFill>
                        <a:srgbClr val="C4CCDE"/>
                      </a:solidFill>
                    </a:lnR>
                    <a:lnT w="9525" cap="flat" cmpd="sng" algn="ctr">
                      <a:solidFill>
                        <a:srgbClr val="C4CCDE"/>
                      </a:solidFill>
                    </a:lnT>
                    <a:lnB w="9525" cap="flat" cmpd="sng" algn="ctr">
                      <a:solidFill>
                        <a:srgbClr val="C4CC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1">
                          <a:solidFill>
                            <a:srgbClr val="4D4DD9"/>
                          </a:solidFill>
                          <a:latin typeface="Space Grotesk"/>
                        </a:rPr>
                        <a:t>HIGH</a:t>
                      </a:r>
                    </a:p>
                  </a:txBody>
                  <a:tcPr marL="73152" marR="54864" marT="27432" marB="27432" anchor="ctr">
                    <a:lnL w="9525" cap="flat" cmpd="sng" algn="ctr">
                      <a:solidFill>
                        <a:srgbClr val="C4CCDE"/>
                      </a:solidFill>
                    </a:lnL>
                    <a:lnR w="9525" cap="flat" cmpd="sng" algn="ctr">
                      <a:solidFill>
                        <a:srgbClr val="C4CCDE"/>
                      </a:solidFill>
                    </a:lnR>
                    <a:lnT w="9525" cap="flat" cmpd="sng" algn="ctr">
                      <a:solidFill>
                        <a:srgbClr val="C4CCDE"/>
                      </a:solidFill>
                    </a:lnT>
                    <a:lnB w="9525" cap="flat" cmpd="sng" algn="ctr">
                      <a:solidFill>
                        <a:srgbClr val="C4CCDE"/>
                      </a:solidFill>
                    </a:lnB>
                    <a:solidFill>
                      <a:srgbClr val="ECE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1206D"/>
                          </a:solidFill>
                          <a:latin typeface="Space Grotesk"/>
                        </a:rPr>
                        <a:t>1</a:t>
                      </a:r>
                    </a:p>
                  </a:txBody>
                  <a:tcPr marL="73152" marR="54864" marT="27432" marB="27432" anchor="ctr">
                    <a:lnL w="9525" cap="flat" cmpd="sng" algn="ctr">
                      <a:solidFill>
                        <a:srgbClr val="C4CCDE"/>
                      </a:solidFill>
                    </a:lnL>
                    <a:lnR w="9525" cap="flat" cmpd="sng" algn="ctr">
                      <a:solidFill>
                        <a:srgbClr val="C4CCDE"/>
                      </a:solidFill>
                    </a:lnR>
                    <a:lnT w="9525" cap="flat" cmpd="sng" algn="ctr">
                      <a:solidFill>
                        <a:srgbClr val="C4CCDE"/>
                      </a:solidFill>
                    </a:lnT>
                    <a:lnB w="9525" cap="flat" cmpd="sng" algn="ctr">
                      <a:solidFill>
                        <a:srgbClr val="C4CC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1206D"/>
                          </a:solidFill>
                          <a:latin typeface="Space Grotesk"/>
                        </a:rPr>
                        <a:t>6e-enterprise</a:t>
                      </a:r>
                    </a:p>
                  </a:txBody>
                  <a:tcPr marL="73152" marR="54864" marT="27432" marB="27432" anchor="ctr">
                    <a:lnL w="9525" cap="flat" cmpd="sng" algn="ctr">
                      <a:solidFill>
                        <a:srgbClr val="C4CCDE"/>
                      </a:solidFill>
                    </a:lnL>
                    <a:lnR w="9525" cap="flat" cmpd="sng" algn="ctr">
                      <a:solidFill>
                        <a:srgbClr val="C4CCDE"/>
                      </a:solidFill>
                    </a:lnR>
                    <a:lnT w="9525" cap="flat" cmpd="sng" algn="ctr">
                      <a:solidFill>
                        <a:srgbClr val="C4CCDE"/>
                      </a:solidFill>
                    </a:lnT>
                    <a:lnB w="9525" cap="flat" cmpd="sng" algn="ctr">
                      <a:solidFill>
                        <a:srgbClr val="C4CCDE"/>
                      </a:solidFill>
                    </a:lnB>
                    <a:solidFill>
                      <a:srgbClr val="ECE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1206D"/>
                          </a:solidFill>
                          <a:latin typeface="Space Grotesk"/>
                        </a:rPr>
                        <a:t>Public access, no CMK, no diagnostics</a:t>
                      </a:r>
                    </a:p>
                  </a:txBody>
                  <a:tcPr marL="73152" marR="54864" marT="27432" marB="27432" anchor="ctr">
                    <a:lnL w="9525" cap="flat" cmpd="sng" algn="ctr">
                      <a:solidFill>
                        <a:srgbClr val="C4CCDE"/>
                      </a:solidFill>
                    </a:lnL>
                    <a:lnR w="9525" cap="flat" cmpd="sng" algn="ctr">
                      <a:solidFill>
                        <a:srgbClr val="C4CCDE"/>
                      </a:solidFill>
                    </a:lnR>
                    <a:lnT w="9525" cap="flat" cmpd="sng" algn="ctr">
                      <a:solidFill>
                        <a:srgbClr val="C4CCDE"/>
                      </a:solidFill>
                    </a:lnT>
                    <a:lnB w="9525" cap="flat" cmpd="sng" algn="ctr">
                      <a:solidFill>
                        <a:srgbClr val="C4CC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1">
                          <a:solidFill>
                            <a:srgbClr val="4D4DD9"/>
                          </a:solidFill>
                          <a:latin typeface="Space Grotesk"/>
                        </a:rPr>
                        <a:t>HIGH</a:t>
                      </a:r>
                    </a:p>
                  </a:txBody>
                  <a:tcPr marL="73152" marR="54864" marT="27432" marB="27432" anchor="ctr">
                    <a:lnL w="9525" cap="flat" cmpd="sng" algn="ctr">
                      <a:solidFill>
                        <a:srgbClr val="C4CCDE"/>
                      </a:solidFill>
                    </a:lnL>
                    <a:lnR w="9525" cap="flat" cmpd="sng" algn="ctr">
                      <a:solidFill>
                        <a:srgbClr val="C4CCDE"/>
                      </a:solidFill>
                    </a:lnR>
                    <a:lnT w="9525" cap="flat" cmpd="sng" algn="ctr">
                      <a:solidFill>
                        <a:srgbClr val="C4CCDE"/>
                      </a:solidFill>
                    </a:lnT>
                    <a:lnB w="9525" cap="flat" cmpd="sng" algn="ctr">
                      <a:solidFill>
                        <a:srgbClr val="C4CCDE"/>
                      </a:solidFill>
                    </a:lnB>
                    <a:solidFill>
                      <a:srgbClr val="ECE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1206D"/>
                          </a:solidFill>
                          <a:latin typeface="Space Grotesk"/>
                        </a:rPr>
                        <a:t>1</a:t>
                      </a:r>
                    </a:p>
                  </a:txBody>
                  <a:tcPr marL="73152" marR="54864" marT="27432" marB="27432" anchor="ctr">
                    <a:lnL w="9525" cap="flat" cmpd="sng" algn="ctr">
                      <a:solidFill>
                        <a:srgbClr val="C4CCDE"/>
                      </a:solidFill>
                    </a:lnL>
                    <a:lnR w="9525" cap="flat" cmpd="sng" algn="ctr">
                      <a:solidFill>
                        <a:srgbClr val="C4CCDE"/>
                      </a:solidFill>
                    </a:lnR>
                    <a:lnT w="9525" cap="flat" cmpd="sng" algn="ctr">
                      <a:solidFill>
                        <a:srgbClr val="C4CCDE"/>
                      </a:solidFill>
                    </a:lnT>
                    <a:lnB w="9525" cap="flat" cmpd="sng" algn="ctr">
                      <a:solidFill>
                        <a:srgbClr val="C4CC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1206D"/>
                          </a:solidFill>
                          <a:latin typeface="Space Grotesk"/>
                        </a:rPr>
                        <a:t>AI-Foundry-NP-EA</a:t>
                      </a:r>
                    </a:p>
                  </a:txBody>
                  <a:tcPr marL="73152" marR="54864" marT="27432" marB="27432" anchor="ctr">
                    <a:lnL w="9525" cap="flat" cmpd="sng" algn="ctr">
                      <a:solidFill>
                        <a:srgbClr val="C4CCDE"/>
                      </a:solidFill>
                    </a:lnL>
                    <a:lnR w="9525" cap="flat" cmpd="sng" algn="ctr">
                      <a:solidFill>
                        <a:srgbClr val="C4CCDE"/>
                      </a:solidFill>
                    </a:lnR>
                    <a:lnT w="9525" cap="flat" cmpd="sng" algn="ctr">
                      <a:solidFill>
                        <a:srgbClr val="C4CCDE"/>
                      </a:solidFill>
                    </a:lnT>
                    <a:lnB w="9525" cap="flat" cmpd="sng" algn="ctr">
                      <a:solidFill>
                        <a:srgbClr val="C4CCDE"/>
                      </a:solidFill>
                    </a:lnB>
                    <a:solidFill>
                      <a:srgbClr val="ECE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1206D"/>
                          </a:solidFill>
                          <a:latin typeface="Space Grotesk"/>
                        </a:rPr>
                        <a:t>Public access, no CMK, HBI disabled</a:t>
                      </a:r>
                    </a:p>
                  </a:txBody>
                  <a:tcPr marL="73152" marR="54864" marT="27432" marB="27432" anchor="ctr">
                    <a:lnL w="9525" cap="flat" cmpd="sng" algn="ctr">
                      <a:solidFill>
                        <a:srgbClr val="C4CCDE"/>
                      </a:solidFill>
                    </a:lnL>
                    <a:lnR w="9525" cap="flat" cmpd="sng" algn="ctr">
                      <a:solidFill>
                        <a:srgbClr val="C4CCDE"/>
                      </a:solidFill>
                    </a:lnR>
                    <a:lnT w="9525" cap="flat" cmpd="sng" algn="ctr">
                      <a:solidFill>
                        <a:srgbClr val="C4CCDE"/>
                      </a:solidFill>
                    </a:lnT>
                    <a:lnB w="9525" cap="flat" cmpd="sng" algn="ctr">
                      <a:solidFill>
                        <a:srgbClr val="C4CC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1">
                          <a:solidFill>
                            <a:srgbClr val="4D4DD9"/>
                          </a:solidFill>
                          <a:latin typeface="Space Grotesk"/>
                        </a:rPr>
                        <a:t>HIGH</a:t>
                      </a:r>
                    </a:p>
                  </a:txBody>
                  <a:tcPr marL="73152" marR="54864" marT="27432" marB="27432" anchor="ctr">
                    <a:lnL w="9525" cap="flat" cmpd="sng" algn="ctr">
                      <a:solidFill>
                        <a:srgbClr val="C4CCDE"/>
                      </a:solidFill>
                    </a:lnL>
                    <a:lnR w="9525" cap="flat" cmpd="sng" algn="ctr">
                      <a:solidFill>
                        <a:srgbClr val="C4CCDE"/>
                      </a:solidFill>
                    </a:lnR>
                    <a:lnT w="9525" cap="flat" cmpd="sng" algn="ctr">
                      <a:solidFill>
                        <a:srgbClr val="C4CCDE"/>
                      </a:solidFill>
                    </a:lnT>
                    <a:lnB w="9525" cap="flat" cmpd="sng" algn="ctr">
                      <a:solidFill>
                        <a:srgbClr val="C4CCDE"/>
                      </a:solidFill>
                    </a:lnB>
                    <a:solidFill>
                      <a:srgbClr val="ECE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1206D"/>
                          </a:solidFill>
                          <a:latin typeface="Space Grotesk"/>
                        </a:rPr>
                        <a:t>1</a:t>
                      </a:r>
                    </a:p>
                  </a:txBody>
                  <a:tcPr marL="73152" marR="54864" marT="27432" marB="27432" anchor="ctr">
                    <a:lnL w="9525" cap="flat" cmpd="sng" algn="ctr">
                      <a:solidFill>
                        <a:srgbClr val="C4CCDE"/>
                      </a:solidFill>
                    </a:lnL>
                    <a:lnR w="9525" cap="flat" cmpd="sng" algn="ctr">
                      <a:solidFill>
                        <a:srgbClr val="C4CCDE"/>
                      </a:solidFill>
                    </a:lnR>
                    <a:lnT w="9525" cap="flat" cmpd="sng" algn="ctr">
                      <a:solidFill>
                        <a:srgbClr val="C4CCDE"/>
                      </a:solidFill>
                    </a:lnT>
                    <a:lnB w="9525" cap="flat" cmpd="sng" algn="ctr">
                      <a:solidFill>
                        <a:srgbClr val="C4CC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1206D"/>
                          </a:solidFill>
                          <a:latin typeface="Space Grotesk"/>
                        </a:rPr>
                        <a:t>6e-openai-Non-prod-southindia-3</a:t>
                      </a:r>
                    </a:p>
                  </a:txBody>
                  <a:tcPr marL="73152" marR="54864" marT="27432" marB="27432" anchor="ctr">
                    <a:lnL w="9525" cap="flat" cmpd="sng" algn="ctr">
                      <a:solidFill>
                        <a:srgbClr val="C4CCDE"/>
                      </a:solidFill>
                    </a:lnL>
                    <a:lnR w="9525" cap="flat" cmpd="sng" algn="ctr">
                      <a:solidFill>
                        <a:srgbClr val="C4CCDE"/>
                      </a:solidFill>
                    </a:lnR>
                    <a:lnT w="9525" cap="flat" cmpd="sng" algn="ctr">
                      <a:solidFill>
                        <a:srgbClr val="C4CCDE"/>
                      </a:solidFill>
                    </a:lnT>
                    <a:lnB w="9525" cap="flat" cmpd="sng" algn="ctr">
                      <a:solidFill>
                        <a:srgbClr val="C4CCDE"/>
                      </a:solidFill>
                    </a:lnB>
                    <a:solidFill>
                      <a:srgbClr val="ECE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1206D"/>
                          </a:solidFill>
                          <a:latin typeface="Space Grotesk"/>
                        </a:rPr>
                        <a:t>No CMK, no managed identity, no diagnostics</a:t>
                      </a:r>
                    </a:p>
                  </a:txBody>
                  <a:tcPr marL="73152" marR="54864" marT="27432" marB="27432" anchor="ctr">
                    <a:lnL w="9525" cap="flat" cmpd="sng" algn="ctr">
                      <a:solidFill>
                        <a:srgbClr val="C4CCDE"/>
                      </a:solidFill>
                    </a:lnL>
                    <a:lnR w="9525" cap="flat" cmpd="sng" algn="ctr">
                      <a:solidFill>
                        <a:srgbClr val="C4CCDE"/>
                      </a:solidFill>
                    </a:lnR>
                    <a:lnT w="9525" cap="flat" cmpd="sng" algn="ctr">
                      <a:solidFill>
                        <a:srgbClr val="C4CCDE"/>
                      </a:solidFill>
                    </a:lnT>
                    <a:lnB w="9525" cap="flat" cmpd="sng" algn="ctr">
                      <a:solidFill>
                        <a:srgbClr val="C4CC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1">
                          <a:solidFill>
                            <a:srgbClr val="4D4DD9"/>
                          </a:solidFill>
                          <a:latin typeface="Space Grotesk"/>
                        </a:rPr>
                        <a:t>MED/HIGH</a:t>
                      </a:r>
                    </a:p>
                  </a:txBody>
                  <a:tcPr marL="73152" marR="54864" marT="27432" marB="27432" anchor="ctr">
                    <a:lnL w="9525" cap="flat" cmpd="sng" algn="ctr">
                      <a:solidFill>
                        <a:srgbClr val="C4CCDE"/>
                      </a:solidFill>
                    </a:lnL>
                    <a:lnR w="9525" cap="flat" cmpd="sng" algn="ctr">
                      <a:solidFill>
                        <a:srgbClr val="C4CCDE"/>
                      </a:solidFill>
                    </a:lnR>
                    <a:lnT w="9525" cap="flat" cmpd="sng" algn="ctr">
                      <a:solidFill>
                        <a:srgbClr val="C4CCDE"/>
                      </a:solidFill>
                    </a:lnT>
                    <a:lnB w="9525" cap="flat" cmpd="sng" algn="ctr">
                      <a:solidFill>
                        <a:srgbClr val="C4CCDE"/>
                      </a:solidFill>
                    </a:lnB>
                    <a:solidFill>
                      <a:srgbClr val="ECE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1206D"/>
                          </a:solidFill>
                          <a:latin typeface="Space Grotesk"/>
                        </a:rPr>
                        <a:t>1</a:t>
                      </a:r>
                    </a:p>
                  </a:txBody>
                  <a:tcPr marL="73152" marR="54864" marT="27432" marB="27432" anchor="ctr">
                    <a:lnL w="9525" cap="flat" cmpd="sng" algn="ctr">
                      <a:solidFill>
                        <a:srgbClr val="C4CCDE"/>
                      </a:solidFill>
                    </a:lnL>
                    <a:lnR w="9525" cap="flat" cmpd="sng" algn="ctr">
                      <a:solidFill>
                        <a:srgbClr val="C4CCDE"/>
                      </a:solidFill>
                    </a:lnR>
                    <a:lnT w="9525" cap="flat" cmpd="sng" algn="ctr">
                      <a:solidFill>
                        <a:srgbClr val="C4CCDE"/>
                      </a:solidFill>
                    </a:lnT>
                    <a:lnB w="9525" cap="flat" cmpd="sng" algn="ctr">
                      <a:solidFill>
                        <a:srgbClr val="C4CCD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ounded Rectangle 31"/>
          <p:cNvSpPr/>
          <p:nvPr/>
        </p:nvSpPr>
        <p:spPr>
          <a:xfrm>
            <a:off x="365760" y="4041648"/>
            <a:ext cx="4114800" cy="603504"/>
          </a:xfrm>
          <a:prstGeom prst="roundRect">
            <a:avLst>
              <a:gd name="adj" fmla="val 5000"/>
            </a:avLst>
          </a:prstGeom>
          <a:solidFill>
            <a:srgbClr val="E7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33" name="Oval 32"/>
          <p:cNvSpPr/>
          <p:nvPr/>
        </p:nvSpPr>
        <p:spPr>
          <a:xfrm>
            <a:off x="521208" y="4174235"/>
            <a:ext cx="100584" cy="100584"/>
          </a:xfrm>
          <a:prstGeom prst="ellipse">
            <a:avLst/>
          </a:prstGeom>
          <a:solidFill>
            <a:srgbClr val="16A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</a:p>
        </p:txBody>
      </p:sp>
      <p:sp>
        <p:nvSpPr>
          <p:cNvPr id="34" name="Rectangle 33"/>
          <p:cNvSpPr/>
          <p:nvPr/>
        </p:nvSpPr>
        <p:spPr>
          <a:xfrm>
            <a:off x="713232" y="4078224"/>
            <a:ext cx="3621024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73152" tIns="36576" bIns="36576"/>
          <a:lstStyle/>
          <a:p>
            <a:pPr algn="l"/>
            <a:r>
              <a:rPr sz="900" b="1" i="0">
                <a:solidFill>
                  <a:srgbClr val="11206D"/>
                </a:solidFill>
                <a:latin typeface="Space Grotesk"/>
              </a:rPr>
              <a:t>Confirmed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3232" y="4297680"/>
            <a:ext cx="3621024" cy="30175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800" b="0" i="0">
                <a:solidFill>
                  <a:srgbClr val="5A637D"/>
                </a:solidFill>
                <a:latin typeface="Space Grotesk"/>
              </a:rPr>
              <a:t>Public or API entry, plus same-asset configuration findings.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663440" y="4041648"/>
            <a:ext cx="4114800" cy="603504"/>
          </a:xfrm>
          <a:prstGeom prst="roundRect">
            <a:avLst>
              <a:gd name="adj" fmla="val 5000"/>
            </a:avLst>
          </a:prstGeom>
          <a:solidFill>
            <a:srgbClr val="FB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37" name="Oval 36"/>
          <p:cNvSpPr/>
          <p:nvPr/>
        </p:nvSpPr>
        <p:spPr>
          <a:xfrm>
            <a:off x="4818888" y="4174235"/>
            <a:ext cx="100584" cy="100584"/>
          </a:xfrm>
          <a:prstGeom prst="ellipse">
            <a:avLst/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</a:p>
        </p:txBody>
      </p:sp>
      <p:sp>
        <p:nvSpPr>
          <p:cNvPr id="38" name="Rectangle 37"/>
          <p:cNvSpPr/>
          <p:nvPr/>
        </p:nvSpPr>
        <p:spPr>
          <a:xfrm>
            <a:off x="5010912" y="4078224"/>
            <a:ext cx="3621024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73152" tIns="36576" bIns="36576"/>
          <a:lstStyle/>
          <a:p>
            <a:pPr algn="l"/>
            <a:r>
              <a:rPr sz="900" b="1" i="0">
                <a:solidFill>
                  <a:srgbClr val="11206D"/>
                </a:solidFill>
                <a:latin typeface="Space Grotesk"/>
              </a:rPr>
              <a:t>Not confirmed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10912" y="4297680"/>
            <a:ext cx="3621024" cy="30175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800" b="0" i="0">
                <a:solidFill>
                  <a:srgbClr val="5A637D"/>
                </a:solidFill>
                <a:latin typeface="Space Grotesk"/>
              </a:rPr>
              <a:t>Privileged identities, datasets, model endpoints, credentials, storage or lateral movement.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Space Grotesk"/>
              </a:rPr>
              <a:t>Public Azure ML Toxic Combination Paths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68096"/>
            <a:ext cx="786384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50" b="1" i="0">
                <a:solidFill>
                  <a:srgbClr val="0046FF"/>
                </a:solidFill>
                <a:latin typeface="Space Grotesk"/>
              </a:rPr>
              <a:t>FOUR CONFIRMED COMBINATIONS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84124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19" b="0" i="0">
                <a:solidFill>
                  <a:srgbClr val="5A637D"/>
                </a:solidFill>
                <a:latin typeface="Space Grotesk"/>
              </a:rPr>
              <a:t>Four paths start with public network access, then stack encryption, logging and governance weaknesses on the same workspace.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335024"/>
            <a:ext cx="8412480" cy="6766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6" name="Rounded Rectangle 5"/>
          <p:cNvSpPr/>
          <p:nvPr/>
        </p:nvSpPr>
        <p:spPr>
          <a:xfrm>
            <a:off x="530352" y="1408176"/>
            <a:ext cx="1842516" cy="530352"/>
          </a:xfrm>
          <a:prstGeom prst="roundRect">
            <a:avLst>
              <a:gd name="adj" fmla="val 5000"/>
            </a:avLst>
          </a:prstGeom>
          <a:solidFill>
            <a:srgbClr val="FB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7" name="Rectangle 6"/>
          <p:cNvSpPr/>
          <p:nvPr/>
        </p:nvSpPr>
        <p:spPr>
          <a:xfrm>
            <a:off x="530352" y="1435608"/>
            <a:ext cx="50292" cy="475488"/>
          </a:xfrm>
          <a:prstGeom prst="rect">
            <a:avLst/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8" name="Rectangle 7"/>
          <p:cNvSpPr/>
          <p:nvPr/>
        </p:nvSpPr>
        <p:spPr>
          <a:xfrm>
            <a:off x="676656" y="1435608"/>
            <a:ext cx="1623060" cy="4754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18288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60" b="1" i="0">
                <a:solidFill>
                  <a:srgbClr val="11206D"/>
                </a:solidFill>
                <a:latin typeface="Space Grotesk"/>
              </a:rPr>
              <a:t>Internet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A637D"/>
                </a:solidFill>
                <a:latin typeface="Space Grotesk"/>
              </a:rPr>
              <a:t>Untrusted source</a:t>
            </a:r>
          </a:p>
        </p:txBody>
      </p:sp>
      <p:sp>
        <p:nvSpPr>
          <p:cNvPr id="9" name="Rectangle 8"/>
          <p:cNvSpPr/>
          <p:nvPr/>
        </p:nvSpPr>
        <p:spPr>
          <a:xfrm>
            <a:off x="2372868" y="1554480"/>
            <a:ext cx="237744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C80019"/>
                </a:solidFill>
                <a:latin typeface="Space Grotesk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10612" y="1408176"/>
            <a:ext cx="1842516" cy="530352"/>
          </a:xfrm>
          <a:prstGeom prst="roundRect">
            <a:avLst>
              <a:gd name="adj" fmla="val 5000"/>
            </a:avLst>
          </a:prstGeom>
          <a:solidFill>
            <a:srgbClr val="FB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11" name="Rectangle 10"/>
          <p:cNvSpPr/>
          <p:nvPr/>
        </p:nvSpPr>
        <p:spPr>
          <a:xfrm>
            <a:off x="2610612" y="1435608"/>
            <a:ext cx="50292" cy="475488"/>
          </a:xfrm>
          <a:prstGeom prst="rect">
            <a:avLst/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12" name="Rectangle 11"/>
          <p:cNvSpPr/>
          <p:nvPr/>
        </p:nvSpPr>
        <p:spPr>
          <a:xfrm>
            <a:off x="2756916" y="1435608"/>
            <a:ext cx="1623060" cy="4754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18288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60" b="1" i="0">
                <a:solidFill>
                  <a:srgbClr val="11206D"/>
                </a:solidFill>
                <a:latin typeface="Space Grotesk"/>
              </a:rPr>
              <a:t>Public ML workspace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A637D"/>
                </a:solidFill>
                <a:latin typeface="Space Grotesk"/>
              </a:rPr>
              <a:t>Public network access enabled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53128" y="1554480"/>
            <a:ext cx="237744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C80019"/>
                </a:solidFill>
                <a:latin typeface="Space Grotesk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90872" y="1408176"/>
            <a:ext cx="1842516" cy="530352"/>
          </a:xfrm>
          <a:prstGeom prst="roundRect">
            <a:avLst>
              <a:gd name="adj" fmla="val 5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15" name="Rectangle 14"/>
          <p:cNvSpPr/>
          <p:nvPr/>
        </p:nvSpPr>
        <p:spPr>
          <a:xfrm>
            <a:off x="4690872" y="1435608"/>
            <a:ext cx="50292" cy="47548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16" name="Rectangle 15"/>
          <p:cNvSpPr/>
          <p:nvPr/>
        </p:nvSpPr>
        <p:spPr>
          <a:xfrm>
            <a:off x="4837176" y="1435608"/>
            <a:ext cx="1623060" cy="4754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18288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60" b="1" i="0">
                <a:solidFill>
                  <a:srgbClr val="11206D"/>
                </a:solidFill>
                <a:latin typeface="Space Grotesk"/>
              </a:rPr>
              <a:t>Weakness stack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A637D"/>
                </a:solidFill>
                <a:latin typeface="Space Grotesk"/>
              </a:rPr>
              <a:t>Encryption, logging and governance gaps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33388" y="1554480"/>
            <a:ext cx="237744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0046FF"/>
                </a:solidFill>
                <a:latin typeface="Space Grotesk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71132" y="1408176"/>
            <a:ext cx="1842516" cy="530352"/>
          </a:xfrm>
          <a:prstGeom prst="roundRect">
            <a:avLst>
              <a:gd name="adj" fmla="val 5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19" name="Rectangle 18"/>
          <p:cNvSpPr/>
          <p:nvPr/>
        </p:nvSpPr>
        <p:spPr>
          <a:xfrm>
            <a:off x="6771132" y="1435608"/>
            <a:ext cx="50292" cy="475488"/>
          </a:xfrm>
          <a:prstGeom prst="rect">
            <a:avLst/>
          </a:prstGeom>
          <a:solidFill>
            <a:srgbClr val="5A63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20" name="Rectangle 19"/>
          <p:cNvSpPr/>
          <p:nvPr/>
        </p:nvSpPr>
        <p:spPr>
          <a:xfrm>
            <a:off x="6917436" y="1435608"/>
            <a:ext cx="1623060" cy="4754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18288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60" b="1" i="0">
                <a:solidFill>
                  <a:srgbClr val="11206D"/>
                </a:solidFill>
                <a:latin typeface="Space Grotesk"/>
              </a:rPr>
              <a:t>Downstream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A637D"/>
                </a:solidFill>
                <a:latin typeface="Space Grotesk"/>
              </a:rPr>
              <a:t>Not confirmed by the dataset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2084831"/>
            <a:ext cx="4114800" cy="106070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22" name="Oval 21"/>
          <p:cNvSpPr/>
          <p:nvPr/>
        </p:nvSpPr>
        <p:spPr>
          <a:xfrm>
            <a:off x="548640" y="2221991"/>
            <a:ext cx="100584" cy="100584"/>
          </a:xfrm>
          <a:prstGeom prst="ellipse">
            <a:avLst/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</a:p>
        </p:txBody>
      </p:sp>
      <p:sp>
        <p:nvSpPr>
          <p:cNvPr id="23" name="Rectangle 22"/>
          <p:cNvSpPr/>
          <p:nvPr/>
        </p:nvSpPr>
        <p:spPr>
          <a:xfrm>
            <a:off x="731520" y="2130551"/>
            <a:ext cx="246888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73152" tIns="36576" bIns="36576"/>
          <a:lstStyle/>
          <a:p>
            <a:pPr algn="l"/>
            <a:r>
              <a:rPr sz="1050" b="1" i="0">
                <a:solidFill>
                  <a:srgbClr val="11206D"/>
                </a:solidFill>
                <a:latin typeface="Space Grotesk"/>
              </a:rPr>
              <a:t>whatsapp-chat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2167127"/>
            <a:ext cx="640080" cy="219456"/>
          </a:xfrm>
          <a:prstGeom prst="roundRect">
            <a:avLst>
              <a:gd name="adj" fmla="val 50000"/>
            </a:avLst>
          </a:prstGeom>
          <a:solidFill>
            <a:srgbClr val="FB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36576" bIns="36576"/>
          <a:lstStyle/>
          <a:p>
            <a:pPr algn="ctr"/>
            <a:r>
              <a:rPr sz="700" b="1" i="0">
                <a:solidFill>
                  <a:srgbClr val="C80019"/>
                </a:solidFill>
                <a:latin typeface="Space Grotesk"/>
              </a:rPr>
              <a:t>HIGH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2359151"/>
            <a:ext cx="35661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73152" tIns="36576" bIns="36576"/>
          <a:lstStyle/>
          <a:p>
            <a:pPr algn="l"/>
            <a:r>
              <a:rPr sz="700" b="0" i="0">
                <a:solidFill>
                  <a:srgbClr val="8A93A8"/>
                </a:solidFill>
                <a:latin typeface="Space Grotesk"/>
              </a:rPr>
              <a:t>azure_machine_learning_workspace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2578608"/>
            <a:ext cx="603504" cy="228600"/>
          </a:xfrm>
          <a:prstGeom prst="roundRect">
            <a:avLst>
              <a:gd name="adj" fmla="val 50000"/>
            </a:avLst>
          </a:prstGeom>
          <a:solidFill>
            <a:srgbClr val="FB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36576" bIns="36576"/>
          <a:lstStyle/>
          <a:p>
            <a:pPr algn="ctr"/>
            <a:r>
              <a:rPr sz="640" b="1" i="0">
                <a:solidFill>
                  <a:srgbClr val="C80019"/>
                </a:solidFill>
                <a:latin typeface="Space Grotesk"/>
              </a:rPr>
              <a:t>PUBLIC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225296" y="2578608"/>
            <a:ext cx="676656" cy="228600"/>
          </a:xfrm>
          <a:prstGeom prst="roundRect">
            <a:avLst>
              <a:gd name="adj" fmla="val 50000"/>
            </a:avLst>
          </a:prstGeom>
          <a:solidFill>
            <a:srgbClr val="FB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36576" bIns="36576"/>
          <a:lstStyle/>
          <a:p>
            <a:pPr algn="ctr"/>
            <a:r>
              <a:rPr sz="640" b="1" i="0">
                <a:solidFill>
                  <a:srgbClr val="C80019"/>
                </a:solidFill>
                <a:latin typeface="Space Grotesk"/>
              </a:rPr>
              <a:t>NO CMK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975104" y="2578608"/>
            <a:ext cx="694944" cy="228600"/>
          </a:xfrm>
          <a:prstGeom prst="roundRect">
            <a:avLst>
              <a:gd name="adj" fmla="val 50000"/>
            </a:avLst>
          </a:prstGeom>
          <a:solidFill>
            <a:srgbClr val="FB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36576" bIns="36576"/>
          <a:lstStyle/>
          <a:p>
            <a:pPr algn="ctr"/>
            <a:r>
              <a:rPr sz="640" b="1" i="0">
                <a:solidFill>
                  <a:srgbClr val="C80019"/>
                </a:solidFill>
                <a:latin typeface="Space Grotesk"/>
              </a:rPr>
              <a:t>NO LOGS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0" y="2578608"/>
            <a:ext cx="1536192" cy="228600"/>
          </a:xfrm>
          <a:prstGeom prst="roundRect">
            <a:avLst>
              <a:gd name="adj" fmla="val 50000"/>
            </a:avLst>
          </a:prstGeom>
          <a:solidFill>
            <a:srgbClr val="FB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36576" bIns="36576"/>
          <a:lstStyle/>
          <a:p>
            <a:pPr algn="ctr"/>
            <a:r>
              <a:rPr sz="640" b="1" i="0">
                <a:solidFill>
                  <a:srgbClr val="C80019"/>
                </a:solidFill>
                <a:latin typeface="Space Grotesk"/>
              </a:rPr>
              <a:t>HBI + MONITORING GAPS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2852927"/>
            <a:ext cx="3785615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700" b="0" i="1">
                <a:solidFill>
                  <a:srgbClr val="5A637D"/>
                </a:solidFill>
                <a:latin typeface="Space Grotesk"/>
              </a:rPr>
              <a:t>Potential impact: a publicly reachable workspace with weaker data protection and detection.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63440" y="2084831"/>
            <a:ext cx="4114800" cy="106070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32" name="Oval 31"/>
          <p:cNvSpPr/>
          <p:nvPr/>
        </p:nvSpPr>
        <p:spPr>
          <a:xfrm>
            <a:off x="4846320" y="2221991"/>
            <a:ext cx="100584" cy="100584"/>
          </a:xfrm>
          <a:prstGeom prst="ellipse">
            <a:avLst/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</a:p>
        </p:txBody>
      </p:sp>
      <p:sp>
        <p:nvSpPr>
          <p:cNvPr id="33" name="Rectangle 32"/>
          <p:cNvSpPr/>
          <p:nvPr/>
        </p:nvSpPr>
        <p:spPr>
          <a:xfrm>
            <a:off x="5029200" y="2130551"/>
            <a:ext cx="246888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73152" tIns="36576" bIns="36576"/>
          <a:lstStyle/>
          <a:p>
            <a:pPr algn="l"/>
            <a:r>
              <a:rPr sz="1050" b="1" i="0">
                <a:solidFill>
                  <a:srgbClr val="11206D"/>
                </a:solidFill>
                <a:latin typeface="Space Grotesk"/>
              </a:rPr>
              <a:t>6eskai-innov8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55280" y="2167127"/>
            <a:ext cx="640080" cy="219456"/>
          </a:xfrm>
          <a:prstGeom prst="roundRect">
            <a:avLst>
              <a:gd name="adj" fmla="val 50000"/>
            </a:avLst>
          </a:prstGeom>
          <a:solidFill>
            <a:srgbClr val="FB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36576" bIns="36576"/>
          <a:lstStyle/>
          <a:p>
            <a:pPr algn="ctr"/>
            <a:r>
              <a:rPr sz="700" b="1" i="0">
                <a:solidFill>
                  <a:srgbClr val="C80019"/>
                </a:solidFill>
                <a:latin typeface="Space Grotesk"/>
              </a:rPr>
              <a:t>HIGH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0" y="2359151"/>
            <a:ext cx="35661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73152" tIns="36576" bIns="36576"/>
          <a:lstStyle/>
          <a:p>
            <a:pPr algn="l"/>
            <a:r>
              <a:rPr sz="700" b="0" i="0">
                <a:solidFill>
                  <a:srgbClr val="8A93A8"/>
                </a:solidFill>
                <a:latin typeface="Space Grotesk"/>
              </a:rPr>
              <a:t>azure_machine_learning_workspace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846320" y="2578608"/>
            <a:ext cx="603504" cy="228600"/>
          </a:xfrm>
          <a:prstGeom prst="roundRect">
            <a:avLst>
              <a:gd name="adj" fmla="val 50000"/>
            </a:avLst>
          </a:prstGeom>
          <a:solidFill>
            <a:srgbClr val="FB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36576" bIns="36576"/>
          <a:lstStyle/>
          <a:p>
            <a:pPr algn="ctr"/>
            <a:r>
              <a:rPr sz="640" b="1" i="0">
                <a:solidFill>
                  <a:srgbClr val="C80019"/>
                </a:solidFill>
                <a:latin typeface="Space Grotesk"/>
              </a:rPr>
              <a:t>PUBLIC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522976" y="2578608"/>
            <a:ext cx="676656" cy="228600"/>
          </a:xfrm>
          <a:prstGeom prst="roundRect">
            <a:avLst>
              <a:gd name="adj" fmla="val 50000"/>
            </a:avLst>
          </a:prstGeom>
          <a:solidFill>
            <a:srgbClr val="FB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36576" bIns="36576"/>
          <a:lstStyle/>
          <a:p>
            <a:pPr algn="ctr"/>
            <a:r>
              <a:rPr sz="640" b="1" i="0">
                <a:solidFill>
                  <a:srgbClr val="C80019"/>
                </a:solidFill>
                <a:latin typeface="Space Grotesk"/>
              </a:rPr>
              <a:t>NO CMK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72784" y="2578608"/>
            <a:ext cx="694944" cy="228600"/>
          </a:xfrm>
          <a:prstGeom prst="roundRect">
            <a:avLst>
              <a:gd name="adj" fmla="val 50000"/>
            </a:avLst>
          </a:prstGeom>
          <a:solidFill>
            <a:srgbClr val="FB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36576" bIns="36576"/>
          <a:lstStyle/>
          <a:p>
            <a:pPr algn="ctr"/>
            <a:r>
              <a:rPr sz="640" b="1" i="0">
                <a:solidFill>
                  <a:srgbClr val="C80019"/>
                </a:solidFill>
                <a:latin typeface="Space Grotesk"/>
              </a:rPr>
              <a:t>NO LOGS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040880" y="2578608"/>
            <a:ext cx="1536192" cy="228600"/>
          </a:xfrm>
          <a:prstGeom prst="roundRect">
            <a:avLst>
              <a:gd name="adj" fmla="val 50000"/>
            </a:avLst>
          </a:prstGeom>
          <a:solidFill>
            <a:srgbClr val="FB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36576" bIns="36576"/>
          <a:lstStyle/>
          <a:p>
            <a:pPr algn="ctr"/>
            <a:r>
              <a:rPr sz="640" b="1" i="0">
                <a:solidFill>
                  <a:srgbClr val="C80019"/>
                </a:solidFill>
                <a:latin typeface="Space Grotesk"/>
              </a:rPr>
              <a:t>HBI DISABLED + BASIC SKU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46320" y="2852927"/>
            <a:ext cx="3785615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700" b="0" i="1">
                <a:solidFill>
                  <a:srgbClr val="5A637D"/>
                </a:solidFill>
                <a:latin typeface="Space Grotesk"/>
              </a:rPr>
              <a:t>Potential impact: a publicly reachable workspace with weaker data protection and detection.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65760" y="3218687"/>
            <a:ext cx="4114800" cy="106070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42" name="Oval 41"/>
          <p:cNvSpPr/>
          <p:nvPr/>
        </p:nvSpPr>
        <p:spPr>
          <a:xfrm>
            <a:off x="548640" y="3355847"/>
            <a:ext cx="100584" cy="100584"/>
          </a:xfrm>
          <a:prstGeom prst="ellipse">
            <a:avLst/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</a:p>
        </p:txBody>
      </p:sp>
      <p:sp>
        <p:nvSpPr>
          <p:cNvPr id="43" name="Rectangle 42"/>
          <p:cNvSpPr/>
          <p:nvPr/>
        </p:nvSpPr>
        <p:spPr>
          <a:xfrm>
            <a:off x="731520" y="3264407"/>
            <a:ext cx="246888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73152" tIns="36576" bIns="36576"/>
          <a:lstStyle/>
          <a:p>
            <a:pPr algn="l"/>
            <a:r>
              <a:rPr sz="1050" b="1" i="0">
                <a:solidFill>
                  <a:srgbClr val="11206D"/>
                </a:solidFill>
                <a:latin typeface="Space Grotesk"/>
              </a:rPr>
              <a:t>6e-enterprise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657600" y="3300983"/>
            <a:ext cx="640080" cy="219456"/>
          </a:xfrm>
          <a:prstGeom prst="roundRect">
            <a:avLst>
              <a:gd name="adj" fmla="val 50000"/>
            </a:avLst>
          </a:prstGeom>
          <a:solidFill>
            <a:srgbClr val="FB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36576" bIns="36576"/>
          <a:lstStyle/>
          <a:p>
            <a:pPr algn="ctr"/>
            <a:r>
              <a:rPr sz="700" b="1" i="0">
                <a:solidFill>
                  <a:srgbClr val="C80019"/>
                </a:solidFill>
                <a:latin typeface="Space Grotesk"/>
              </a:rPr>
              <a:t>HIGH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3493007"/>
            <a:ext cx="35661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73152" tIns="36576" bIns="36576"/>
          <a:lstStyle/>
          <a:p>
            <a:pPr algn="l"/>
            <a:r>
              <a:rPr sz="700" b="0" i="0">
                <a:solidFill>
                  <a:srgbClr val="8A93A8"/>
                </a:solidFill>
                <a:latin typeface="Space Grotesk"/>
              </a:rPr>
              <a:t>azure_machine_learning_workspace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8640" y="3712463"/>
            <a:ext cx="603504" cy="228600"/>
          </a:xfrm>
          <a:prstGeom prst="roundRect">
            <a:avLst>
              <a:gd name="adj" fmla="val 50000"/>
            </a:avLst>
          </a:prstGeom>
          <a:solidFill>
            <a:srgbClr val="FB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36576" bIns="36576"/>
          <a:lstStyle/>
          <a:p>
            <a:pPr algn="ctr"/>
            <a:r>
              <a:rPr sz="640" b="1" i="0">
                <a:solidFill>
                  <a:srgbClr val="C80019"/>
                </a:solidFill>
                <a:latin typeface="Space Grotesk"/>
              </a:rPr>
              <a:t>PUBLIC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225296" y="3712463"/>
            <a:ext cx="676656" cy="228600"/>
          </a:xfrm>
          <a:prstGeom prst="roundRect">
            <a:avLst>
              <a:gd name="adj" fmla="val 50000"/>
            </a:avLst>
          </a:prstGeom>
          <a:solidFill>
            <a:srgbClr val="FB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36576" bIns="36576"/>
          <a:lstStyle/>
          <a:p>
            <a:pPr algn="ctr"/>
            <a:r>
              <a:rPr sz="640" b="1" i="0">
                <a:solidFill>
                  <a:srgbClr val="C80019"/>
                </a:solidFill>
                <a:latin typeface="Space Grotesk"/>
              </a:rPr>
              <a:t>NO CMK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975104" y="3712463"/>
            <a:ext cx="694944" cy="228600"/>
          </a:xfrm>
          <a:prstGeom prst="roundRect">
            <a:avLst>
              <a:gd name="adj" fmla="val 50000"/>
            </a:avLst>
          </a:prstGeom>
          <a:solidFill>
            <a:srgbClr val="FB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36576" bIns="36576"/>
          <a:lstStyle/>
          <a:p>
            <a:pPr algn="ctr"/>
            <a:r>
              <a:rPr sz="640" b="1" i="0">
                <a:solidFill>
                  <a:srgbClr val="C80019"/>
                </a:solidFill>
                <a:latin typeface="Space Grotesk"/>
              </a:rPr>
              <a:t>NO LOGS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743200" y="3712463"/>
            <a:ext cx="1536192" cy="228600"/>
          </a:xfrm>
          <a:prstGeom prst="roundRect">
            <a:avLst>
              <a:gd name="adj" fmla="val 50000"/>
            </a:avLst>
          </a:prstGeom>
          <a:solidFill>
            <a:srgbClr val="FB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36576" bIns="36576"/>
          <a:lstStyle/>
          <a:p>
            <a:pPr algn="ctr"/>
            <a:r>
              <a:rPr sz="640" b="1" i="0">
                <a:solidFill>
                  <a:srgbClr val="C80019"/>
                </a:solidFill>
                <a:latin typeface="Space Grotesk"/>
              </a:rPr>
              <a:t>HBI DISABLED + BASIC SKU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3986783"/>
            <a:ext cx="3785615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700" b="0" i="1">
                <a:solidFill>
                  <a:srgbClr val="5A637D"/>
                </a:solidFill>
                <a:latin typeface="Space Grotesk"/>
              </a:rPr>
              <a:t>Potential impact: a publicly reachable workspace with weaker data protection and detection.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663440" y="3218687"/>
            <a:ext cx="4114800" cy="106070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52" name="Oval 51"/>
          <p:cNvSpPr/>
          <p:nvPr/>
        </p:nvSpPr>
        <p:spPr>
          <a:xfrm>
            <a:off x="4846320" y="3355847"/>
            <a:ext cx="100584" cy="100584"/>
          </a:xfrm>
          <a:prstGeom prst="ellipse">
            <a:avLst/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</a:p>
        </p:txBody>
      </p:sp>
      <p:sp>
        <p:nvSpPr>
          <p:cNvPr id="53" name="Rectangle 52"/>
          <p:cNvSpPr/>
          <p:nvPr/>
        </p:nvSpPr>
        <p:spPr>
          <a:xfrm>
            <a:off x="5029200" y="3264407"/>
            <a:ext cx="246888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73152" tIns="36576" bIns="36576"/>
          <a:lstStyle/>
          <a:p>
            <a:pPr algn="l"/>
            <a:r>
              <a:rPr sz="1050" b="1" i="0">
                <a:solidFill>
                  <a:srgbClr val="11206D"/>
                </a:solidFill>
                <a:latin typeface="Space Grotesk"/>
              </a:rPr>
              <a:t>AI-Foundry-NP-EA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955280" y="3300983"/>
            <a:ext cx="640080" cy="219456"/>
          </a:xfrm>
          <a:prstGeom prst="roundRect">
            <a:avLst>
              <a:gd name="adj" fmla="val 50000"/>
            </a:avLst>
          </a:prstGeom>
          <a:solidFill>
            <a:srgbClr val="FB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36576" bIns="36576"/>
          <a:lstStyle/>
          <a:p>
            <a:pPr algn="ctr"/>
            <a:r>
              <a:rPr sz="700" b="1" i="0">
                <a:solidFill>
                  <a:srgbClr val="C80019"/>
                </a:solidFill>
                <a:latin typeface="Space Grotesk"/>
              </a:rPr>
              <a:t>HIGH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29200" y="3493007"/>
            <a:ext cx="35661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73152" tIns="36576" bIns="36576"/>
          <a:lstStyle/>
          <a:p>
            <a:pPr algn="l"/>
            <a:r>
              <a:rPr sz="700" b="0" i="0">
                <a:solidFill>
                  <a:srgbClr val="8A93A8"/>
                </a:solidFill>
                <a:latin typeface="Space Grotesk"/>
              </a:rPr>
              <a:t>azure_machine_learning_workspace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846320" y="3712463"/>
            <a:ext cx="603504" cy="228600"/>
          </a:xfrm>
          <a:prstGeom prst="roundRect">
            <a:avLst>
              <a:gd name="adj" fmla="val 50000"/>
            </a:avLst>
          </a:prstGeom>
          <a:solidFill>
            <a:srgbClr val="FB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36576" bIns="36576"/>
          <a:lstStyle/>
          <a:p>
            <a:pPr algn="ctr"/>
            <a:r>
              <a:rPr sz="640" b="1" i="0">
                <a:solidFill>
                  <a:srgbClr val="C80019"/>
                </a:solidFill>
                <a:latin typeface="Space Grotesk"/>
              </a:rPr>
              <a:t>PUBLIC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522976" y="3712463"/>
            <a:ext cx="676656" cy="228600"/>
          </a:xfrm>
          <a:prstGeom prst="roundRect">
            <a:avLst>
              <a:gd name="adj" fmla="val 50000"/>
            </a:avLst>
          </a:prstGeom>
          <a:solidFill>
            <a:srgbClr val="FB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36576" bIns="36576"/>
          <a:lstStyle/>
          <a:p>
            <a:pPr algn="ctr"/>
            <a:r>
              <a:rPr sz="640" b="1" i="0">
                <a:solidFill>
                  <a:srgbClr val="C80019"/>
                </a:solidFill>
                <a:latin typeface="Space Grotesk"/>
              </a:rPr>
              <a:t>NO CMK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272784" y="3712463"/>
            <a:ext cx="694944" cy="228600"/>
          </a:xfrm>
          <a:prstGeom prst="roundRect">
            <a:avLst>
              <a:gd name="adj" fmla="val 50000"/>
            </a:avLst>
          </a:prstGeom>
          <a:solidFill>
            <a:srgbClr val="FB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36576" bIns="36576"/>
          <a:lstStyle/>
          <a:p>
            <a:pPr algn="ctr"/>
            <a:r>
              <a:rPr sz="640" b="1" i="0">
                <a:solidFill>
                  <a:srgbClr val="C80019"/>
                </a:solidFill>
                <a:latin typeface="Space Grotesk"/>
              </a:rPr>
              <a:t>NO LOGS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040880" y="3712463"/>
            <a:ext cx="1536192" cy="228600"/>
          </a:xfrm>
          <a:prstGeom prst="roundRect">
            <a:avLst>
              <a:gd name="adj" fmla="val 50000"/>
            </a:avLst>
          </a:prstGeom>
          <a:solidFill>
            <a:srgbClr val="FB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36576" bIns="36576"/>
          <a:lstStyle/>
          <a:p>
            <a:pPr algn="ctr"/>
            <a:r>
              <a:rPr sz="640" b="1" i="0">
                <a:solidFill>
                  <a:srgbClr val="C80019"/>
                </a:solidFill>
                <a:latin typeface="Space Grotesk"/>
              </a:rPr>
              <a:t>HBI DISABLED + BASIC SKU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846320" y="3986783"/>
            <a:ext cx="3785615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700" b="0" i="1">
                <a:solidFill>
                  <a:srgbClr val="5A637D"/>
                </a:solidFill>
                <a:latin typeface="Space Grotesk"/>
              </a:rPr>
              <a:t>Potential impact: a publicly reachable workspace with weaker data protection and detection.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65760" y="4334256"/>
            <a:ext cx="8412480" cy="475488"/>
          </a:xfrm>
          <a:prstGeom prst="roundRect">
            <a:avLst>
              <a:gd name="adj" fmla="val 5000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62" name="Oval 61"/>
          <p:cNvSpPr/>
          <p:nvPr/>
        </p:nvSpPr>
        <p:spPr>
          <a:xfrm>
            <a:off x="521208" y="4466844"/>
            <a:ext cx="100584" cy="100584"/>
          </a:xfrm>
          <a:prstGeom prst="ellipse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</a:p>
        </p:txBody>
      </p:sp>
      <p:sp>
        <p:nvSpPr>
          <p:cNvPr id="63" name="Rectangle 62"/>
          <p:cNvSpPr/>
          <p:nvPr/>
        </p:nvSpPr>
        <p:spPr>
          <a:xfrm>
            <a:off x="713232" y="4370832"/>
            <a:ext cx="7918704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73152" tIns="36576" bIns="36576"/>
          <a:lstStyle/>
          <a:p>
            <a:pPr algn="l"/>
            <a:r>
              <a:rPr sz="900" b="1" i="0">
                <a:solidFill>
                  <a:srgbClr val="11206D"/>
                </a:solidFill>
                <a:latin typeface="Space Grotesk"/>
              </a:rPr>
              <a:t>Evidence boundary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13232" y="4590288"/>
            <a:ext cx="7918704" cy="1737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760" b="0" i="0">
                <a:solidFill>
                  <a:srgbClr val="5A637D"/>
                </a:solidFill>
                <a:latin typeface="Space Grotesk"/>
              </a:rPr>
              <a:t>All four paths rest on the public-workspace finding and same-asset control findings. No identity, dataset, model endpoint, storage or credential relationship was confirmed.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Space Grotesk"/>
              </a:rPr>
              <a:t>AI Governance Toxic Combination and Risk Patterns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68096"/>
            <a:ext cx="786384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50" b="1" i="0">
                <a:solidFill>
                  <a:srgbClr val="0046FF"/>
                </a:solidFill>
                <a:latin typeface="Space Grotesk"/>
              </a:rPr>
              <a:t>THE FIFTH COMBINATION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84124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19" b="0" i="0">
                <a:solidFill>
                  <a:srgbClr val="5A637D"/>
                </a:solidFill>
                <a:latin typeface="Space Grotesk"/>
              </a:rPr>
              <a:t>Combination five affects an Azure OpenAI and Cognitive account. The aggregate view shows recurring encryption, identity and logging gaps.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335024"/>
            <a:ext cx="3931920" cy="270662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3566160" cy="219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800" b="1" i="0">
                <a:solidFill>
                  <a:srgbClr val="8A93A8"/>
                </a:solidFill>
                <a:latin typeface="Space Grotesk"/>
              </a:rPr>
              <a:t>TOXIC COMBINATION 5, AZURE OPENAI AND COGNITIVE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682495"/>
            <a:ext cx="237744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73152" tIns="36576" bIns="36576"/>
          <a:lstStyle/>
          <a:p>
            <a:pPr algn="l"/>
            <a:r>
              <a:rPr sz="950" b="1" i="0">
                <a:solidFill>
                  <a:srgbClr val="11206D"/>
                </a:solidFill>
                <a:latin typeface="Space Grotesk"/>
              </a:rPr>
              <a:t>6e-openai-Non-prod-southindia-3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35808" y="1700784"/>
            <a:ext cx="1097280" cy="219456"/>
          </a:xfrm>
          <a:prstGeom prst="roundRect">
            <a:avLst>
              <a:gd name="adj" fmla="val 50000"/>
            </a:avLst>
          </a:prstGeom>
          <a:solidFill>
            <a:srgbClr val="EC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36576" bIns="36576"/>
          <a:lstStyle/>
          <a:p>
            <a:pPr algn="ctr"/>
            <a:r>
              <a:rPr sz="680" b="1" i="0">
                <a:solidFill>
                  <a:srgbClr val="4D4DD9"/>
                </a:solidFill>
                <a:latin typeface="Space Grotesk"/>
              </a:rPr>
              <a:t>MEDIUM / HIGH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1938528"/>
            <a:ext cx="3602736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73152" tIns="36576" bIns="36576"/>
          <a:lstStyle/>
          <a:p>
            <a:pPr algn="l"/>
            <a:r>
              <a:rPr sz="700" b="0" i="0">
                <a:solidFill>
                  <a:srgbClr val="8A93A8"/>
                </a:solidFill>
                <a:latin typeface="Space Grotesk"/>
              </a:rPr>
              <a:t>azure_cognitive_account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194560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FB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36576" bIns="36576"/>
          <a:lstStyle/>
          <a:p>
            <a:pPr algn="ctr"/>
            <a:r>
              <a:rPr sz="660" b="1" i="0">
                <a:solidFill>
                  <a:srgbClr val="C80019"/>
                </a:solidFill>
                <a:latin typeface="Space Grotesk"/>
              </a:rPr>
              <a:t>HIGH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7008" y="2176272"/>
            <a:ext cx="2926080" cy="219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73152" tIns="36576" bIns="36576"/>
          <a:lstStyle/>
          <a:p>
            <a:pPr algn="l"/>
            <a:r>
              <a:rPr sz="860" b="1" i="0">
                <a:solidFill>
                  <a:srgbClr val="11206D"/>
                </a:solidFill>
                <a:latin typeface="Space Grotesk"/>
              </a:rPr>
              <a:t>OpenAI Account CMK Encrypted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7008" y="2395728"/>
            <a:ext cx="292608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740" b="0" i="0">
                <a:solidFill>
                  <a:srgbClr val="5A637D"/>
                </a:solidFill>
                <a:latin typeface="Space Grotesk"/>
              </a:rPr>
              <a:t>The account is not encrypted with a customer-managed key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2761488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EC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36576" bIns="36576"/>
          <a:lstStyle/>
          <a:p>
            <a:pPr algn="ctr"/>
            <a:r>
              <a:rPr sz="660" b="1" i="0">
                <a:solidFill>
                  <a:srgbClr val="4D4DD9"/>
                </a:solidFill>
                <a:latin typeface="Space Grotesk"/>
              </a:rPr>
              <a:t>MEDIUM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7008" y="2743200"/>
            <a:ext cx="2926080" cy="219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73152" tIns="36576" bIns="36576"/>
          <a:lstStyle/>
          <a:p>
            <a:pPr algn="l"/>
            <a:r>
              <a:rPr sz="860" b="1" i="0">
                <a:solidFill>
                  <a:srgbClr val="11206D"/>
                </a:solidFill>
                <a:latin typeface="Space Grotesk"/>
              </a:rPr>
              <a:t>OpenAI Account Managed Identity Enabled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07008" y="2962656"/>
            <a:ext cx="292608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740" b="0" i="0">
                <a:solidFill>
                  <a:srgbClr val="5A637D"/>
                </a:solidFill>
                <a:latin typeface="Space Grotesk"/>
              </a:rPr>
              <a:t>Managed identity is not enabled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" y="3328416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EC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36576" bIns="36576"/>
          <a:lstStyle/>
          <a:p>
            <a:pPr algn="ctr"/>
            <a:r>
              <a:rPr sz="660" b="1" i="0">
                <a:solidFill>
                  <a:srgbClr val="4D4DD9"/>
                </a:solidFill>
                <a:latin typeface="Space Grotesk"/>
              </a:rPr>
              <a:t>MEDIUM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07008" y="3310128"/>
            <a:ext cx="2926080" cy="219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73152" tIns="36576" bIns="36576"/>
          <a:lstStyle/>
          <a:p>
            <a:pPr algn="l"/>
            <a:r>
              <a:rPr sz="860" b="1" i="0">
                <a:solidFill>
                  <a:srgbClr val="11206D"/>
                </a:solidFill>
                <a:latin typeface="Space Grotesk"/>
              </a:rPr>
              <a:t>OpenAI Account Diagnostic Logging Enabled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07008" y="3529584"/>
            <a:ext cx="292608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740" b="0" i="0">
                <a:solidFill>
                  <a:srgbClr val="5A637D"/>
                </a:solidFill>
                <a:latin typeface="Space Grotesk"/>
              </a:rPr>
              <a:t>Diagnostic logs are not enabled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0352" y="3730752"/>
            <a:ext cx="3602736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73152" tIns="36576" bIns="36576"/>
          <a:lstStyle/>
          <a:p>
            <a:pPr algn="l"/>
            <a:r>
              <a:rPr sz="700" b="0" i="1">
                <a:solidFill>
                  <a:srgbClr val="8A93A8"/>
                </a:solidFill>
                <a:latin typeface="Space Grotesk"/>
              </a:rPr>
              <a:t>Public exposure, privileged identity, model deployment, dataset and credential relationships were not confirmed for this asset.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53712" y="1335024"/>
            <a:ext cx="4224528" cy="270662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4C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21" name="Rectangle 20"/>
          <p:cNvSpPr/>
          <p:nvPr/>
        </p:nvSpPr>
        <p:spPr>
          <a:xfrm>
            <a:off x="4736592" y="1417320"/>
            <a:ext cx="3858768" cy="219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800" b="1" i="0">
                <a:solidFill>
                  <a:srgbClr val="8A93A8"/>
                </a:solidFill>
                <a:latin typeface="Space Grotesk"/>
              </a:rPr>
              <a:t>AGGREGATE CONFIRMED PATTERNS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18304" y="1719072"/>
            <a:ext cx="45720" cy="292608"/>
          </a:xfrm>
          <a:prstGeom prst="rect">
            <a:avLst/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23" name="Rectangle 22"/>
          <p:cNvSpPr/>
          <p:nvPr/>
        </p:nvSpPr>
        <p:spPr>
          <a:xfrm>
            <a:off x="4864608" y="1719072"/>
            <a:ext cx="29260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73152" tIns="36576" bIns="36576"/>
          <a:lstStyle/>
          <a:p>
            <a:pPr algn="l"/>
            <a:r>
              <a:rPr sz="800" b="0" i="0">
                <a:solidFill>
                  <a:srgbClr val="11206D"/>
                </a:solidFill>
                <a:latin typeface="Space Grotesk"/>
              </a:rPr>
              <a:t>Public Azure ML workspace plus CMK gap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08975" y="1719072"/>
            <a:ext cx="804672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r"/>
            <a:r>
              <a:rPr sz="800" b="1" i="0">
                <a:solidFill>
                  <a:srgbClr val="C80019"/>
                </a:solidFill>
                <a:latin typeface="Space Grotesk"/>
              </a:rPr>
              <a:t>24 findings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18304" y="2084831"/>
            <a:ext cx="45720" cy="292608"/>
          </a:xfrm>
          <a:prstGeom prst="rect">
            <a:avLst/>
          </a:prstGeom>
          <a:solidFill>
            <a:srgbClr val="5A63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26" name="Rectangle 25"/>
          <p:cNvSpPr/>
          <p:nvPr/>
        </p:nvSpPr>
        <p:spPr>
          <a:xfrm>
            <a:off x="4864608" y="2084831"/>
            <a:ext cx="29260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73152" tIns="36576" bIns="36576"/>
          <a:lstStyle/>
          <a:p>
            <a:pPr algn="l"/>
            <a:r>
              <a:rPr sz="800" b="0" i="0">
                <a:solidFill>
                  <a:srgbClr val="11206D"/>
                </a:solidFill>
                <a:latin typeface="Space Grotesk"/>
              </a:rPr>
              <a:t>Azure ML workspace plus diagnostics disabled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08975" y="2084831"/>
            <a:ext cx="804672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r"/>
            <a:r>
              <a:rPr sz="800" b="1" i="0">
                <a:solidFill>
                  <a:srgbClr val="5A637D"/>
                </a:solidFill>
                <a:latin typeface="Space Grotesk"/>
              </a:rPr>
              <a:t>19 findings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18304" y="2450591"/>
            <a:ext cx="45720" cy="292608"/>
          </a:xfrm>
          <a:prstGeom prst="rect">
            <a:avLst/>
          </a:prstGeom>
          <a:solidFill>
            <a:srgbClr val="5A63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29" name="Rectangle 28"/>
          <p:cNvSpPr/>
          <p:nvPr/>
        </p:nvSpPr>
        <p:spPr>
          <a:xfrm>
            <a:off x="4864608" y="2450591"/>
            <a:ext cx="29260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73152" tIns="36576" bIns="36576"/>
          <a:lstStyle/>
          <a:p>
            <a:pPr algn="l"/>
            <a:r>
              <a:rPr sz="800" b="0" i="0">
                <a:solidFill>
                  <a:srgbClr val="11206D"/>
                </a:solidFill>
                <a:latin typeface="Space Grotesk"/>
              </a:rPr>
              <a:t>Azure ML workspace plus HBI disabled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08975" y="2450591"/>
            <a:ext cx="804672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r"/>
            <a:r>
              <a:rPr sz="800" b="1" i="0">
                <a:solidFill>
                  <a:srgbClr val="5A637D"/>
                </a:solidFill>
                <a:latin typeface="Space Grotesk"/>
              </a:rPr>
              <a:t>27 findings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18304" y="2816352"/>
            <a:ext cx="45720" cy="292608"/>
          </a:xfrm>
          <a:prstGeom prst="rect">
            <a:avLst/>
          </a:prstGeom>
          <a:solidFill>
            <a:srgbClr val="C80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32" name="Rectangle 31"/>
          <p:cNvSpPr/>
          <p:nvPr/>
        </p:nvSpPr>
        <p:spPr>
          <a:xfrm>
            <a:off x="4864608" y="2816352"/>
            <a:ext cx="29260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73152" tIns="36576" bIns="36576"/>
          <a:lstStyle/>
          <a:p>
            <a:pPr algn="l"/>
            <a:r>
              <a:rPr sz="800" b="0" i="0">
                <a:solidFill>
                  <a:srgbClr val="11206D"/>
                </a:solidFill>
                <a:latin typeface="Space Grotesk"/>
              </a:rPr>
              <a:t>Azure OpenAI or Cognitive plus CMK disabled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08975" y="2816352"/>
            <a:ext cx="804672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r"/>
            <a:r>
              <a:rPr sz="800" b="1" i="0">
                <a:solidFill>
                  <a:srgbClr val="C80019"/>
                </a:solidFill>
                <a:latin typeface="Space Grotesk"/>
              </a:rPr>
              <a:t>82 findings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18304" y="3182112"/>
            <a:ext cx="45720" cy="292608"/>
          </a:xfrm>
          <a:prstGeom prst="rect">
            <a:avLst/>
          </a:prstGeom>
          <a:solidFill>
            <a:srgbClr val="4D4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35" name="Rectangle 34"/>
          <p:cNvSpPr/>
          <p:nvPr/>
        </p:nvSpPr>
        <p:spPr>
          <a:xfrm>
            <a:off x="4864608" y="3182112"/>
            <a:ext cx="29260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73152" tIns="36576" bIns="36576"/>
          <a:lstStyle/>
          <a:p>
            <a:pPr algn="l"/>
            <a:r>
              <a:rPr sz="800" b="0" i="0">
                <a:solidFill>
                  <a:srgbClr val="11206D"/>
                </a:solidFill>
                <a:latin typeface="Space Grotesk"/>
              </a:rPr>
              <a:t>Azure OpenAI or Cognitive plus no managed identity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08975" y="3182112"/>
            <a:ext cx="804672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r"/>
            <a:r>
              <a:rPr sz="800" b="1" i="0">
                <a:solidFill>
                  <a:srgbClr val="4D4DD9"/>
                </a:solidFill>
                <a:latin typeface="Space Grotesk"/>
              </a:rPr>
              <a:t>40 findings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718304" y="3547872"/>
            <a:ext cx="45720" cy="292608"/>
          </a:xfrm>
          <a:prstGeom prst="rect">
            <a:avLst/>
          </a:prstGeom>
          <a:solidFill>
            <a:srgbClr val="5A63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38" name="Rectangle 37"/>
          <p:cNvSpPr/>
          <p:nvPr/>
        </p:nvSpPr>
        <p:spPr>
          <a:xfrm>
            <a:off x="4864608" y="3547872"/>
            <a:ext cx="29260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73152" tIns="36576" bIns="36576"/>
          <a:lstStyle/>
          <a:p>
            <a:pPr algn="l"/>
            <a:r>
              <a:rPr sz="800" b="0" i="0">
                <a:solidFill>
                  <a:srgbClr val="11206D"/>
                </a:solidFill>
                <a:latin typeface="Space Grotesk"/>
              </a:rPr>
              <a:t>Azure OpenAI or Cognitive plus diagnostics disabled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808975" y="3547872"/>
            <a:ext cx="804672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36576" bIns="36576"/>
          <a:lstStyle/>
          <a:p>
            <a:pPr algn="r"/>
            <a:r>
              <a:rPr sz="800" b="1" i="0">
                <a:solidFill>
                  <a:srgbClr val="5A637D"/>
                </a:solidFill>
                <a:latin typeface="Space Grotesk"/>
              </a:rPr>
              <a:t>75 findings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4114800"/>
            <a:ext cx="192024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800" b="1" i="0">
                <a:solidFill>
                  <a:srgbClr val="8A93A8"/>
                </a:solidFill>
                <a:latin typeface="Space Grotesk"/>
              </a:rPr>
              <a:t>WHAT WAS NOT CONFIRMED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65760" y="4370832"/>
            <a:ext cx="1591056" cy="493776"/>
          </a:xfrm>
          <a:prstGeom prst="roundRect">
            <a:avLst>
              <a:gd name="adj" fmla="val 6000"/>
            </a:avLst>
          </a:prstGeom>
          <a:solidFill>
            <a:srgbClr val="E7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600" b="1" i="0">
                <a:solidFill>
                  <a:srgbClr val="0B7A42"/>
                </a:solidFill>
                <a:latin typeface="Space Grotesk"/>
              </a:rPr>
              <a:t>0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A637D"/>
                </a:solidFill>
                <a:latin typeface="Space Grotesk"/>
              </a:rPr>
              <a:t>complete multi-hop paths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066544" y="4370832"/>
            <a:ext cx="1591056" cy="493776"/>
          </a:xfrm>
          <a:prstGeom prst="roundRect">
            <a:avLst>
              <a:gd name="adj" fmla="val 6000"/>
            </a:avLst>
          </a:prstGeom>
          <a:solidFill>
            <a:srgbClr val="E7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600" b="1" i="0">
                <a:solidFill>
                  <a:srgbClr val="0B7A42"/>
                </a:solidFill>
                <a:latin typeface="Space Grotesk"/>
              </a:rPr>
              <a:t>0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A637D"/>
                </a:solidFill>
                <a:latin typeface="Space Grotesk"/>
              </a:rPr>
              <a:t>privileged identity paths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767328" y="4370832"/>
            <a:ext cx="1591056" cy="493776"/>
          </a:xfrm>
          <a:prstGeom prst="roundRect">
            <a:avLst>
              <a:gd name="adj" fmla="val 6000"/>
            </a:avLst>
          </a:prstGeom>
          <a:solidFill>
            <a:srgbClr val="E7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600" b="1" i="0">
                <a:solidFill>
                  <a:srgbClr val="0B7A42"/>
                </a:solidFill>
                <a:latin typeface="Space Grotesk"/>
              </a:rPr>
              <a:t>0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A637D"/>
                </a:solidFill>
                <a:latin typeface="Space Grotesk"/>
              </a:rPr>
              <a:t>dataset and data-source paths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68112" y="4370832"/>
            <a:ext cx="1591056" cy="493776"/>
          </a:xfrm>
          <a:prstGeom prst="roundRect">
            <a:avLst>
              <a:gd name="adj" fmla="val 6000"/>
            </a:avLst>
          </a:prstGeom>
          <a:solidFill>
            <a:srgbClr val="E7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600" b="1" i="0">
                <a:solidFill>
                  <a:srgbClr val="0B7A42"/>
                </a:solidFill>
                <a:latin typeface="Space Grotesk"/>
              </a:rPr>
              <a:t>0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A637D"/>
                </a:solidFill>
                <a:latin typeface="Space Grotesk"/>
              </a:rPr>
              <a:t>model-endpoint exposure paths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168896" y="4370832"/>
            <a:ext cx="1591056" cy="493776"/>
          </a:xfrm>
          <a:prstGeom prst="roundRect">
            <a:avLst>
              <a:gd name="adj" fmla="val 6000"/>
            </a:avLst>
          </a:prstGeom>
          <a:solidFill>
            <a:srgbClr val="E7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600" b="1" i="0">
                <a:solidFill>
                  <a:srgbClr val="0B7A42"/>
                </a:solidFill>
                <a:latin typeface="Space Grotesk"/>
              </a:rPr>
              <a:t>0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A637D"/>
                </a:solidFill>
                <a:latin typeface="Space Grotesk"/>
              </a:rPr>
              <a:t>credential exposure paths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1787" y="1847088"/>
            <a:ext cx="5420427" cy="566928"/>
          </a:xfrm>
        </p:spPr>
        <p:txBody>
          <a:bodyPr wrap="square"/>
          <a:lstStyle/>
          <a:p>
            <a:pPr algn="ctr"/>
            <a:r>
              <a:rPr sz="2200" b="1" i="0">
                <a:solidFill>
                  <a:srgbClr val="FFFFFF"/>
                </a:solidFill>
                <a:latin typeface="Space Grotesk"/>
              </a:rPr>
              <a:t>SEE US IN ACTION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01475" y="2432304"/>
            <a:ext cx="4341050" cy="402336"/>
          </a:xfrm>
        </p:spPr>
        <p:txBody>
          <a:bodyPr wrap="square"/>
          <a:lstStyle/>
          <a:p>
            <a:pPr algn="ctr"/>
            <a:r>
              <a:rPr sz="1300" b="0" i="0">
                <a:solidFill>
                  <a:srgbClr val="B8C4E8"/>
                </a:solidFill>
                <a:latin typeface="Space Grotesk"/>
              </a:rPr>
              <a:t>support@accuknox.com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ccuknox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2" id="{6A4BB64D-DAE4-264F-B2D5-8DEDA9C9E689}" vid="{18F53E15-B4E7-4449-8FB3-3413CAC7056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BWL Accuknox</Template>
  <TotalTime>0</TotalTime>
  <Words>0</Words>
  <Application>Microsoft Office PowerPoint</Application>
  <PresentationFormat>On-screen Show (16:9)</PresentationFormat>
  <Paragraphs>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Montserrat</vt:lpstr>
      <vt:lpstr>Space Grotesk</vt:lpstr>
      <vt:lpstr>Space Grotesk Light</vt:lpstr>
      <vt:lpstr>Space Grotesk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ATHARVA SHAH  (Student)</dc:creator>
  <cp:lastModifiedBy>ATHARVA SHAH  (Student)</cp:lastModifiedBy>
  <cp:revision>1</cp:revision>
  <dcterms:created xsi:type="dcterms:W3CDTF">2026-06-16T04:18:22Z</dcterms:created>
  <dcterms:modified xsi:type="dcterms:W3CDTF">2026-06-16T04:19:20Z</dcterms:modified>
</cp:coreProperties>
</file>