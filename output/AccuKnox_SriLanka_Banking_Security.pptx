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uKnox Intro Title">
    <p:bg>
      <p:bgPr>
        <a:solidFill>
          <a:srgbClr val="112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>
            <a:extLst>
              <a:ext uri="{FF2B5EF4-FFF2-40B4-BE49-F238E27FC236}">
                <a16:creationId xmlns:a16="http://schemas.microsoft.com/office/drawing/2014/main" id="{4398037B-D71E-CAF5-0489-CDAC4219BD3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46618" y="2321312"/>
            <a:ext cx="3797381" cy="2435571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9" name="Google Shape;9;p2">
            <a:extLst>
              <a:ext uri="{FF2B5EF4-FFF2-40B4-BE49-F238E27FC236}">
                <a16:creationId xmlns:a16="http://schemas.microsoft.com/office/drawing/2014/main" id="{3E509152-B28A-6C2F-F8EA-EDD4AB55F74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271975" y="1221088"/>
            <a:ext cx="3872020" cy="2435572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0" name="Google Shape;10;p2">
            <a:extLst>
              <a:ext uri="{FF2B5EF4-FFF2-40B4-BE49-F238E27FC236}">
                <a16:creationId xmlns:a16="http://schemas.microsoft.com/office/drawing/2014/main" id="{70A51A38-6217-3761-CE03-1FFFEB5F149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346617" y="365100"/>
            <a:ext cx="3797381" cy="2138819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887994"/>
            <a:ext cx="4128971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12882"/>
            <a:ext cx="4128971" cy="5755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D3B0B3-6AD8-BD44-BC65-8A60DE035F19}" type="datetimeFigureOut">
              <a:rPr lang="en-US" smtClean="0"/>
              <a:pPr/>
              <a:t>22-Jul-26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oogle Shape;12;p2" title="logo-dark-back.png">
            <a:extLst>
              <a:ext uri="{FF2B5EF4-FFF2-40B4-BE49-F238E27FC236}">
                <a16:creationId xmlns:a16="http://schemas.microsoft.com/office/drawing/2014/main" id="{B74D860E-318D-5E70-8FA5-BD26105F5F24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4013" y="730425"/>
            <a:ext cx="2756148" cy="6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;p2" title="footer.png">
            <a:extLst>
              <a:ext uri="{FF2B5EF4-FFF2-40B4-BE49-F238E27FC236}">
                <a16:creationId xmlns:a16="http://schemas.microsoft.com/office/drawing/2014/main" id="{6CBF4A15-25CC-E045-8BAC-0228CD790580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750" y="3592000"/>
            <a:ext cx="5216674" cy="1225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253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uKnox Section Title">
    <p:bg>
      <p:bgPr>
        <a:solidFill>
          <a:srgbClr val="112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787" y="1723694"/>
            <a:ext cx="5420427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1475" y="2698726"/>
            <a:ext cx="4341050" cy="5755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D3B0B3-6AD8-BD44-BC65-8A60DE035F19}" type="datetimeFigureOut">
              <a:rPr lang="en-US" smtClean="0"/>
              <a:pPr/>
              <a:t>22-Jul-26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8090E103-7453-704D-AF6E-75DBE4327EA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2674" y="3814849"/>
            <a:ext cx="4238602" cy="66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21;p3">
            <a:extLst>
              <a:ext uri="{FF2B5EF4-FFF2-40B4-BE49-F238E27FC236}">
                <a16:creationId xmlns:a16="http://schemas.microsoft.com/office/drawing/2014/main" id="{BAFC84CA-3030-14CA-1515-9A822566C17D}"/>
              </a:ext>
            </a:extLst>
          </p:cNvPr>
          <p:cNvGrpSpPr/>
          <p:nvPr userDrawn="1"/>
        </p:nvGrpSpPr>
        <p:grpSpPr>
          <a:xfrm>
            <a:off x="2534075" y="3461715"/>
            <a:ext cx="4075800" cy="369300"/>
            <a:chOff x="2534150" y="3276900"/>
            <a:chExt cx="4075800" cy="369300"/>
          </a:xfrm>
        </p:grpSpPr>
        <p:sp>
          <p:nvSpPr>
            <p:cNvPr id="14" name="Google Shape;22;p3">
              <a:extLst>
                <a:ext uri="{FF2B5EF4-FFF2-40B4-BE49-F238E27FC236}">
                  <a16:creationId xmlns:a16="http://schemas.microsoft.com/office/drawing/2014/main" id="{F32E0AE0-11BC-51CA-09AD-DBF4BA15414C}"/>
                </a:ext>
              </a:extLst>
            </p:cNvPr>
            <p:cNvSpPr txBox="1"/>
            <p:nvPr/>
          </p:nvSpPr>
          <p:spPr>
            <a:xfrm>
              <a:off x="4004450" y="3276900"/>
              <a:ext cx="113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Certified by</a:t>
              </a:r>
              <a:endParaRPr sz="1200" dirty="0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cxnSp>
          <p:nvCxnSpPr>
            <p:cNvPr id="15" name="Google Shape;23;p3">
              <a:extLst>
                <a:ext uri="{FF2B5EF4-FFF2-40B4-BE49-F238E27FC236}">
                  <a16:creationId xmlns:a16="http://schemas.microsoft.com/office/drawing/2014/main" id="{E935CE84-47CE-ACB7-797B-86026FF5A3E0}"/>
                </a:ext>
              </a:extLst>
            </p:cNvPr>
            <p:cNvCxnSpPr>
              <a:stCxn id="14" idx="1"/>
            </p:cNvCxnSpPr>
            <p:nvPr/>
          </p:nvCxnSpPr>
          <p:spPr>
            <a:xfrm rot="10800000">
              <a:off x="25341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4;p3">
              <a:extLst>
                <a:ext uri="{FF2B5EF4-FFF2-40B4-BE49-F238E27FC236}">
                  <a16:creationId xmlns:a16="http://schemas.microsoft.com/office/drawing/2014/main" id="{DF30155D-E9DF-A2C6-B438-BB57A2DA6258}"/>
                </a:ext>
              </a:extLst>
            </p:cNvPr>
            <p:cNvCxnSpPr>
              <a:endCxn id="14" idx="3"/>
            </p:cNvCxnSpPr>
            <p:nvPr/>
          </p:nvCxnSpPr>
          <p:spPr>
            <a:xfrm rot="10800000">
              <a:off x="51396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" name="Google Shape;17;p3" title="logo-dark-back.png">
            <a:extLst>
              <a:ext uri="{FF2B5EF4-FFF2-40B4-BE49-F238E27FC236}">
                <a16:creationId xmlns:a16="http://schemas.microsoft.com/office/drawing/2014/main" id="{0A7FA739-0EEC-3493-4A6C-E7E506715C7F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551" y="653075"/>
            <a:ext cx="3380849" cy="8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;p3">
            <a:extLst>
              <a:ext uri="{FF2B5EF4-FFF2-40B4-BE49-F238E27FC236}">
                <a16:creationId xmlns:a16="http://schemas.microsoft.com/office/drawing/2014/main" id="{28B7ABB3-86DC-A12D-7ED0-E23CCB58494A}"/>
              </a:ext>
            </a:extLst>
          </p:cNvPr>
          <p:cNvSpPr txBox="1"/>
          <p:nvPr userDrawn="1"/>
        </p:nvSpPr>
        <p:spPr>
          <a:xfrm>
            <a:off x="2370900" y="4459463"/>
            <a:ext cx="440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 err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www.AccuKnox.com</a:t>
            </a:r>
            <a:endParaRPr sz="800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01474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Knox Section Title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43;p7" descr="abstract background">
            <a:extLst>
              <a:ext uri="{FF2B5EF4-FFF2-40B4-BE49-F238E27FC236}">
                <a16:creationId xmlns:a16="http://schemas.microsoft.com/office/drawing/2014/main" id="{2AADD8E2-6C61-101F-9B48-90B37A6102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02" y="-1"/>
            <a:ext cx="914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DD19C76-2D1C-1021-C708-BC0454B4A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1787" y="1723694"/>
            <a:ext cx="5420427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Google Shape;45;p7" title="logo-dark-back.png">
            <a:extLst>
              <a:ext uri="{FF2B5EF4-FFF2-40B4-BE49-F238E27FC236}">
                <a16:creationId xmlns:a16="http://schemas.microsoft.com/office/drawing/2014/main" id="{3939948B-EE13-54DD-33C7-59C281F40199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263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;p4">
            <a:extLst>
              <a:ext uri="{FF2B5EF4-FFF2-40B4-BE49-F238E27FC236}">
                <a16:creationId xmlns:a16="http://schemas.microsoft.com/office/drawing/2014/main" id="{BA87E3D8-1677-6F73-A72C-D7877EE7B068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44" y="881626"/>
            <a:ext cx="822960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63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;p4">
            <a:extLst>
              <a:ext uri="{FF2B5EF4-FFF2-40B4-BE49-F238E27FC236}">
                <a16:creationId xmlns:a16="http://schemas.microsoft.com/office/drawing/2014/main" id="{BA87E3D8-1677-6F73-A72C-D7877EE7B068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503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44" y="881626"/>
            <a:ext cx="822960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49;p8" title="logo-light-back.png">
            <a:extLst>
              <a:ext uri="{FF2B5EF4-FFF2-40B4-BE49-F238E27FC236}">
                <a16:creationId xmlns:a16="http://schemas.microsoft.com/office/drawing/2014/main" id="{8B9CA892-121B-528B-60B7-2C268A1CFF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56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49;p8" title="logo-light-back.png">
            <a:extLst>
              <a:ext uri="{FF2B5EF4-FFF2-40B4-BE49-F238E27FC236}">
                <a16:creationId xmlns:a16="http://schemas.microsoft.com/office/drawing/2014/main" id="{8B9CA892-121B-528B-60B7-2C268A1CFF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797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6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3;p7" descr="abstract background">
            <a:extLst>
              <a:ext uri="{FF2B5EF4-FFF2-40B4-BE49-F238E27FC236}">
                <a16:creationId xmlns:a16="http://schemas.microsoft.com/office/drawing/2014/main" id="{B5B84815-EFC7-0BCA-F0EC-1BAB8357925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02" y="-1"/>
            <a:ext cx="914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3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7E9DF800-3DB7-4E72-6577-C0466FFAC413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29;p4" title="logo-dark-back.png">
            <a:extLst>
              <a:ext uri="{FF2B5EF4-FFF2-40B4-BE49-F238E27FC236}">
                <a16:creationId xmlns:a16="http://schemas.microsoft.com/office/drawing/2014/main" id="{B85B39A0-E7A3-CA0C-F47D-34305B74FB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51"/>
            <a:ext cx="7504102" cy="683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881626"/>
            <a:ext cx="3886200" cy="3751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881626"/>
            <a:ext cx="3886200" cy="3751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5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7E9DF800-3DB7-4E72-6577-C0466FFAC413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29;p4" title="logo-dark-back.png">
            <a:extLst>
              <a:ext uri="{FF2B5EF4-FFF2-40B4-BE49-F238E27FC236}">
                <a16:creationId xmlns:a16="http://schemas.microsoft.com/office/drawing/2014/main" id="{B85B39A0-E7A3-CA0C-F47D-34305B74FB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51"/>
            <a:ext cx="7504102" cy="683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45346"/>
            <a:ext cx="3886200" cy="3187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45346"/>
            <a:ext cx="3886200" cy="3187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22-Jul-26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19B647-0E40-14AC-8DC5-24E3BF5BBBA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42" y="82741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F067CB4-D22C-1917-A4C0-5CC06AAB8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82741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86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fld id="{32D3B0B3-6AD8-BD44-BC65-8A60DE035F19}" type="datetimeFigureOut">
              <a:rPr lang="en-US" smtClean="0"/>
              <a:pPr/>
              <a:t>22-Jul-26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3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5" r:id="rId3"/>
    <p:sldLayoutId id="2147483662" r:id="rId4"/>
    <p:sldLayoutId id="2147483674" r:id="rId5"/>
    <p:sldLayoutId id="2147483677" r:id="rId6"/>
    <p:sldLayoutId id="2147483678" r:id="rId7"/>
    <p:sldLayoutId id="2147483667" r:id="rId8"/>
    <p:sldLayoutId id="2147483676" r:id="rId9"/>
    <p:sldLayoutId id="2147483664" r:id="rId10"/>
    <p:sldLayoutId id="21474836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Space Grotesk Medium" pitchFamily="2" charset="77"/>
          <a:ea typeface="+mj-ea"/>
          <a:cs typeface="Space Grotesk Medium" pitchFamily="2" charset="77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300" b="1" i="0">
                <a:solidFill>
                  <a:srgbClr val="6464FF"/>
                </a:solidFill>
                <a:latin typeface="Space Grotesk"/>
              </a:rPr>
              <a:t>ACCUKNOX  ×  VSONE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517904"/>
            <a:ext cx="7955279" cy="1554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3700" b="1" i="0">
                <a:solidFill>
                  <a:srgbClr val="FFFFFF"/>
                </a:solidFill>
                <a:latin typeface="Space Grotesk"/>
              </a:rPr>
              <a:t>Zero Trust Security for
Sri Lanka's Banks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54096"/>
            <a:ext cx="7680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350" b="0" i="0">
                <a:solidFill>
                  <a:srgbClr val="B8C4E8"/>
                </a:solidFill>
                <a:latin typeface="Space Grotesk"/>
              </a:rPr>
              <a:t>One platform to secure code, cloud, workloads, APIs and AI, and to stay audit-ready for CBSL, PDPA and PCI DSS.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13632"/>
            <a:ext cx="128016" cy="5669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7824" y="3913632"/>
            <a:ext cx="7498079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0" i="0">
                <a:solidFill>
                  <a:srgbClr val="B8C4E8"/>
                </a:solidFill>
                <a:latin typeface="Space Grotesk"/>
              </a:rPr>
              <a:t>Delivered in Sri Lanka by VSONE, AccuKnox's in-country partner for banking, telecom and enterprise.
Banking Security Briefing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Four forces are squeezing Sri Lanka's banks at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THE MOMENT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4069079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4069079" cy="8229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" y="137160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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" y="1335024"/>
            <a:ext cx="33375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 i="0">
                <a:solidFill>
                  <a:srgbClr val="11206D"/>
                </a:solidFill>
                <a:latin typeface="Space Grotesk"/>
              </a:rPr>
              <a:t>Digital banking has exploded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883664"/>
            <a:ext cx="3739895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080" b="0" i="0">
                <a:solidFill>
                  <a:srgbClr val="5A637D"/>
                </a:solidFill>
                <a:latin typeface="Space Grotesk"/>
              </a:rPr>
              <a:t>LankaPay, CEFTS and mobile wallets put the sector online. Every new channel, app and API is a new way 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188720"/>
            <a:ext cx="4069079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09159" y="1188720"/>
            <a:ext cx="4069079" cy="82296"/>
          </a:xfrm>
          <a:prstGeom prst="roundRect">
            <a:avLst>
              <a:gd name="adj" fmla="val 50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55464" y="137160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2664" y="1335024"/>
            <a:ext cx="33375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 i="0">
                <a:solidFill>
                  <a:srgbClr val="11206D"/>
                </a:solidFill>
                <a:latin typeface="Space Grotesk"/>
              </a:rPr>
              <a:t>The regulator has raised the bar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3751" y="1883664"/>
            <a:ext cx="3739895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080" b="0" i="0">
                <a:solidFill>
                  <a:srgbClr val="5A637D"/>
                </a:solidFill>
                <a:latin typeface="Space Grotesk"/>
              </a:rPr>
              <a:t>CBSL Direction No. 16 of 2021 and the PDPA put technology risk on the board, with a senior CISO and a 24x7 SOC.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07791"/>
            <a:ext cx="4069079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5760" y="2907791"/>
            <a:ext cx="4069079" cy="8229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2064" y="309067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" y="3054096"/>
            <a:ext cx="33375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 i="0">
                <a:solidFill>
                  <a:srgbClr val="11206D"/>
                </a:solidFill>
                <a:latin typeface="Space Grotesk"/>
              </a:rPr>
              <a:t>Attackers moved to run-time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602735"/>
            <a:ext cx="3739895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080" b="0" i="0">
                <a:solidFill>
                  <a:srgbClr val="5A637D"/>
                </a:solidFill>
                <a:latin typeface="Space Grotesk"/>
              </a:rPr>
              <a:t>The 2025 Cargills Bank ransomware breach hit a live environment. Advanced attacks execute in production.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2907791"/>
            <a:ext cx="4069079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09159" y="2907791"/>
            <a:ext cx="4069079" cy="82296"/>
          </a:xfrm>
          <a:prstGeom prst="roundRect">
            <a:avLst>
              <a:gd name="adj" fmla="val 50000"/>
            </a:avLst>
          </a:prstGeom>
          <a:solidFill>
            <a:srgbClr val="0B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855464" y="309067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B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12664" y="3054096"/>
            <a:ext cx="33375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 i="0">
                <a:solidFill>
                  <a:srgbClr val="11206D"/>
                </a:solidFill>
                <a:latin typeface="Space Grotesk"/>
              </a:rPr>
              <a:t>Budgets and talent are thin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3751" y="3602735"/>
            <a:ext cx="3739895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080" b="0" i="0">
                <a:solidFill>
                  <a:srgbClr val="5A637D"/>
                </a:solidFill>
                <a:latin typeface="Space Grotesk"/>
              </a:rPr>
              <a:t>After the 2022 crisis, teams do more with less, fewer people, tighter forex, a stack of disconnected tools.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850" b="0" i="1">
                <a:solidFill>
                  <a:srgbClr val="5A637D"/>
                </a:solidFill>
                <a:latin typeface="Space Grotesk"/>
              </a:rPr>
              <a:t>Sourced to CBSL, Sri Lanka's PDPA No. 9 of 2022, and regional banking-sector threat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The threat landscape is now a run-time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WHY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15568"/>
            <a:ext cx="26212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C80019"/>
                </a:solidFill>
                <a:latin typeface="Space Grotesk"/>
              </a:rPr>
              <a:t>4,347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cyber incidents logged by SLCERT in
2024, up from 596 in 2019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61360" y="1115568"/>
            <a:ext cx="26212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11206D"/>
                </a:solidFill>
                <a:latin typeface="Space Grotesk"/>
              </a:rPr>
              <a:t>1.9 TB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of bank data exfiltrated in the 2025
Cargills Bank ransomware breach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960" y="1115568"/>
            <a:ext cx="262128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0046FF"/>
                </a:solidFill>
                <a:latin typeface="Space Grotesk"/>
              </a:rPr>
              <a:t>87%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of hybrid environments carry blind
spots public-cloud tools never reach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95728"/>
            <a:ext cx="39319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250" b="1" i="0">
                <a:solidFill>
                  <a:srgbClr val="11206D"/>
                </a:solidFill>
                <a:latin typeface="Space Grotesk"/>
              </a:rPr>
              <a:t>What hides in the blind spots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40233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36576" bIns="36576" rtlCol="0" anchor="t"/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0046FF"/>
                </a:solidFill>
                <a:latin typeface="Space Grotesk"/>
              </a:rPr>
              <a:t>▸  </a:t>
            </a:r>
            <a:r>
              <a:rPr sz="1050" b="1">
                <a:solidFill>
                  <a:srgbClr val="1B223B"/>
                </a:solidFill>
                <a:latin typeface="Space Grotesk"/>
              </a:rPr>
              <a:t>Unpatched on-prem servers </a:t>
            </a:r>
            <a:r>
              <a:rPr sz="1050">
                <a:solidFill>
                  <a:srgbClr val="1B223B"/>
                </a:solidFill>
                <a:latin typeface="Space Grotesk"/>
              </a:rPr>
              <a:t>running core banking, outside cloud tools.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046FF"/>
                </a:solidFill>
                <a:latin typeface="Space Grotesk"/>
              </a:rPr>
              <a:t>▸  </a:t>
            </a:r>
            <a:r>
              <a:rPr sz="1050" b="1">
                <a:solidFill>
                  <a:srgbClr val="1B223B"/>
                </a:solidFill>
                <a:latin typeface="Space Grotesk"/>
              </a:rPr>
              <a:t>Containers with no run-time rules </a:t>
            </a:r>
            <a:r>
              <a:rPr sz="1050">
                <a:solidFill>
                  <a:srgbClr val="1B223B"/>
                </a:solidFill>
                <a:latin typeface="Space Grotesk"/>
              </a:rPr>
              <a:t>and shadow workloads.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046FF"/>
                </a:solidFill>
                <a:latin typeface="Space Grotesk"/>
              </a:rPr>
              <a:t>▸  </a:t>
            </a:r>
            <a:r>
              <a:rPr sz="1050" b="1">
                <a:solidFill>
                  <a:srgbClr val="1B223B"/>
                </a:solidFill>
                <a:latin typeface="Space Grotesk"/>
              </a:rPr>
              <a:t>Over-permissioned identities </a:t>
            </a:r>
            <a:r>
              <a:rPr sz="1050">
                <a:solidFill>
                  <a:srgbClr val="1B223B"/>
                </a:solidFill>
                <a:latin typeface="Space Grotesk"/>
              </a:rPr>
              <a:t>and secrets sprawled everywhere.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046FF"/>
                </a:solidFill>
                <a:latin typeface="Space Grotesk"/>
              </a:rPr>
              <a:t>▸  </a:t>
            </a:r>
            <a:r>
              <a:rPr sz="1050" b="1">
                <a:solidFill>
                  <a:srgbClr val="1B223B"/>
                </a:solidFill>
                <a:latin typeface="Space Grotesk"/>
              </a:rPr>
              <a:t>Shadow AI </a:t>
            </a:r>
            <a:r>
              <a:rPr sz="1050">
                <a:solidFill>
                  <a:srgbClr val="1B223B"/>
                </a:solidFill>
                <a:latin typeface="Space Grotesk"/>
              </a:rPr>
              <a:t>moving customer data before any guardrail fires.</a:t>
            </a:r>
          </a:p>
        </p:txBody>
      </p:sp>
      <p:pic>
        <p:nvPicPr>
          <p:cNvPr id="10" name="Picture 9" descr="attack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196" y="2450592"/>
            <a:ext cx="4124044" cy="2011680"/>
          </a:xfrm>
          <a:prstGeom prst="rect">
            <a:avLst/>
          </a:prstGeom>
          <a:ln w="12700">
            <a:solidFill>
              <a:srgbClr val="11206D"/>
            </a:solidFill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4553712" y="4462272"/>
            <a:ext cx="422452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AccuKnox security graph: real attack paths surfaced across cloud, K8s and VMs.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The compliance mandates a Sri Lankan bank must answer to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THE REGULATORY SQUEEZE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70432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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CBSL Direction No. 16 of 2021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865376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Technology Risk &amp; Resilience: board and BIRMC accountability, a senior CISO, a 24x7 SOC, quarterly VAs, annual pen tests, RTO under 4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1360" y="1170432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613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076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48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CBSL Baseline Security 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5952" y="1865376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The Central Bank's ISO 27000-based control baseline for information-security management across licensed banks.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960" y="1170432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569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032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04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PDPA No. 9 of 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1552" y="1865376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Data Protection Officers, breach notification to the DPA, and penalties up to LKR 10 million for a first violation.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871215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" y="2871215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" y="3054096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" y="3017520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Incident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566159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CBSL's May 2025 IT &amp; cybersecurity incident circular, plus FinCSIRT and SLCERT coordinated disclosure.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1360" y="2871215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61360" y="2871215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0B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07664" y="3054096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B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4864" y="3017520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PCI DSS 4.0 &amp; SWIFT CSP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5952" y="3566159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Continuous card-data control validation and annual attestation for cross-border payment infrastructure.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6960" y="2871215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56960" y="2871215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3264" y="3054096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0464" y="3017520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AML / CFT (FIU)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1552" y="3566159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Customer due diligence, suspicious-transaction reporting and six-year record retention under the FTRA.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850" b="0" i="1">
                <a:solidFill>
                  <a:srgbClr val="5A637D"/>
                </a:solidFill>
                <a:latin typeface="Space Grotesk"/>
              </a:rPr>
              <a:t>Six overlapping regimes, each demanding continuous evidence. AccuKnox maps one control set to all of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What that leaves the CISO carrying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THE CISO'S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70432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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50" b="1" i="0">
                <a:solidFill>
                  <a:srgbClr val="11206D"/>
                </a:solidFill>
                <a:latin typeface="Space Grotesk"/>
              </a:rPr>
              <a:t>Tool sprawl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865376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Separate products for cloud, containers, code, APIs and identity, none of them talking.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1360" y="1170432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613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076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48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50" b="1" i="0">
                <a:solidFill>
                  <a:srgbClr val="11206D"/>
                </a:solidFill>
                <a:latin typeface="Space Grotesk"/>
              </a:rPr>
              <a:t>Alert fatigue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5952" y="1865376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Thousands of findings, no context on which are actually exploitable in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960" y="1170432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569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032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04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50" b="1" i="0">
                <a:solidFill>
                  <a:srgbClr val="11206D"/>
                </a:solidFill>
                <a:latin typeface="Space Grotesk"/>
              </a:rPr>
              <a:t>Stacked mandates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1552" y="1865376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Direction 16, the Baseline Standard, PDPA and AML rules each demand fresh manual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871215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" y="2871215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" y="3054096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" y="3017520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50" b="1" i="0">
                <a:solidFill>
                  <a:srgbClr val="11206D"/>
                </a:solidFill>
                <a:latin typeface="Space Grotesk"/>
              </a:rPr>
              <a:t>Talent drain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566159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Too few certified engineers, and the crisis pushed skilled staff to jobs overseas.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1360" y="2871215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61360" y="2871215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07664" y="3054096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4864" y="3017520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50" b="1" i="0">
                <a:solidFill>
                  <a:srgbClr val="11206D"/>
                </a:solidFill>
                <a:latin typeface="Space Grotesk"/>
              </a:rPr>
              <a:t>On-prem + cloud split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5952" y="3566159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Core banking on-prem and air-gapped, new services in cloud, two different playbooks.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6960" y="2871215"/>
            <a:ext cx="26212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56960" y="2871215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3264" y="3054096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0464" y="3017520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50" b="1" i="0">
                <a:solidFill>
                  <a:srgbClr val="11206D"/>
                </a:solidFill>
                <a:latin typeface="Space Grotesk"/>
              </a:rPr>
              <a:t>Zero-day exposure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1552" y="3566159"/>
            <a:ext cx="2292096" cy="7315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Build-time scanning misses run-time attacks; the team finds out after the breach.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850" b="0" i="1">
                <a:solidFill>
                  <a:srgbClr val="5A637D"/>
                </a:solidFill>
                <a:latin typeface="Space Grotesk"/>
              </a:rPr>
              <a:t>The result: high cost, thin coverage, and a compliance posture that is hard to prove 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Space Grotesk"/>
              </a:rPr>
              <a:t>Meet AccuKnox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5376" y="2788920"/>
            <a:ext cx="54223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ctr"/>
            <a:r>
              <a:rPr sz="1350" b="0" i="0">
                <a:solidFill>
                  <a:srgbClr val="B8C4E8"/>
                </a:solidFill>
                <a:latin typeface="Space Grotesk"/>
              </a:rPr>
              <a:t>AI-powered Zero Trust CNAPP  ·  Secure Code to Cognition  ·  brought to Sri Lanka by VSONE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One Zero Trust platform, from code to cloud to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WHAT ACCUKNOX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100" b="0" i="0">
                <a:solidFill>
                  <a:srgbClr val="1B223B"/>
                </a:solidFill>
                <a:latin typeface="Space Grotesk"/>
              </a:rPr>
              <a:t>Founded in 2020 with Stanford Research Institute. AccuKnox secures public, private, hybrid and air-gapped clouds, plus VMs, Kubernetes, APIs, edge and AI/LLM assets, on one control plane.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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1773936"/>
            <a:ext cx="35295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Agentless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048256"/>
            <a:ext cx="352958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30" b="0" i="0">
                <a:solidFill>
                  <a:srgbClr val="5A637D"/>
                </a:solidFill>
                <a:latin typeface="Space Grotesk"/>
              </a:rPr>
              <a:t>Connect and see risk in minutes, no heavy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8716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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432304"/>
            <a:ext cx="35295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Run-time, inline defense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706624"/>
            <a:ext cx="352958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30" b="0" i="0">
                <a:solidFill>
                  <a:srgbClr val="5A637D"/>
                </a:solidFill>
                <a:latin typeface="Space Grotesk"/>
              </a:rPr>
              <a:t>eBPF and KubeArmor stop zero-days in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45536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3090672"/>
            <a:ext cx="35295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Deploy anywhere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3364991"/>
            <a:ext cx="352958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30" b="0" i="0">
                <a:solidFill>
                  <a:srgbClr val="5A637D"/>
                </a:solidFill>
                <a:latin typeface="Space Grotesk"/>
              </a:rPr>
              <a:t>SaaS, your cloud, on-prem or fully air-gapped.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0390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B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3749040"/>
            <a:ext cx="35295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GRC included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4023360"/>
            <a:ext cx="352958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30" b="0" i="0">
                <a:solidFill>
                  <a:srgbClr val="5A637D"/>
                </a:solidFill>
                <a:latin typeface="Space Grotesk"/>
              </a:rPr>
              <a:t>35+ compliance frameworks and audit trails built in.</a:t>
            </a:r>
          </a:p>
        </p:txBody>
      </p:sp>
      <p:pic>
        <p:nvPicPr>
          <p:cNvPr id="17" name="Picture 16" descr="poli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699" y="1792224"/>
            <a:ext cx="3114553" cy="2157984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18" name="Rectangle 17"/>
          <p:cNvSpPr/>
          <p:nvPr/>
        </p:nvSpPr>
        <p:spPr>
          <a:xfrm>
            <a:off x="4553712" y="3968496"/>
            <a:ext cx="422452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AccuKnox console: unified policies across cloud, workloads and clusters.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334256"/>
            <a:ext cx="8412480" cy="384048"/>
          </a:xfrm>
          <a:prstGeom prst="roundRect">
            <a:avLst>
              <a:gd name="adj" fmla="val 16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pace Grotesk"/>
              </a:rPr>
              <a:t>In Sri Lanka, delivered and supported locally by VSONE, with AccuKnox pre-sales engineering behind every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One platform replaces a shelf of point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CONSOLIDATE AND SAVE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0233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100" b="0" i="0">
                <a:solidFill>
                  <a:srgbClr val="1B223B"/>
                </a:solidFill>
                <a:latin typeface="Space Grotesk"/>
              </a:rPr>
              <a:t>AccuKnox brings 12+ security domains under one console, cutting licences, integration work and the people-cost of running disconnected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83664"/>
            <a:ext cx="19202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0046FF"/>
                </a:solidFill>
                <a:latin typeface="Space Grotesk"/>
              </a:rPr>
              <a:t>12+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security domains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83664"/>
            <a:ext cx="19202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0B7A42"/>
                </a:solidFill>
                <a:latin typeface="Space Grotesk"/>
              </a:rPr>
              <a:t>&gt;50%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cost saving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054096"/>
            <a:ext cx="19202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1206D"/>
                </a:solidFill>
                <a:latin typeface="Space Grotesk"/>
              </a:rPr>
              <a:t>3→1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vendors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054096"/>
            <a:ext cx="19202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4D4DD9"/>
                </a:solidFill>
                <a:latin typeface="Space Grotesk"/>
              </a:rPr>
              <a:t>Minutes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to first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114800"/>
            <a:ext cx="4023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1">
                <a:solidFill>
                  <a:srgbClr val="5A637D"/>
                </a:solidFill>
                <a:latin typeface="Space Grotesk"/>
              </a:rPr>
              <a:t>Replaces Wiz, Prisma, Orca, Aqua, Snyk, Qualys, SentinelOne and more.</a:t>
            </a:r>
          </a:p>
        </p:txBody>
      </p:sp>
      <p:pic>
        <p:nvPicPr>
          <p:cNvPr id="11" name="Picture 10" descr="replaces-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332" y="1024128"/>
            <a:ext cx="3989286" cy="3529584"/>
          </a:xfrm>
          <a:prstGeom prst="rect">
            <a:avLst/>
          </a:prstGeom>
          <a:ln w="12700">
            <a:solidFill>
              <a:srgbClr val="11206D"/>
            </a:solidFill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4553712" y="4572000"/>
            <a:ext cx="422452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12 security domains, one Gen-AI powered CNAPP.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How it works: one control plane over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60704"/>
            <a:ext cx="3063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150" b="1" i="0">
                <a:solidFill>
                  <a:srgbClr val="1B223B"/>
                </a:solidFill>
                <a:latin typeface="Space Grotesk"/>
              </a:rPr>
              <a:t>Secure the full lifecycle, cloud to on-prem to edge: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1907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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1664208"/>
            <a:ext cx="2615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Agentless collectors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1938528"/>
            <a:ext cx="2615184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On clusters, VMs and registries stream telemetry to AccuKnox.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1518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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560320"/>
            <a:ext cx="2615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One control plane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834639"/>
            <a:ext cx="2615184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SaaS or on-prem correlates risk and pushes policy back inline.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11296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B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3456432"/>
            <a:ext cx="2615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Feeds your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3730752"/>
            <a:ext cx="2615184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50" b="0" i="0">
                <a:solidFill>
                  <a:srgbClr val="5A637D"/>
                </a:solidFill>
                <a:latin typeface="Space Grotesk"/>
              </a:rPr>
              <a:t>SIEM (Splunk), email, Slack alerts, plus CI/CD registry scanning.</a:t>
            </a:r>
          </a:p>
        </p:txBody>
      </p:sp>
      <p:pic>
        <p:nvPicPr>
          <p:cNvPr id="14" name="Picture 13" descr="onprem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916" y="932688"/>
            <a:ext cx="4440287" cy="3657600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The difference: stop zero-days at run-time, inline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UNIQUE DIFFERENTIATOR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841248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100" b="0" i="0">
                <a:solidFill>
                  <a:srgbClr val="1B223B"/>
                </a:solidFill>
                <a:latin typeface="Space Grotesk"/>
              </a:rPr>
              <a:t>Most tools tell you about an attack after it runs. AccuKnox watches behaviour in production and enforces inline, so a zero-day is blocked as it happens.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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1591056"/>
            <a:ext cx="35295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1.  Observe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1865376"/>
            <a:ext cx="352958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30" b="0" i="0">
                <a:solidFill>
                  <a:srgbClr val="5A637D"/>
                </a:solidFill>
                <a:latin typeface="Space Grotesk"/>
              </a:rPr>
              <a:t>Learn each workload's normal process, file, network and API behaviour.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0428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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249424"/>
            <a:ext cx="35295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2.  Enforce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523744"/>
            <a:ext cx="352958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30" b="0" i="0">
                <a:solidFill>
                  <a:srgbClr val="5A637D"/>
                </a:solidFill>
                <a:latin typeface="Space Grotesk"/>
              </a:rPr>
              <a:t>Block anything off-baseline inline, at the kernel, during the attack.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62656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907791"/>
            <a:ext cx="35295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3.  Auto-policy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3182111"/>
            <a:ext cx="352958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30" b="0" i="0">
                <a:solidFill>
                  <a:srgbClr val="5A637D"/>
                </a:solidFill>
                <a:latin typeface="Space Grotesk"/>
              </a:rPr>
              <a:t>Generate hardening policy automatically from observed behaviour.</a:t>
            </a:r>
          </a:p>
        </p:txBody>
      </p:sp>
      <p:pic>
        <p:nvPicPr>
          <p:cNvPr id="14" name="Picture 13" descr="runtime-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024" y="1645920"/>
            <a:ext cx="3839903" cy="1783080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4553712" y="3447288"/>
            <a:ext cx="422452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Run-time events and enforcement, live across the estate.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03904"/>
            <a:ext cx="8412480" cy="786384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 w="15875">
            <a:solidFill>
              <a:srgbClr val="16A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2064" y="391363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B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" y="3858768"/>
            <a:ext cx="758951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b"/>
          <a:lstStyle/>
          <a:p>
            <a:pPr algn="l"/>
            <a:r>
              <a:rPr sz="1200" b="1" i="0">
                <a:solidFill>
                  <a:srgbClr val="0B7A42"/>
                </a:solidFill>
                <a:latin typeface="Space Grotesk"/>
              </a:rPr>
              <a:t>Why a bank should care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4133087"/>
            <a:ext cx="7589519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000" b="0" i="0">
                <a:solidFill>
                  <a:srgbClr val="1B223B"/>
                </a:solidFill>
                <a:latin typeface="Space Grotesk"/>
              </a:rPr>
              <a:t>Ransomware is contained before it touches core banking. Proven on US DoD 5G and Zero Trust satellite security programs.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Compliance and GRC, mapped to your mandates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AUDIT-READY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100" b="0" i="0">
                <a:solidFill>
                  <a:srgbClr val="1B223B"/>
                </a:solidFill>
                <a:latin typeface="Space Grotesk"/>
              </a:rPr>
              <a:t>One set of controls becomes continuous, audit-ready evidence for every framework a Sri Lankan bank reports against, GRC included with the platform.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91056"/>
          <a:ext cx="4571999" cy="269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4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Mandate</a:t>
                      </a:r>
                    </a:p>
                  </a:txBody>
                  <a:tcPr marL="73152" marR="45720" marT="18288" marB="18288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How AccuKnox helps</a:t>
                      </a:r>
                    </a:p>
                  </a:txBody>
                  <a:tcPr marL="73152" marR="45720" marT="18288" marB="18288" anchor="ctr">
                    <a:solidFill>
                      <a:srgbClr val="1120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1206D"/>
                          </a:solidFill>
                          <a:latin typeface="Space Grotesk"/>
                        </a:rPr>
                        <a:t>CBSL Direction 16 of 2021</a:t>
                      </a:r>
                    </a:p>
                  </a:txBody>
                  <a:tcPr marL="73152" marR="45720" marT="18288" marB="18288" anchor="ctr"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1206D"/>
                          </a:solidFill>
                          <a:latin typeface="Space Grotesk"/>
                        </a:rPr>
                        <a:t>Continuous posture, quarterly VA &amp; pen-test evidence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1206D"/>
                          </a:solidFill>
                          <a:latin typeface="Space Grotesk"/>
                        </a:rPr>
                        <a:t>Baseline Standard / ISO 27001</a:t>
                      </a:r>
                    </a:p>
                  </a:txBody>
                  <a:tcPr marL="73152" marR="45720" marT="18288" marB="18288" anchor="ctr"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1206D"/>
                          </a:solidFill>
                          <a:latin typeface="Space Grotesk"/>
                        </a:rPr>
                        <a:t>Pre-built templates, auto-mapped findings, reports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1206D"/>
                          </a:solidFill>
                          <a:latin typeface="Space Grotesk"/>
                        </a:rPr>
                        <a:t>PDPA No. 9 of 2022</a:t>
                      </a:r>
                    </a:p>
                  </a:txBody>
                  <a:tcPr marL="73152" marR="45720" marT="18288" marB="18288" anchor="ctr"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1206D"/>
                          </a:solidFill>
                          <a:latin typeface="Space Grotesk"/>
                        </a:rPr>
                        <a:t>Data discovery (DSPM), residency-aware deployment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1206D"/>
                          </a:solidFill>
                          <a:latin typeface="Space Grotesk"/>
                        </a:rPr>
                        <a:t>PCI DSS 4.0 &amp; SWIFT CSP</a:t>
                      </a:r>
                    </a:p>
                  </a:txBody>
                  <a:tcPr marL="73152" marR="45720" marT="18288" marB="18288" anchor="ctr"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1206D"/>
                          </a:solidFill>
                          <a:latin typeface="Space Grotesk"/>
                        </a:rPr>
                        <a:t>Config, workload and access controls validated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1206D"/>
                          </a:solidFill>
                          <a:latin typeface="Space Grotesk"/>
                        </a:rPr>
                        <a:t>Incident reporting (FinCSIRT)</a:t>
                      </a:r>
                    </a:p>
                  </a:txBody>
                  <a:tcPr marL="73152" marR="45720" marT="18288" marB="18288" anchor="ctr"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1206D"/>
                          </a:solidFill>
                          <a:latin typeface="Space Grotesk"/>
                        </a:rPr>
                        <a:t>Real-time detection, forensics and audit trail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complianc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98065"/>
            <a:ext cx="3639312" cy="2363420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7" name="Rectangle 6"/>
          <p:cNvSpPr/>
          <p:nvPr/>
        </p:nvSpPr>
        <p:spPr>
          <a:xfrm>
            <a:off x="5138928" y="3986783"/>
            <a:ext cx="363931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Live compliance scores: ISO 27001, ISO 42001, EU AI Act, MITRE ATLAS and more.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850" b="0" i="1">
                <a:solidFill>
                  <a:srgbClr val="5A637D"/>
                </a:solidFill>
                <a:latin typeface="Space Grotesk"/>
              </a:rPr>
              <a:t>One control set, evidence for every regime, so audit prep stops being a manual fire drill.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Cloud and workload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PLATFORM COVERAGE  ·  1 OF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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133856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CSPM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1408176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Cloud posture: misconfig, attack-path &amp; security 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6479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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1709928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CWPP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1984248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Workload protection: eBPF run-time for VMs &amp; containers.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4086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2286000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KSPM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560320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Kubernetes posture: CIS benchmarks, cluster hardening.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16936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2862072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CIEM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3136391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Cloud identities: permissions graph, over-provision detection.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9300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" y="3438144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CDR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" y="3712463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Cloud detection &amp; response across cloud, VMs and K8s.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69079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" y="4014215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SIEM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4288536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Events: high-volume ingestion, code-to-cloud correlation.</a:t>
            </a:r>
          </a:p>
        </p:txBody>
      </p:sp>
      <p:pic>
        <p:nvPicPr>
          <p:cNvPr id="22" name="Picture 21" descr="iac-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467" y="1133856"/>
            <a:ext cx="2753016" cy="1572768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23" name="Rectangle 22"/>
          <p:cNvSpPr/>
          <p:nvPr/>
        </p:nvSpPr>
        <p:spPr>
          <a:xfrm>
            <a:off x="4553712" y="2724912"/>
            <a:ext cx="422452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IaC &amp; misconfiguration findings</a:t>
            </a:r>
          </a:p>
        </p:txBody>
      </p:sp>
      <p:pic>
        <p:nvPicPr>
          <p:cNvPr id="24" name="Picture 23" descr="api-end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174" y="3072384"/>
            <a:ext cx="2597603" cy="1572768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25" name="Rectangle 24"/>
          <p:cNvSpPr/>
          <p:nvPr/>
        </p:nvSpPr>
        <p:spPr>
          <a:xfrm>
            <a:off x="4553712" y="4663440"/>
            <a:ext cx="422452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Cloud asset &amp; API inventory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Application, API and data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PLATFORM COVERAGE  ·  2 OF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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133856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ASPM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1408176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App posture: SAST, SCA, AI-assisted triage &amp; prioritisation.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6479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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1709928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DAST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1984248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Dynamic testing of web UI and APIs at run-time.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4086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2286000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API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560320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Discover shadow, orphan &amp; zombie APIs; run-time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16936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2862072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SBOM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3136391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Live SBOM, dependency drift, licence &amp; vuln mapping.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9300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" y="3438144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Secrets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" y="3712463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Shift-left scanning, Vault hardening, no hardcoded creds.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69079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" y="4014215"/>
            <a:ext cx="36210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DSPM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4288536"/>
            <a:ext cx="36210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Discover &amp; classify sensitive data; flag risky access.</a:t>
            </a:r>
          </a:p>
        </p:txBody>
      </p:sp>
      <p:pic>
        <p:nvPicPr>
          <p:cNvPr id="22" name="Picture 21" descr="secret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991" y="1133856"/>
            <a:ext cx="2771969" cy="1572768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23" name="Rectangle 22"/>
          <p:cNvSpPr/>
          <p:nvPr/>
        </p:nvSpPr>
        <p:spPr>
          <a:xfrm>
            <a:off x="4553712" y="2724912"/>
            <a:ext cx="422452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Secret-scan findings &amp; remediation</a:t>
            </a:r>
          </a:p>
        </p:txBody>
      </p:sp>
      <p:pic>
        <p:nvPicPr>
          <p:cNvPr id="24" name="Picture 23" descr="vuln-bub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777" y="3072384"/>
            <a:ext cx="2756397" cy="1572768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25" name="Rectangle 24"/>
          <p:cNvSpPr/>
          <p:nvPr/>
        </p:nvSpPr>
        <p:spPr>
          <a:xfrm>
            <a:off x="4553712" y="4663440"/>
            <a:ext cx="422452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Vulnerability prioritisation by severity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security for the next wave of banking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PLATFORM COVERAGE  ·  3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3977639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100" b="0" i="0">
                <a:solidFill>
                  <a:srgbClr val="1B223B"/>
                </a:solidFill>
                <a:latin typeface="Space Grotesk"/>
              </a:rPr>
              <a:t>As banks roll out chatbots, copilots and agentic workflows, AccuKnox governs and defends AI the same way it does cloud and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4708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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1792224"/>
            <a:ext cx="3483863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AI-SPM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066543"/>
            <a:ext cx="348386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Discover LLMs, ML &amp; agentic apps; score their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14016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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359152"/>
            <a:ext cx="3483863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Prompt Firewall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633472"/>
            <a:ext cx="348386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Inline guardrails vs. prompt injection &amp; data leaks.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8094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926080"/>
            <a:ext cx="3483863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AI Red Teaming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3200400"/>
            <a:ext cx="348386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Automated adversarial testing vs. OWASP LLM Top 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54787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0B7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FFFFFF"/>
                </a:solidFill>
                <a:latin typeface="Segoe MDL2 Assets"/>
              </a:rPr>
              <a:t>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3493008"/>
            <a:ext cx="3483863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0" rtlCol="0" anchor="b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AI-DR &amp; DSPM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3767328"/>
            <a:ext cx="348386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36576" rtlCol="0" anchor="t"/>
          <a:lstStyle/>
          <a:p>
            <a:pPr algn="l"/>
            <a:r>
              <a:rPr sz="919" b="0" i="0">
                <a:solidFill>
                  <a:srgbClr val="5A637D"/>
                </a:solidFill>
                <a:latin typeface="Space Grotesk"/>
              </a:rPr>
              <a:t>Detect AI threats, stop data leaking to public AI.</a:t>
            </a:r>
          </a:p>
        </p:txBody>
      </p:sp>
      <p:pic>
        <p:nvPicPr>
          <p:cNvPr id="18" name="Picture 17" descr="ai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72101"/>
            <a:ext cx="4251960" cy="2566124"/>
          </a:xfrm>
          <a:prstGeom prst="rect">
            <a:avLst/>
          </a:prstGeom>
          <a:ln w="12700">
            <a:solidFill>
              <a:srgbClr val="11206D"/>
            </a:solidFill>
          </a:ln>
          <a:effectLst/>
        </p:spPr>
      </p:pic>
      <p:sp>
        <p:nvSpPr>
          <p:cNvPr id="19" name="Rounded Rectangle 18"/>
          <p:cNvSpPr/>
          <p:nvPr/>
        </p:nvSpPr>
        <p:spPr>
          <a:xfrm>
            <a:off x="365760" y="4224528"/>
            <a:ext cx="8412480" cy="402336"/>
          </a:xfrm>
          <a:prstGeom prst="roundRect">
            <a:avLst>
              <a:gd name="adj" fmla="val 14000"/>
            </a:avLst>
          </a:prstGeom>
          <a:solidFill>
            <a:srgbClr val="E7F6EE"/>
          </a:solidFill>
          <a:ln w="12700">
            <a:solidFill>
              <a:srgbClr val="16A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 i="0">
                <a:solidFill>
                  <a:srgbClr val="0B7A42"/>
                </a:solidFill>
                <a:latin typeface="Space Grotesk"/>
              </a:rPr>
              <a:t>Recognised as Agentic AI Security Startup of the Year, 2025.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Deployment models built for a regulated 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DATA RESIDENCY &amp;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841248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100" b="0" i="0">
                <a:solidFill>
                  <a:srgbClr val="1B223B"/>
                </a:solidFill>
                <a:latin typeface="Space Grotesk"/>
              </a:rPr>
              <a:t>Sensitive banking data can stay inside your walls. AccuKnox runs the same platform wherever your data-residency and PDPA obligations require it to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00784"/>
            <a:ext cx="1897379" cy="566928"/>
          </a:xfrm>
          <a:prstGeom prst="roundRect">
            <a:avLst>
              <a:gd name="adj" fmla="val 1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0046FF"/>
                </a:solidFill>
                <a:latin typeface="Segoe MDL2 Assets"/>
              </a:rPr>
              <a:t>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700784"/>
            <a:ext cx="129387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Space Grotesk"/>
              </a:rPr>
              <a:t>AccuKnox SaaS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40864"/>
            <a:ext cx="1897379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Fastest to value, fully managed, for lower-sensitivity workloads.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7459" y="1700784"/>
            <a:ext cx="1897379" cy="566928"/>
          </a:xfrm>
          <a:prstGeom prst="roundRect">
            <a:avLst>
              <a:gd name="adj" fmla="val 1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65475" y="180136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6464FF"/>
                </a:solidFill>
                <a:latin typeface="Segoe MDL2 Assets"/>
              </a:rPr>
              <a:t>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6099" y="1700784"/>
            <a:ext cx="129387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Space Grotesk"/>
              </a:rPr>
              <a:t>Your cloud / private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7459" y="2340864"/>
            <a:ext cx="1897379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Runs inside your AWS, Azure, GCP or Oracle tenant, your keys.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1700784"/>
            <a:ext cx="1897379" cy="566928"/>
          </a:xfrm>
          <a:prstGeom prst="roundRect">
            <a:avLst>
              <a:gd name="adj" fmla="val 1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37175" y="180136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4D4DD9"/>
                </a:solidFill>
                <a:latin typeface="Segoe MDL2 Assets"/>
              </a:rPr>
              <a:t>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799" y="1700784"/>
            <a:ext cx="129387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Space Grotesk"/>
              </a:rPr>
              <a:t>On-prem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59" y="2340864"/>
            <a:ext cx="1897379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Deploy on your own VMs and bare metal for core banking.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0859" y="1700784"/>
            <a:ext cx="1897379" cy="566928"/>
          </a:xfrm>
          <a:prstGeom prst="roundRect">
            <a:avLst>
              <a:gd name="adj" fmla="val 10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08875" y="180136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80">
                <a:solidFill>
                  <a:srgbClr val="11206D"/>
                </a:solidFill>
                <a:latin typeface="Segoe MDL2 Assets"/>
              </a:rPr>
              <a:t>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9499" y="1700784"/>
            <a:ext cx="129387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Space Grotesk"/>
              </a:rPr>
              <a:t>Fully air-gapped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0859" y="2340864"/>
            <a:ext cx="1897379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36576" rtlCol="0" anchor="t"/>
          <a:lstStyle/>
          <a:p>
            <a:pPr algn="l"/>
            <a:r>
              <a:rPr sz="980" b="0" i="0">
                <a:solidFill>
                  <a:srgbClr val="5A637D"/>
                </a:solidFill>
                <a:latin typeface="Space Grotesk"/>
              </a:rPr>
              <a:t>No public-internet dependency, for the most sensitive systems.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39312"/>
            <a:ext cx="8412480" cy="841248"/>
          </a:xfrm>
          <a:prstGeom prst="roundRect">
            <a:avLst>
              <a:gd name="adj" fmla="val 6000"/>
            </a:avLst>
          </a:prstGeom>
          <a:solidFill>
            <a:srgbClr val="112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0352" y="3730752"/>
            <a:ext cx="8046719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Space Grotesk"/>
              </a:rPr>
              <a:t>Same product, same policies, everywhere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59936"/>
            <a:ext cx="80010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050" b="0" i="0">
                <a:solidFill>
                  <a:srgbClr val="B8C4E8"/>
                </a:solidFill>
                <a:latin typeface="Space Grotesk"/>
              </a:rPr>
              <a:t>Secure cloud-native services and legacy on-prem core banking from one console, without shipping sensitive data outside the country or your control.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Why AccuKnox over point vendors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THE DIFFERENTIATORS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70432"/>
            <a:ext cx="26212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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EFFORTLESS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865376"/>
            <a:ext cx="2292096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40" b="0" i="0">
                <a:solidFill>
                  <a:srgbClr val="5A637D"/>
                </a:solidFill>
                <a:latin typeface="Space Grotesk"/>
              </a:rPr>
              <a:t>Agentless onboarding, protect in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1360" y="1170432"/>
            <a:ext cx="26212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613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076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48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EXTENSIVE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5952" y="1865376"/>
            <a:ext cx="2292096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40" b="0" i="0">
                <a:solidFill>
                  <a:srgbClr val="5A637D"/>
                </a:solidFill>
                <a:latin typeface="Space Grotesk"/>
              </a:rPr>
              <a:t>Broadest AppSec, CloudSec, API &amp; AI security in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960" y="1170432"/>
            <a:ext cx="26212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56960" y="1170432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03264" y="1353312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0464" y="1316736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EFFICIENT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1552" y="1865376"/>
            <a:ext cx="2292096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40" b="0" i="0">
                <a:solidFill>
                  <a:srgbClr val="5A637D"/>
                </a:solidFill>
                <a:latin typeface="Space Grotesk"/>
              </a:rPr>
              <a:t>Runs on every cloud, on-prem and air-gapped.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212848"/>
            <a:ext cx="26212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" y="2212848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" y="2395728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" y="2359152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EFFECTIVE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2907791"/>
            <a:ext cx="2292096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40" b="0" i="0">
                <a:solidFill>
                  <a:srgbClr val="5A637D"/>
                </a:solidFill>
                <a:latin typeface="Space Grotesk"/>
              </a:rPr>
              <a:t>Run-time, inline mitigation of zero-day attacks.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1360" y="2212848"/>
            <a:ext cx="26212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61360" y="2212848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07664" y="2395728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4864" y="2359152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INNOVATIVE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5952" y="2907791"/>
            <a:ext cx="2292096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40" b="0" i="0">
                <a:solidFill>
                  <a:srgbClr val="5A637D"/>
                </a:solidFill>
                <a:latin typeface="Space Grotesk"/>
              </a:rPr>
              <a:t>SRI R&amp;D partnership, 10+ Zero Trust patents.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6960" y="2212848"/>
            <a:ext cx="26212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56960" y="2212848"/>
            <a:ext cx="2621280" cy="8229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3264" y="2395728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64">
                <a:solidFill>
                  <a:srgbClr val="FFFFFF"/>
                </a:solidFill>
                <a:latin typeface="Segoe MDL2 Assets"/>
              </a:rPr>
              <a:t>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0464" y="2359152"/>
            <a:ext cx="1889759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50" b="1" i="0">
                <a:solidFill>
                  <a:srgbClr val="11206D"/>
                </a:solidFill>
                <a:latin typeface="Space Grotesk"/>
              </a:rPr>
              <a:t>PARTNER-FIRST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1552" y="2907791"/>
            <a:ext cx="2292096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40" b="0" i="0">
                <a:solidFill>
                  <a:srgbClr val="5A637D"/>
                </a:solidFill>
                <a:latin typeface="Space Grotesk"/>
              </a:rPr>
              <a:t>150+ partners; in Sri Lanka, VSONE.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0040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200" b="1" i="0">
                <a:solidFill>
                  <a:srgbClr val="11206D"/>
                </a:solidFill>
                <a:latin typeface="Space Grotesk"/>
              </a:rPr>
              <a:t>Run-time, inline security across the CNAPP stack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529584"/>
            <a:ext cx="1325880" cy="566928"/>
          </a:xfrm>
          <a:prstGeom prst="roundRect">
            <a:avLst>
              <a:gd name="adj" fmla="val 10000"/>
            </a:avLst>
          </a:prstGeom>
          <a:solidFill>
            <a:srgbClr val="E7F6EE"/>
          </a:solidFill>
          <a:ln w="15875">
            <a:solidFill>
              <a:srgbClr val="16A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3566160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950" b="1" i="0">
                <a:solidFill>
                  <a:srgbClr val="0B7A42"/>
                </a:solidFill>
                <a:latin typeface="Space Grotesk"/>
              </a:rPr>
              <a:t>AccuKnox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03904"/>
            <a:ext cx="13258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850" b="0" i="0">
                <a:solidFill>
                  <a:srgbClr val="0B7A42"/>
                </a:solidFill>
                <a:latin typeface="Space Grotesk"/>
              </a:rPr>
              <a:t>✓ 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3080" y="3529584"/>
            <a:ext cx="13258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783080" y="3566160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950" b="1" i="0">
                <a:solidFill>
                  <a:srgbClr val="11206D"/>
                </a:solidFill>
                <a:latin typeface="Space Grotesk"/>
              </a:rPr>
              <a:t>Wiz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3803904"/>
            <a:ext cx="13258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850" b="0" i="0">
                <a:solidFill>
                  <a:srgbClr val="5A637D"/>
                </a:solidFill>
                <a:latin typeface="Space Grotesk"/>
              </a:rPr>
              <a:t>Limited / 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3529584"/>
            <a:ext cx="13258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0" y="3566160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950" b="1" i="0">
                <a:solidFill>
                  <a:srgbClr val="11206D"/>
                </a:solidFill>
                <a:latin typeface="Space Grotesk"/>
              </a:rPr>
              <a:t>Palo Alto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3803904"/>
            <a:ext cx="13258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850" b="0" i="0">
                <a:solidFill>
                  <a:srgbClr val="5A637D"/>
                </a:solidFill>
                <a:latin typeface="Space Grotesk"/>
              </a:rPr>
              <a:t>Limited / 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7720" y="3529584"/>
            <a:ext cx="13258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617720" y="3566160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950" b="1" i="0">
                <a:solidFill>
                  <a:srgbClr val="11206D"/>
                </a:solidFill>
                <a:latin typeface="Space Grotesk"/>
              </a:rPr>
              <a:t>CrowdStrike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3803904"/>
            <a:ext cx="13258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850" b="0" i="0">
                <a:solidFill>
                  <a:srgbClr val="5A637D"/>
                </a:solidFill>
                <a:latin typeface="Space Grotesk"/>
              </a:rPr>
              <a:t>Limited / No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3529584"/>
            <a:ext cx="13258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35040" y="3566160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950" b="1" i="0">
                <a:solidFill>
                  <a:srgbClr val="11206D"/>
                </a:solidFill>
                <a:latin typeface="Space Grotesk"/>
              </a:rPr>
              <a:t>Sysdig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803904"/>
            <a:ext cx="13258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850" b="0" i="0">
                <a:solidFill>
                  <a:srgbClr val="5A637D"/>
                </a:solidFill>
                <a:latin typeface="Space Grotesk"/>
              </a:rPr>
              <a:t>Limited / 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52360" y="3529584"/>
            <a:ext cx="13258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452360" y="3566160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950" b="1" i="0">
                <a:solidFill>
                  <a:srgbClr val="11206D"/>
                </a:solidFill>
                <a:latin typeface="Space Grotesk"/>
              </a:rPr>
              <a:t>Upwind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3803904"/>
            <a:ext cx="13258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36576" rIns="73152" bIns="36576" rtlCol="0" anchor="ctr"/>
          <a:lstStyle/>
          <a:p>
            <a:pPr algn="ctr"/>
            <a:r>
              <a:rPr sz="850" b="0" i="0">
                <a:solidFill>
                  <a:srgbClr val="5A637D"/>
                </a:solidFill>
                <a:latin typeface="Space Grotesk"/>
              </a:rPr>
              <a:t>Limited /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850" b="0" i="1">
                <a:solidFill>
                  <a:srgbClr val="5A637D"/>
                </a:solidFill>
                <a:latin typeface="Space Grotesk"/>
              </a:rPr>
              <a:t>AccuKnox is the only vendor in the set with full private-cloud and air-gapped run-time, inline security.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Proof the market already trusts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64008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TRACTION &amp; RECOGNITION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33856"/>
            <a:ext cx="1897379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1206D"/>
                </a:solidFill>
                <a:latin typeface="Space Grotesk"/>
              </a:rPr>
              <a:t>$1.5M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US DoD 5G security
R&amp;D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7459" y="1133856"/>
            <a:ext cx="1897379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0046FF"/>
                </a:solidFill>
                <a:latin typeface="Space Grotesk"/>
              </a:rPr>
              <a:t>$500K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Zero Trust satellite
security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59" y="1133856"/>
            <a:ext cx="1897379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4D4DD9"/>
                </a:solidFill>
                <a:latin typeface="Space Grotesk"/>
              </a:rPr>
              <a:t>$4.6M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funding for the
Zero Trust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80859" y="1133856"/>
            <a:ext cx="1897379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0B7A42"/>
                </a:solidFill>
                <a:latin typeface="Space Grotesk"/>
              </a:rPr>
              <a:t>150+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37D"/>
                </a:solidFill>
                <a:latin typeface="Space Grotesk"/>
              </a:rPr>
              <a:t>partners, 10+
Zero Trust patents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04288"/>
            <a:ext cx="4846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2395728"/>
            <a:ext cx="457200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80" b="0" i="1">
                <a:solidFill>
                  <a:srgbClr val="1B223B"/>
                </a:solidFill>
                <a:latin typeface="Space Grotesk"/>
              </a:rPr>
              <a:t>“We evaluated best-in-class vendors and selected AccuKnox for its breadth, ease of deployment, and real-time security against zero-day attacks.”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401568"/>
            <a:ext cx="45720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00" b="1" i="0">
                <a:solidFill>
                  <a:srgbClr val="0046FF"/>
                </a:solidFill>
                <a:latin typeface="Space Grotesk"/>
              </a:rPr>
              <a:t>David Billeter, Cybersecurity Leader, Sonesta International Hotels</a:t>
            </a:r>
          </a:p>
        </p:txBody>
      </p:sp>
      <p:pic>
        <p:nvPicPr>
          <p:cNvPr id="11" name="Picture 10" descr="omdia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60" y="2304288"/>
            <a:ext cx="1090830" cy="1417320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5394960" y="3739896"/>
            <a:ext cx="162763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Omdia CNAPP report</a:t>
            </a:r>
          </a:p>
        </p:txBody>
      </p:sp>
      <p:pic>
        <p:nvPicPr>
          <p:cNvPr id="13" name="Picture 12" descr="pa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758" y="2304288"/>
            <a:ext cx="1227330" cy="1417320"/>
          </a:xfrm>
          <a:prstGeom prst="rect">
            <a:avLst/>
          </a:prstGeom>
          <a:ln w="12700">
            <a:solidFill>
              <a:srgbClr val="C4CCDE"/>
            </a:solidFill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7150608" y="3739896"/>
            <a:ext cx="162763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 i="1">
                <a:solidFill>
                  <a:srgbClr val="5A637D"/>
                </a:solidFill>
                <a:latin typeface="Space Grotesk"/>
              </a:rPr>
              <a:t>10+ US patents granted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77056"/>
            <a:ext cx="84124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36576" bIns="36576" rtlCol="0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46FF"/>
                </a:solidFill>
                <a:latin typeface="Space Grotesk"/>
              </a:rPr>
              <a:t>▸  </a:t>
            </a:r>
            <a:r>
              <a:rPr sz="1000" b="1">
                <a:solidFill>
                  <a:srgbClr val="1B223B"/>
                </a:solidFill>
                <a:latin typeface="Space Grotesk"/>
              </a:rPr>
              <a:t>Aligned to Gartner's CNAPP Market Guide </a:t>
            </a:r>
            <a:r>
              <a:rPr sz="1000">
                <a:solidFill>
                  <a:srgbClr val="1B223B"/>
                </a:solidFill>
                <a:latin typeface="Space Grotesk"/>
              </a:rPr>
              <a:t>and OWASP Cloud-Native Top 10.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46FF"/>
                </a:solidFill>
                <a:latin typeface="Space Grotesk"/>
              </a:rPr>
              <a:t>▸  </a:t>
            </a:r>
            <a:r>
              <a:rPr sz="1000" b="1">
                <a:solidFill>
                  <a:srgbClr val="1B223B"/>
                </a:solidFill>
                <a:latin typeface="Space Grotesk"/>
              </a:rPr>
              <a:t>Trusted by regulated enterprises </a:t>
            </a:r>
            <a:r>
              <a:rPr sz="1000">
                <a:solidFill>
                  <a:srgbClr val="1B223B"/>
                </a:solidFill>
                <a:latin typeface="Space Grotesk"/>
              </a:rPr>
              <a:t>including IDT Telecom and SupportLogic (45% less engineering overhead).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1243584"/>
            <a:ext cx="78638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300" b="1" i="0">
                <a:solidFill>
                  <a:srgbClr val="6464FF"/>
                </a:solidFill>
                <a:latin typeface="Space Grotesk"/>
              </a:rPr>
              <a:t>ACCUKNOX  ×  VSONE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572768"/>
            <a:ext cx="7955279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2700" b="1" i="0" dirty="0">
                <a:solidFill>
                  <a:srgbClr val="FFFFFF"/>
                </a:solidFill>
                <a:latin typeface="Space Grotesk"/>
              </a:rPr>
              <a:t>Let's secure your bank,
from first commit to live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250" b="0" i="0">
                <a:solidFill>
                  <a:srgbClr val="B8C4E8"/>
                </a:solidFill>
                <a:latin typeface="Space Grotesk"/>
              </a:rPr>
              <a:t>Start with a scoped proof of value on your own environment. See AccuKnox find real risk in your cloud, workloads and code within days, not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0156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32">
                <a:solidFill>
                  <a:srgbClr val="FFFFFF"/>
                </a:solidFill>
                <a:latin typeface="Segoe MDL2 Assets"/>
              </a:rPr>
              <a:t>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1" y="3383280"/>
            <a:ext cx="1969007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Space Grotesk"/>
              </a:rPr>
              <a:t>Discovery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1" y="3675887"/>
            <a:ext cx="1969007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B8C4E8"/>
                </a:solidFill>
                <a:latin typeface="Space Grotesk"/>
              </a:rPr>
              <a:t>Map your estate, mandates and priorities with VSONE and AccuKnox.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2319" y="340156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32">
                <a:solidFill>
                  <a:srgbClr val="FFFFFF"/>
                </a:solidFill>
                <a:latin typeface="Segoe MDL2 Assets"/>
              </a:rPr>
              <a:t>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2671" y="3383280"/>
            <a:ext cx="1969007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Space Grotesk"/>
              </a:rPr>
              <a:t>Proof of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2671" y="3675887"/>
            <a:ext cx="1969007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B8C4E8"/>
                </a:solidFill>
                <a:latin typeface="Space Grotesk"/>
              </a:rPr>
              <a:t>Agentless onboarding, first findings in your environment fast.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4560" y="340156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32">
                <a:solidFill>
                  <a:srgbClr val="FFFFFF"/>
                </a:solidFill>
                <a:latin typeface="Segoe MDL2 Assets"/>
              </a:rPr>
              <a:t>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4912" y="3383280"/>
            <a:ext cx="1969007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Space Grotesk"/>
              </a:rPr>
              <a:t>Roll 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4912" y="3675887"/>
            <a:ext cx="1969007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950" b="0" i="0">
                <a:solidFill>
                  <a:srgbClr val="B8C4E8"/>
                </a:solidFill>
                <a:latin typeface="Space Grotesk"/>
              </a:rPr>
              <a:t>Phase across cloud, on-prem and air-gapped with local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17136"/>
            <a:ext cx="78638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1" i="0">
                <a:solidFill>
                  <a:srgbClr val="6464FF"/>
                </a:solidFill>
                <a:latin typeface="Space Grotesk"/>
              </a:rPr>
              <a:t>VSONE (Colombo)  ·  AccuKnox pre-sales engineering  ·  support@accuknox.com  ·  accuknox.com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cuknox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6A4BB64D-DAE4-264F-B2D5-8DEDA9C9E689}" vid="{18F53E15-B4E7-4449-8FB3-3413CAC7056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BWL Accuknox</Template>
  <TotalTime>0</TotalTime>
  <Words>1973</Words>
  <Application>Microsoft Office PowerPoint</Application>
  <PresentationFormat>On-screen Show (16:9)</PresentationFormat>
  <Paragraphs>292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Montserrat</vt:lpstr>
      <vt:lpstr>Segoe MDL2 Assets</vt:lpstr>
      <vt:lpstr>Space Grotesk</vt:lpstr>
      <vt:lpstr>Space Grotesk Light</vt:lpstr>
      <vt:lpstr>Space Grotesk Medium</vt:lpstr>
      <vt:lpstr>Office Theme</vt:lpstr>
      <vt:lpstr>PowerPoint Presentation</vt:lpstr>
      <vt:lpstr>Four forces are squeezing Sri Lanka's banks at once</vt:lpstr>
      <vt:lpstr>The threat landscape is now a run-time problem</vt:lpstr>
      <vt:lpstr>The compliance mandates a Sri Lankan bank must answer to</vt:lpstr>
      <vt:lpstr>What that leaves the CISO carrying</vt:lpstr>
      <vt:lpstr>Meet AccuKnox</vt:lpstr>
      <vt:lpstr>One Zero Trust platform, from code to cloud to AI</vt:lpstr>
      <vt:lpstr>One platform replaces a shelf of point tools</vt:lpstr>
      <vt:lpstr>How it works: one control plane over everything</vt:lpstr>
      <vt:lpstr>The difference: stop zero-days at run-time, inline</vt:lpstr>
      <vt:lpstr>Compliance and GRC, mapped to your mandates</vt:lpstr>
      <vt:lpstr>Cloud and workload security</vt:lpstr>
      <vt:lpstr>Application, API and data security</vt:lpstr>
      <vt:lpstr>AI security for the next wave of banking</vt:lpstr>
      <vt:lpstr>Deployment models built for a regulated bank</vt:lpstr>
      <vt:lpstr>Why AccuKnox over point vendors</vt:lpstr>
      <vt:lpstr>Proof the market already trusts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SHAH  (Student)</dc:creator>
  <cp:lastModifiedBy>ATHARVA SHAH  (Student)</cp:lastModifiedBy>
  <cp:revision>2</cp:revision>
  <dcterms:created xsi:type="dcterms:W3CDTF">2026-06-16T04:18:22Z</dcterms:created>
  <dcterms:modified xsi:type="dcterms:W3CDTF">2026-07-22T12:11:19Z</dcterms:modified>
</cp:coreProperties>
</file>